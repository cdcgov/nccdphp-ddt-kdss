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3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4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5.xml" ContentType="application/vnd.openxmlformats-officedocument.themeOverride+xml"/>
  <Override PartName="/ppt/notesSlides/notesSlide2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6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7.xml" ContentType="application/vnd.openxmlformats-officedocument.themeOverr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theme/themeOverride8.xml" ContentType="application/vnd.openxmlformats-officedocument.themeOverr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60" r:id="rId3"/>
    <p:sldId id="267" r:id="rId4"/>
    <p:sldId id="257" r:id="rId5"/>
    <p:sldId id="265" r:id="rId6"/>
    <p:sldId id="266" r:id="rId7"/>
    <p:sldId id="262" r:id="rId8"/>
    <p:sldId id="264" r:id="rId9"/>
    <p:sldId id="263" r:id="rId10"/>
    <p:sldId id="259" r:id="rId11"/>
    <p:sldId id="268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9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con, Ana Laura" userId="cd5c2778-d82d-4d36-9d52-40772a6c9161" providerId="ADAL" clId="{CB6AE909-8817-4632-8BD4-F3300F1C72F9}"/>
    <pc:docChg chg="modSld">
      <pc:chgData name="Licon, Ana Laura" userId="cd5c2778-d82d-4d36-9d52-40772a6c9161" providerId="ADAL" clId="{CB6AE909-8817-4632-8BD4-F3300F1C72F9}" dt="2025-11-18T22:33:33.935" v="4" actId="20577"/>
      <pc:docMkLst>
        <pc:docMk/>
      </pc:docMkLst>
      <pc:sldChg chg="modSp mod">
        <pc:chgData name="Licon, Ana Laura" userId="cd5c2778-d82d-4d36-9d52-40772a6c9161" providerId="ADAL" clId="{CB6AE909-8817-4632-8BD4-F3300F1C72F9}" dt="2025-11-18T22:33:33.935" v="4" actId="20577"/>
        <pc:sldMkLst>
          <pc:docMk/>
          <pc:sldMk cId="3654360913" sldId="256"/>
        </pc:sldMkLst>
        <pc:spChg chg="mod">
          <ac:chgData name="Licon, Ana Laura" userId="cd5c2778-d82d-4d36-9d52-40772a6c9161" providerId="ADAL" clId="{CB6AE909-8817-4632-8BD4-F3300F1C72F9}" dt="2025-11-18T22:33:33.935" v="4" actId="20577"/>
          <ac:spMkLst>
            <pc:docMk/>
            <pc:sldMk cId="3654360913" sldId="256"/>
            <ac:spMk id="2" creationId="{4CB0D1C1-F57F-8F26-3A27-C1F4D5FA7F05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https://wopi.dropbox.com/wopi/files/oid_3470023610164402432/WOPIServiceId_TP_DROPBOX_PLUS/WOPIUserId_-/KDSS%20Medications%20Output%20v2025-06-25%20with%20Age%20Standardization%20and%20Figures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3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4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9.xml"/><Relationship Id="rId1" Type="http://schemas.microsoft.com/office/2011/relationships/chartStyle" Target="style9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CKDG3-5 by OVERALL'!$C$41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OVERALL'!$D$40:$K$40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OVERALL'!$D$41:$K$41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991-48BB-B661-1CD90A862B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8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CKDG3-5 by OVERALL'!$C$49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OVERALL'!$D$48:$K$48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OVERALL'!$D$49:$K$49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93-4AC3-B829-BD331352B9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8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CKDG3-5 by Age'!$B$53</c:f>
              <c:strCache>
                <c:ptCount val="1"/>
                <c:pt idx="0">
                  <c:v>18-29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Age'!$C$53:$J$53</c:f>
              <c:numCache>
                <c:formatCode>General</c:formatCode>
                <c:ptCount val="8"/>
                <c:pt idx="0">
                  <c:v>14.59</c:v>
                </c:pt>
                <c:pt idx="1">
                  <c:v>17.21</c:v>
                </c:pt>
                <c:pt idx="2">
                  <c:v>12.5</c:v>
                </c:pt>
                <c:pt idx="3">
                  <c:v>12.16</c:v>
                </c:pt>
                <c:pt idx="4">
                  <c:v>12.37</c:v>
                </c:pt>
                <c:pt idx="5">
                  <c:v>10.4</c:v>
                </c:pt>
                <c:pt idx="6">
                  <c:v>11.89</c:v>
                </c:pt>
                <c:pt idx="7">
                  <c:v>13.15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78-4BF1-96E1-EDFBB61024D2}"/>
            </c:ext>
          </c:extLst>
        </c:ser>
        <c:ser>
          <c:idx val="2"/>
          <c:order val="1"/>
          <c:tx>
            <c:strRef>
              <c:f>'ACEI-ARB CKDG3-5 by Age'!$B$54</c:f>
              <c:strCache>
                <c:ptCount val="1"/>
                <c:pt idx="0">
                  <c:v>30-39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Age'!$C$54:$J$54</c:f>
              <c:numCache>
                <c:formatCode>General</c:formatCode>
                <c:ptCount val="8"/>
                <c:pt idx="0">
                  <c:v>27.2</c:v>
                </c:pt>
                <c:pt idx="1">
                  <c:v>28.43</c:v>
                </c:pt>
                <c:pt idx="2">
                  <c:v>26.42</c:v>
                </c:pt>
                <c:pt idx="3">
                  <c:v>23.83</c:v>
                </c:pt>
                <c:pt idx="4">
                  <c:v>26.04</c:v>
                </c:pt>
                <c:pt idx="5">
                  <c:v>25.92</c:v>
                </c:pt>
                <c:pt idx="6">
                  <c:v>26.7</c:v>
                </c:pt>
                <c:pt idx="7">
                  <c:v>25.34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478-4BF1-96E1-EDFBB61024D2}"/>
            </c:ext>
          </c:extLst>
        </c:ser>
        <c:ser>
          <c:idx val="1"/>
          <c:order val="2"/>
          <c:tx>
            <c:strRef>
              <c:f>'ACEI-ARB CKDG3-5 by Age'!$B$55</c:f>
              <c:strCache>
                <c:ptCount val="1"/>
                <c:pt idx="0">
                  <c:v>40-49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Age'!$C$55:$J$55</c:f>
              <c:numCache>
                <c:formatCode>General</c:formatCode>
                <c:ptCount val="8"/>
                <c:pt idx="0">
                  <c:v>44.61</c:v>
                </c:pt>
                <c:pt idx="1">
                  <c:v>42.83</c:v>
                </c:pt>
                <c:pt idx="2">
                  <c:v>40.99</c:v>
                </c:pt>
                <c:pt idx="3">
                  <c:v>39.590000000000003</c:v>
                </c:pt>
                <c:pt idx="4">
                  <c:v>39.44</c:v>
                </c:pt>
                <c:pt idx="5">
                  <c:v>38.299999999999997</c:v>
                </c:pt>
                <c:pt idx="6">
                  <c:v>37.67</c:v>
                </c:pt>
                <c:pt idx="7">
                  <c:v>38.19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478-4BF1-96E1-EDFBB61024D2}"/>
            </c:ext>
          </c:extLst>
        </c:ser>
        <c:ser>
          <c:idx val="3"/>
          <c:order val="3"/>
          <c:tx>
            <c:strRef>
              <c:f>'ACEI-ARB CKDG3-5 by Age'!$B$56</c:f>
              <c:strCache>
                <c:ptCount val="1"/>
                <c:pt idx="0">
                  <c:v>50-59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Age'!$C$56:$J$56</c:f>
              <c:numCache>
                <c:formatCode>General</c:formatCode>
                <c:ptCount val="8"/>
                <c:pt idx="0">
                  <c:v>59.51</c:v>
                </c:pt>
                <c:pt idx="1">
                  <c:v>57.88</c:v>
                </c:pt>
                <c:pt idx="2">
                  <c:v>57.35</c:v>
                </c:pt>
                <c:pt idx="3">
                  <c:v>55.1</c:v>
                </c:pt>
                <c:pt idx="4">
                  <c:v>53.77</c:v>
                </c:pt>
                <c:pt idx="5">
                  <c:v>53.04</c:v>
                </c:pt>
                <c:pt idx="6">
                  <c:v>53.14</c:v>
                </c:pt>
                <c:pt idx="7">
                  <c:v>54.28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478-4BF1-96E1-EDFBB61024D2}"/>
            </c:ext>
          </c:extLst>
        </c:ser>
        <c:ser>
          <c:idx val="5"/>
          <c:order val="4"/>
          <c:tx>
            <c:strRef>
              <c:f>'ACEI-ARB CKDG3-5 by Age'!$B$57</c:f>
              <c:strCache>
                <c:ptCount val="1"/>
                <c:pt idx="0">
                  <c:v>60-69 years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Age'!$C$57:$J$57</c:f>
              <c:numCache>
                <c:formatCode>General</c:formatCode>
                <c:ptCount val="8"/>
                <c:pt idx="0">
                  <c:v>71.760000000000005</c:v>
                </c:pt>
                <c:pt idx="1">
                  <c:v>70.14</c:v>
                </c:pt>
                <c:pt idx="2">
                  <c:v>69.52</c:v>
                </c:pt>
                <c:pt idx="3">
                  <c:v>67.790000000000006</c:v>
                </c:pt>
                <c:pt idx="4">
                  <c:v>68.19</c:v>
                </c:pt>
                <c:pt idx="5">
                  <c:v>67.48</c:v>
                </c:pt>
                <c:pt idx="6">
                  <c:v>67.319999999999993</c:v>
                </c:pt>
                <c:pt idx="7">
                  <c:v>67.42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478-4BF1-96E1-EDFBB61024D2}"/>
            </c:ext>
          </c:extLst>
        </c:ser>
        <c:ser>
          <c:idx val="6"/>
          <c:order val="5"/>
          <c:tx>
            <c:strRef>
              <c:f>'ACEI-ARB CKDG3-5 by Age'!$B$58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Age'!$C$58:$J$58</c:f>
              <c:numCache>
                <c:formatCode>General</c:formatCode>
                <c:ptCount val="8"/>
                <c:pt idx="0">
                  <c:v>69.849999999999994</c:v>
                </c:pt>
                <c:pt idx="1">
                  <c:v>68.92</c:v>
                </c:pt>
                <c:pt idx="2">
                  <c:v>68.430000000000007</c:v>
                </c:pt>
                <c:pt idx="3">
                  <c:v>68.650000000000006</c:v>
                </c:pt>
                <c:pt idx="4">
                  <c:v>68.349999999999994</c:v>
                </c:pt>
                <c:pt idx="5">
                  <c:v>68.36</c:v>
                </c:pt>
                <c:pt idx="6">
                  <c:v>69.319999999999993</c:v>
                </c:pt>
                <c:pt idx="7">
                  <c:v>70.400000000000006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478-4BF1-96E1-EDFBB61024D2}"/>
            </c:ext>
          </c:extLst>
        </c:ser>
        <c:ser>
          <c:idx val="0"/>
          <c:order val="6"/>
          <c:tx>
            <c:strRef>
              <c:f>'ACEI-ARB CKDG3-5 by Age'!$B$52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Age'!$C$52:$J$52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478-4BF1-96E1-EDFBB61024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8881889763779516E-3"/>
          <c:y val="0.8013775153105861"/>
          <c:w val="0.98022362204724411"/>
          <c:h val="0.1541780402449693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Sex'!$B$46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Sex'!$C$46:$J$46</c:f>
              <c:numCache>
                <c:formatCode>General</c:formatCode>
                <c:ptCount val="8"/>
                <c:pt idx="0">
                  <c:v>82.28</c:v>
                </c:pt>
                <c:pt idx="1">
                  <c:v>80.73</c:v>
                </c:pt>
                <c:pt idx="2">
                  <c:v>80.09</c:v>
                </c:pt>
                <c:pt idx="3">
                  <c:v>78.83</c:v>
                </c:pt>
                <c:pt idx="4">
                  <c:v>77.849999999999994</c:v>
                </c:pt>
                <c:pt idx="5">
                  <c:v>77.489999999999995</c:v>
                </c:pt>
                <c:pt idx="6">
                  <c:v>77.709999999999994</c:v>
                </c:pt>
                <c:pt idx="7">
                  <c:v>77.13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4D5-4182-8093-DE1204AF08D3}"/>
            </c:ext>
          </c:extLst>
        </c:ser>
        <c:ser>
          <c:idx val="4"/>
          <c:order val="1"/>
          <c:tx>
            <c:strRef>
              <c:f>'ACEI-ARB DM-CKD by Sex'!$B$45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Sex'!$C$45:$J$45</c:f>
              <c:numCache>
                <c:formatCode>General</c:formatCode>
                <c:ptCount val="8"/>
                <c:pt idx="0">
                  <c:v>78.19</c:v>
                </c:pt>
                <c:pt idx="1">
                  <c:v>77.55</c:v>
                </c:pt>
                <c:pt idx="2">
                  <c:v>77.180000000000007</c:v>
                </c:pt>
                <c:pt idx="3">
                  <c:v>76.2</c:v>
                </c:pt>
                <c:pt idx="4">
                  <c:v>75</c:v>
                </c:pt>
                <c:pt idx="5">
                  <c:v>74.400000000000006</c:v>
                </c:pt>
                <c:pt idx="6">
                  <c:v>74.56</c:v>
                </c:pt>
                <c:pt idx="7">
                  <c:v>74.87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4D5-4182-8093-DE1204AF08D3}"/>
            </c:ext>
          </c:extLst>
        </c:ser>
        <c:ser>
          <c:idx val="0"/>
          <c:order val="2"/>
          <c:tx>
            <c:strRef>
              <c:f>'ACEI-ARB DM-CKD by Sex'!$B$44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Sex'!$C$44:$J$44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4D5-4182-8093-DE1204AF08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Sex'!$B$57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Sex'!$C$57:$J$57</c:f>
              <c:numCache>
                <c:formatCode>0.00</c:formatCode>
                <c:ptCount val="8"/>
                <c:pt idx="0">
                  <c:v>75.122399999999999</c:v>
                </c:pt>
                <c:pt idx="1">
                  <c:v>72.219499999999996</c:v>
                </c:pt>
                <c:pt idx="2">
                  <c:v>70.9452</c:v>
                </c:pt>
                <c:pt idx="3">
                  <c:v>69.775199999999998</c:v>
                </c:pt>
                <c:pt idx="4">
                  <c:v>68.278700000000001</c:v>
                </c:pt>
                <c:pt idx="5">
                  <c:v>68.322599999999994</c:v>
                </c:pt>
                <c:pt idx="6">
                  <c:v>68.677300000000002</c:v>
                </c:pt>
                <c:pt idx="7">
                  <c:v>67.797899999999998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C73-44A7-B831-131AA89BE98C}"/>
            </c:ext>
          </c:extLst>
        </c:ser>
        <c:ser>
          <c:idx val="4"/>
          <c:order val="1"/>
          <c:tx>
            <c:strRef>
              <c:f>'ACEI-ARB DM-CKD by Sex'!$B$56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Sex'!$C$56:$J$56</c:f>
              <c:numCache>
                <c:formatCode>0.00</c:formatCode>
                <c:ptCount val="8"/>
                <c:pt idx="0">
                  <c:v>66.120900000000006</c:v>
                </c:pt>
                <c:pt idx="1">
                  <c:v>65.172499999999999</c:v>
                </c:pt>
                <c:pt idx="2">
                  <c:v>64.332700000000003</c:v>
                </c:pt>
                <c:pt idx="3">
                  <c:v>63.990099999999998</c:v>
                </c:pt>
                <c:pt idx="4">
                  <c:v>61.934399999999997</c:v>
                </c:pt>
                <c:pt idx="5">
                  <c:v>61.351599999999998</c:v>
                </c:pt>
                <c:pt idx="6">
                  <c:v>61.5443</c:v>
                </c:pt>
                <c:pt idx="7">
                  <c:v>61.199199999999998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73-44A7-B831-131AA89BE98C}"/>
            </c:ext>
          </c:extLst>
        </c:ser>
        <c:ser>
          <c:idx val="0"/>
          <c:order val="2"/>
          <c:tx>
            <c:strRef>
              <c:f>'ACEI-ARB DM-CKD by Sex'!$B$55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Sex'!$C$55:$J$55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C73-44A7-B831-131AA89BE9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8.7489938757655289E-2"/>
          <c:y val="4.7798556430446192E-2"/>
          <c:w val="0.90028783902012244"/>
          <c:h val="0.60277121609798778"/>
        </c:manualLayout>
      </c:layout>
      <c:lineChart>
        <c:grouping val="standard"/>
        <c:varyColors val="0"/>
        <c:ser>
          <c:idx val="3"/>
          <c:order val="0"/>
          <c:tx>
            <c:strRef>
              <c:f>'ACEI-ARB CKDG3-5 by Race'!$B$63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Race'!$C$63:$J$63</c:f>
              <c:numCache>
                <c:formatCode>General</c:formatCode>
                <c:ptCount val="8"/>
                <c:pt idx="0">
                  <c:v>65.12</c:v>
                </c:pt>
                <c:pt idx="1">
                  <c:v>64.010000000000005</c:v>
                </c:pt>
                <c:pt idx="2">
                  <c:v>63.22</c:v>
                </c:pt>
                <c:pt idx="3">
                  <c:v>62.68</c:v>
                </c:pt>
                <c:pt idx="4">
                  <c:v>62.47</c:v>
                </c:pt>
                <c:pt idx="5">
                  <c:v>62.26</c:v>
                </c:pt>
                <c:pt idx="6">
                  <c:v>62.82</c:v>
                </c:pt>
                <c:pt idx="7">
                  <c:v>63.27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CE-41DB-96DD-431A72292307}"/>
            </c:ext>
          </c:extLst>
        </c:ser>
        <c:ser>
          <c:idx val="2"/>
          <c:order val="1"/>
          <c:tx>
            <c:strRef>
              <c:f>'ACEI-ARB CKDG3-5 by Race'!$B$61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Race'!$C$61:$J$61</c:f>
              <c:numCache>
                <c:formatCode>General</c:formatCode>
                <c:ptCount val="8"/>
                <c:pt idx="0">
                  <c:v>64.47</c:v>
                </c:pt>
                <c:pt idx="1">
                  <c:v>64.099999999999994</c:v>
                </c:pt>
                <c:pt idx="2">
                  <c:v>63.77</c:v>
                </c:pt>
                <c:pt idx="3">
                  <c:v>62.12</c:v>
                </c:pt>
                <c:pt idx="4">
                  <c:v>61.96</c:v>
                </c:pt>
                <c:pt idx="5">
                  <c:v>61.37</c:v>
                </c:pt>
                <c:pt idx="6">
                  <c:v>61.79</c:v>
                </c:pt>
                <c:pt idx="7">
                  <c:v>62.87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CE-41DB-96DD-431A72292307}"/>
            </c:ext>
          </c:extLst>
        </c:ser>
        <c:ser>
          <c:idx val="4"/>
          <c:order val="2"/>
          <c:tx>
            <c:strRef>
              <c:f>'ACEI-ARB CKDG3-5 by Race'!$B$60</c:f>
              <c:strCache>
                <c:ptCount val="1"/>
                <c:pt idx="0">
                  <c:v>Asian/Pacific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Race'!$C$60:$J$60</c:f>
              <c:numCache>
                <c:formatCode>General</c:formatCode>
                <c:ptCount val="8"/>
                <c:pt idx="0">
                  <c:v>76.099999999999994</c:v>
                </c:pt>
                <c:pt idx="1">
                  <c:v>75.44</c:v>
                </c:pt>
                <c:pt idx="2">
                  <c:v>74.540000000000006</c:v>
                </c:pt>
                <c:pt idx="3">
                  <c:v>73.52</c:v>
                </c:pt>
                <c:pt idx="4">
                  <c:v>73.489999999999995</c:v>
                </c:pt>
                <c:pt idx="5">
                  <c:v>74.61</c:v>
                </c:pt>
                <c:pt idx="6">
                  <c:v>74.72</c:v>
                </c:pt>
                <c:pt idx="7">
                  <c:v>74.13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9CE-41DB-96DD-431A72292307}"/>
            </c:ext>
          </c:extLst>
        </c:ser>
        <c:ser>
          <c:idx val="1"/>
          <c:order val="3"/>
          <c:tx>
            <c:strRef>
              <c:f>'ACEI-ARB CKDG3-5 by Race'!$B$62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Race'!$C$62:$J$62</c:f>
              <c:numCache>
                <c:formatCode>General</c:formatCode>
                <c:ptCount val="8"/>
                <c:pt idx="0">
                  <c:v>68.05</c:v>
                </c:pt>
                <c:pt idx="1">
                  <c:v>65.53</c:v>
                </c:pt>
                <c:pt idx="2">
                  <c:v>68.59</c:v>
                </c:pt>
                <c:pt idx="3">
                  <c:v>61.97</c:v>
                </c:pt>
                <c:pt idx="4">
                  <c:v>65.94</c:v>
                </c:pt>
                <c:pt idx="5">
                  <c:v>66.03</c:v>
                </c:pt>
                <c:pt idx="6">
                  <c:v>64.62</c:v>
                </c:pt>
                <c:pt idx="7">
                  <c:v>65.53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9CE-41DB-96DD-431A72292307}"/>
            </c:ext>
          </c:extLst>
        </c:ser>
        <c:ser>
          <c:idx val="5"/>
          <c:order val="4"/>
          <c:tx>
            <c:strRef>
              <c:f>'ACEI-ARB CKDG3-5 by Race'!$B$64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Race'!$C$64:$J$64</c:f>
              <c:numCache>
                <c:formatCode>General</c:formatCode>
                <c:ptCount val="8"/>
                <c:pt idx="0">
                  <c:v>65.959999999999994</c:v>
                </c:pt>
                <c:pt idx="1">
                  <c:v>62.37</c:v>
                </c:pt>
                <c:pt idx="2">
                  <c:v>64.040000000000006</c:v>
                </c:pt>
                <c:pt idx="3">
                  <c:v>62.19</c:v>
                </c:pt>
                <c:pt idx="4">
                  <c:v>65.489999999999995</c:v>
                </c:pt>
                <c:pt idx="5">
                  <c:v>63.1</c:v>
                </c:pt>
                <c:pt idx="6">
                  <c:v>64.41</c:v>
                </c:pt>
                <c:pt idx="7">
                  <c:v>66.430000000000007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9CE-41DB-96DD-431A72292307}"/>
            </c:ext>
          </c:extLst>
        </c:ser>
        <c:ser>
          <c:idx val="6"/>
          <c:order val="5"/>
          <c:tx>
            <c:strRef>
              <c:f>'ACEI-ARB CKDG3-5 by Race'!$B$65</c:f>
              <c:strCache>
                <c:ptCount val="1"/>
                <c:pt idx="0">
                  <c:v>Unknown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Race'!$C$65:$J$65</c:f>
              <c:numCache>
                <c:formatCode>General</c:formatCode>
                <c:ptCount val="8"/>
                <c:pt idx="0">
                  <c:v>66.680000000000007</c:v>
                </c:pt>
                <c:pt idx="1">
                  <c:v>64.92</c:v>
                </c:pt>
                <c:pt idx="2">
                  <c:v>63.52</c:v>
                </c:pt>
                <c:pt idx="3">
                  <c:v>62.48</c:v>
                </c:pt>
                <c:pt idx="4">
                  <c:v>63.42</c:v>
                </c:pt>
                <c:pt idx="5">
                  <c:v>61.89</c:v>
                </c:pt>
                <c:pt idx="6">
                  <c:v>64.900000000000006</c:v>
                </c:pt>
                <c:pt idx="7">
                  <c:v>67.53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9CE-41DB-96DD-431A72292307}"/>
            </c:ext>
          </c:extLst>
        </c:ser>
        <c:ser>
          <c:idx val="7"/>
          <c:order val="6"/>
          <c:tx>
            <c:strRef>
              <c:f>'ACEI-ARB CKDG3-5 by Race'!$B$66</c:f>
              <c:strCache>
                <c:ptCount val="1"/>
                <c:pt idx="0">
                  <c:v>Missing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Race'!$C$66:$J$66</c:f>
              <c:numCache>
                <c:formatCode>General</c:formatCode>
                <c:ptCount val="8"/>
                <c:pt idx="0">
                  <c:v>67.61</c:v>
                </c:pt>
                <c:pt idx="1">
                  <c:v>66.45</c:v>
                </c:pt>
                <c:pt idx="2">
                  <c:v>65.849999999999994</c:v>
                </c:pt>
                <c:pt idx="3">
                  <c:v>65.03</c:v>
                </c:pt>
                <c:pt idx="4">
                  <c:v>64.73</c:v>
                </c:pt>
                <c:pt idx="5">
                  <c:v>65.53</c:v>
                </c:pt>
                <c:pt idx="6">
                  <c:v>66.14</c:v>
                </c:pt>
                <c:pt idx="7">
                  <c:v>66.64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9CE-41DB-96DD-431A72292307}"/>
            </c:ext>
          </c:extLst>
        </c:ser>
        <c:ser>
          <c:idx val="0"/>
          <c:order val="7"/>
          <c:tx>
            <c:strRef>
              <c:f>'ACEI-ARB CKDG3-5 by Race'!$B$59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Race'!$C$59:$J$59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9CE-41DB-96DD-431A722923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2.1996500437445319E-3"/>
          <c:y val="0.76060236220472444"/>
          <c:w val="0.99448958880139982"/>
          <c:h val="0.2143976377952755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8.7489938757655289E-2"/>
          <c:y val="4.7798556430446192E-2"/>
          <c:w val="0.90028783902012244"/>
          <c:h val="0.60277121609798778"/>
        </c:manualLayout>
      </c:layout>
      <c:lineChart>
        <c:grouping val="standard"/>
        <c:varyColors val="0"/>
        <c:ser>
          <c:idx val="3"/>
          <c:order val="0"/>
          <c:tx>
            <c:strRef>
              <c:f>'ACEI-ARB CKDG3-5 by Race'!$B$75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Race'!$C$75:$J$75</c:f>
              <c:numCache>
                <c:formatCode>0.00</c:formatCode>
                <c:ptCount val="8"/>
                <c:pt idx="0">
                  <c:v>43.913200000000003</c:v>
                </c:pt>
                <c:pt idx="1">
                  <c:v>43.424999999999997</c:v>
                </c:pt>
                <c:pt idx="2">
                  <c:v>42.108199999999997</c:v>
                </c:pt>
                <c:pt idx="3">
                  <c:v>41.419800000000002</c:v>
                </c:pt>
                <c:pt idx="4">
                  <c:v>41.423699999999997</c:v>
                </c:pt>
                <c:pt idx="5">
                  <c:v>40.535699999999999</c:v>
                </c:pt>
                <c:pt idx="6">
                  <c:v>41.528799999999997</c:v>
                </c:pt>
                <c:pt idx="7">
                  <c:v>41.571300000000001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148-4D0D-B469-B8A28973E319}"/>
            </c:ext>
          </c:extLst>
        </c:ser>
        <c:ser>
          <c:idx val="2"/>
          <c:order val="1"/>
          <c:tx>
            <c:strRef>
              <c:f>'ACEI-ARB CKDG3-5 by Race'!$B$73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Race'!$C$73:$J$73</c:f>
              <c:numCache>
                <c:formatCode>0.00</c:formatCode>
                <c:ptCount val="8"/>
                <c:pt idx="0">
                  <c:v>49.197600000000001</c:v>
                </c:pt>
                <c:pt idx="1">
                  <c:v>48.605400000000003</c:v>
                </c:pt>
                <c:pt idx="2">
                  <c:v>46.518300000000004</c:v>
                </c:pt>
                <c:pt idx="3">
                  <c:v>44.792999999999999</c:v>
                </c:pt>
                <c:pt idx="4">
                  <c:v>45.167700000000004</c:v>
                </c:pt>
                <c:pt idx="5">
                  <c:v>44.639699999999998</c:v>
                </c:pt>
                <c:pt idx="6">
                  <c:v>44.110300000000002</c:v>
                </c:pt>
                <c:pt idx="7">
                  <c:v>44.407800000000002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148-4D0D-B469-B8A28973E319}"/>
            </c:ext>
          </c:extLst>
        </c:ser>
        <c:ser>
          <c:idx val="4"/>
          <c:order val="2"/>
          <c:tx>
            <c:strRef>
              <c:f>'ACEI-ARB CKDG3-5 by Race'!$B$72</c:f>
              <c:strCache>
                <c:ptCount val="1"/>
                <c:pt idx="0">
                  <c:v>Asian/Pacific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Race'!$C$72:$J$72</c:f>
              <c:numCache>
                <c:formatCode>0.00</c:formatCode>
                <c:ptCount val="8"/>
                <c:pt idx="0">
                  <c:v>54.139099999999999</c:v>
                </c:pt>
                <c:pt idx="1">
                  <c:v>55.661700000000003</c:v>
                </c:pt>
                <c:pt idx="2">
                  <c:v>53.253999999999998</c:v>
                </c:pt>
                <c:pt idx="3">
                  <c:v>48.929400000000001</c:v>
                </c:pt>
                <c:pt idx="4">
                  <c:v>51.191099999999999</c:v>
                </c:pt>
                <c:pt idx="5">
                  <c:v>51.992199999999997</c:v>
                </c:pt>
                <c:pt idx="6">
                  <c:v>52.388300000000001</c:v>
                </c:pt>
                <c:pt idx="7">
                  <c:v>52.793900000000001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148-4D0D-B469-B8A28973E319}"/>
            </c:ext>
          </c:extLst>
        </c:ser>
        <c:ser>
          <c:idx val="1"/>
          <c:order val="3"/>
          <c:tx>
            <c:strRef>
              <c:f>'ACEI-ARB CKDG3-5 by Race'!$B$74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Race'!$C$74:$J$74</c:f>
              <c:numCache>
                <c:formatCode>0.00</c:formatCode>
                <c:ptCount val="8"/>
                <c:pt idx="0">
                  <c:v>50.324199999999998</c:v>
                </c:pt>
                <c:pt idx="1">
                  <c:v>38.606900000000003</c:v>
                </c:pt>
                <c:pt idx="2">
                  <c:v>49.700299999999999</c:v>
                </c:pt>
                <c:pt idx="3">
                  <c:v>43.224299999999999</c:v>
                </c:pt>
                <c:pt idx="4">
                  <c:v>41.454099999999997</c:v>
                </c:pt>
                <c:pt idx="5">
                  <c:v>51.032600000000002</c:v>
                </c:pt>
                <c:pt idx="6">
                  <c:v>38.340800000000002</c:v>
                </c:pt>
                <c:pt idx="7">
                  <c:v>41.084699999999998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148-4D0D-B469-B8A28973E319}"/>
            </c:ext>
          </c:extLst>
        </c:ser>
        <c:ser>
          <c:idx val="5"/>
          <c:order val="4"/>
          <c:tx>
            <c:strRef>
              <c:f>'ACEI-ARB CKDG3-5 by Race'!$B$76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Race'!$C$76:$J$76</c:f>
              <c:numCache>
                <c:formatCode>0.00</c:formatCode>
                <c:ptCount val="8"/>
                <c:pt idx="0">
                  <c:v>44.577199999999998</c:v>
                </c:pt>
                <c:pt idx="1">
                  <c:v>46.195500000000003</c:v>
                </c:pt>
                <c:pt idx="2">
                  <c:v>48.507199999999997</c:v>
                </c:pt>
                <c:pt idx="3">
                  <c:v>43.191299999999998</c:v>
                </c:pt>
                <c:pt idx="4">
                  <c:v>46.118200000000002</c:v>
                </c:pt>
                <c:pt idx="5">
                  <c:v>41.3217</c:v>
                </c:pt>
                <c:pt idx="6">
                  <c:v>43.239199999999997</c:v>
                </c:pt>
                <c:pt idx="7">
                  <c:v>47.806100000000001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148-4D0D-B469-B8A28973E319}"/>
            </c:ext>
          </c:extLst>
        </c:ser>
        <c:ser>
          <c:idx val="6"/>
          <c:order val="5"/>
          <c:tx>
            <c:strRef>
              <c:f>'ACEI-ARB CKDG3-5 by Race'!$B$77</c:f>
              <c:strCache>
                <c:ptCount val="1"/>
                <c:pt idx="0">
                  <c:v>Unknown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Race'!$C$77:$J$77</c:f>
              <c:numCache>
                <c:formatCode>0.00</c:formatCode>
                <c:ptCount val="8"/>
                <c:pt idx="0">
                  <c:v>47.660800000000002</c:v>
                </c:pt>
                <c:pt idx="1">
                  <c:v>48.783000000000001</c:v>
                </c:pt>
                <c:pt idx="2">
                  <c:v>47.703499999999998</c:v>
                </c:pt>
                <c:pt idx="3">
                  <c:v>44.377200000000002</c:v>
                </c:pt>
                <c:pt idx="4">
                  <c:v>43.0045</c:v>
                </c:pt>
                <c:pt idx="5">
                  <c:v>45.716299999999997</c:v>
                </c:pt>
                <c:pt idx="6">
                  <c:v>50.355200000000004</c:v>
                </c:pt>
                <c:pt idx="7">
                  <c:v>48.2136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9148-4D0D-B469-B8A28973E319}"/>
            </c:ext>
          </c:extLst>
        </c:ser>
        <c:ser>
          <c:idx val="7"/>
          <c:order val="6"/>
          <c:tx>
            <c:strRef>
              <c:f>'ACEI-ARB CKDG3-5 by Race'!$B$78</c:f>
              <c:strCache>
                <c:ptCount val="1"/>
                <c:pt idx="0">
                  <c:v>Missing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Race'!$C$78:$J$78</c:f>
              <c:numCache>
                <c:formatCode>0.00</c:formatCode>
                <c:ptCount val="8"/>
                <c:pt idx="0">
                  <c:v>53.311</c:v>
                </c:pt>
                <c:pt idx="1">
                  <c:v>53.383000000000003</c:v>
                </c:pt>
                <c:pt idx="2">
                  <c:v>51.492899999999999</c:v>
                </c:pt>
                <c:pt idx="3">
                  <c:v>49.993699999999997</c:v>
                </c:pt>
                <c:pt idx="4">
                  <c:v>49.784199999999998</c:v>
                </c:pt>
                <c:pt idx="5">
                  <c:v>47.4557</c:v>
                </c:pt>
                <c:pt idx="6">
                  <c:v>51.123199999999997</c:v>
                </c:pt>
                <c:pt idx="7">
                  <c:v>50.844799999999999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9148-4D0D-B469-B8A28973E319}"/>
            </c:ext>
          </c:extLst>
        </c:ser>
        <c:ser>
          <c:idx val="0"/>
          <c:order val="7"/>
          <c:tx>
            <c:strRef>
              <c:f>'ACEI-ARB CKDG3-5 by Race'!$B$71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Race'!$C$71:$J$71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9148-4D0D-B469-B8A28973E3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8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310586176727911E-3"/>
          <c:y val="0.73469947506561695"/>
          <c:w val="0.97915660542432192"/>
          <c:h val="0.215300524934383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CKDG3-5 by CKD Stage'!$B$46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Stage'!$C$46:$J$46</c:f>
              <c:numCache>
                <c:formatCode>General</c:formatCode>
                <c:ptCount val="8"/>
                <c:pt idx="0">
                  <c:v>66.260000000000005</c:v>
                </c:pt>
                <c:pt idx="1">
                  <c:v>65.180000000000007</c:v>
                </c:pt>
                <c:pt idx="2">
                  <c:v>64.42</c:v>
                </c:pt>
                <c:pt idx="3">
                  <c:v>63.37</c:v>
                </c:pt>
                <c:pt idx="4">
                  <c:v>63.23</c:v>
                </c:pt>
                <c:pt idx="5">
                  <c:v>62.99</c:v>
                </c:pt>
                <c:pt idx="6">
                  <c:v>63.65</c:v>
                </c:pt>
                <c:pt idx="7">
                  <c:v>64.180000000000007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5D5-4955-8AC9-44DA0CC2BD5C}"/>
            </c:ext>
          </c:extLst>
        </c:ser>
        <c:ser>
          <c:idx val="2"/>
          <c:order val="1"/>
          <c:tx>
            <c:strRef>
              <c:f>'ACEI-ARB CKDG3-5 by CKD Stage'!$B$47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Stage'!$C$47:$J$47</c:f>
              <c:numCache>
                <c:formatCode>General</c:formatCode>
                <c:ptCount val="8"/>
                <c:pt idx="0">
                  <c:v>67.52</c:v>
                </c:pt>
                <c:pt idx="1">
                  <c:v>67.290000000000006</c:v>
                </c:pt>
                <c:pt idx="2">
                  <c:v>67.2</c:v>
                </c:pt>
                <c:pt idx="3">
                  <c:v>66.3</c:v>
                </c:pt>
                <c:pt idx="4">
                  <c:v>68.849999999999994</c:v>
                </c:pt>
                <c:pt idx="5">
                  <c:v>67.900000000000006</c:v>
                </c:pt>
                <c:pt idx="6">
                  <c:v>68.489999999999995</c:v>
                </c:pt>
                <c:pt idx="7">
                  <c:v>70.23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5D5-4955-8AC9-44DA0CC2BD5C}"/>
            </c:ext>
          </c:extLst>
        </c:ser>
        <c:ser>
          <c:idx val="1"/>
          <c:order val="2"/>
          <c:tx>
            <c:strRef>
              <c:f>'ACEI-ARB CKDG3-5 by CKD Stage'!$B$48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Stage'!$C$48:$J$48</c:f>
              <c:numCache>
                <c:formatCode>General</c:formatCode>
                <c:ptCount val="8"/>
                <c:pt idx="0">
                  <c:v>50.85</c:v>
                </c:pt>
                <c:pt idx="1">
                  <c:v>46.63</c:v>
                </c:pt>
                <c:pt idx="2">
                  <c:v>46.5</c:v>
                </c:pt>
                <c:pt idx="3">
                  <c:v>48.83</c:v>
                </c:pt>
                <c:pt idx="4">
                  <c:v>47.47</c:v>
                </c:pt>
                <c:pt idx="5">
                  <c:v>46.61</c:v>
                </c:pt>
                <c:pt idx="6">
                  <c:v>47.56</c:v>
                </c:pt>
                <c:pt idx="7">
                  <c:v>52.04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5D5-4955-8AC9-44DA0CC2BD5C}"/>
            </c:ext>
          </c:extLst>
        </c:ser>
        <c:ser>
          <c:idx val="0"/>
          <c:order val="3"/>
          <c:tx>
            <c:strRef>
              <c:f>'ACEI-ARB CKDG3-5 by CKD Stage'!$B$45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Stage'!$C$45:$J$45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5D5-4955-8AC9-44DA0CC2BD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CKDG3-5 by CKD Stage'!$B$58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Stage'!$C$58:$J$58</c:f>
              <c:numCache>
                <c:formatCode>0.00</c:formatCode>
                <c:ptCount val="8"/>
                <c:pt idx="0">
                  <c:v>46.594200000000001</c:v>
                </c:pt>
                <c:pt idx="1">
                  <c:v>45.959699999999998</c:v>
                </c:pt>
                <c:pt idx="2">
                  <c:v>44.580199999999998</c:v>
                </c:pt>
                <c:pt idx="3">
                  <c:v>43.119399999999999</c:v>
                </c:pt>
                <c:pt idx="4">
                  <c:v>43.181899999999999</c:v>
                </c:pt>
                <c:pt idx="5">
                  <c:v>42.654899999999998</c:v>
                </c:pt>
                <c:pt idx="6">
                  <c:v>43.015099999999997</c:v>
                </c:pt>
                <c:pt idx="7">
                  <c:v>42.928800000000003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A9-4A2D-A49C-FCCB0BF57B91}"/>
            </c:ext>
          </c:extLst>
        </c:ser>
        <c:ser>
          <c:idx val="2"/>
          <c:order val="1"/>
          <c:tx>
            <c:strRef>
              <c:f>'ACEI-ARB CKDG3-5 by CKD Stage'!$B$59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Stage'!$C$59:$J$59</c:f>
              <c:numCache>
                <c:formatCode>0.00</c:formatCode>
                <c:ptCount val="8"/>
                <c:pt idx="0">
                  <c:v>61.926900000000003</c:v>
                </c:pt>
                <c:pt idx="1">
                  <c:v>67.093800000000002</c:v>
                </c:pt>
                <c:pt idx="2">
                  <c:v>63.68</c:v>
                </c:pt>
                <c:pt idx="3">
                  <c:v>58.871099999999998</c:v>
                </c:pt>
                <c:pt idx="4">
                  <c:v>61.390999999999998</c:v>
                </c:pt>
                <c:pt idx="5">
                  <c:v>60.924700000000001</c:v>
                </c:pt>
                <c:pt idx="6">
                  <c:v>64.980099999999993</c:v>
                </c:pt>
                <c:pt idx="7">
                  <c:v>70.722300000000004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AA9-4A2D-A49C-FCCB0BF57B91}"/>
            </c:ext>
          </c:extLst>
        </c:ser>
        <c:ser>
          <c:idx val="1"/>
          <c:order val="2"/>
          <c:tx>
            <c:strRef>
              <c:f>'ACEI-ARB CKDG3-5 by CKD Stage'!$B$60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Stage'!$C$60:$J$60</c:f>
              <c:numCache>
                <c:formatCode>0.00</c:formatCode>
                <c:ptCount val="8"/>
                <c:pt idx="0">
                  <c:v>44.005299999999998</c:v>
                </c:pt>
                <c:pt idx="1">
                  <c:v>52.898200000000003</c:v>
                </c:pt>
                <c:pt idx="2">
                  <c:v>47.905900000000003</c:v>
                </c:pt>
                <c:pt idx="3">
                  <c:v>45.049199999999999</c:v>
                </c:pt>
                <c:pt idx="4">
                  <c:v>41.007100000000001</c:v>
                </c:pt>
                <c:pt idx="5">
                  <c:v>42.409399999999998</c:v>
                </c:pt>
                <c:pt idx="6">
                  <c:v>52.314300000000003</c:v>
                </c:pt>
                <c:pt idx="7">
                  <c:v>61.0944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AA9-4A2D-A49C-FCCB0BF57B91}"/>
            </c:ext>
          </c:extLst>
        </c:ser>
        <c:ser>
          <c:idx val="0"/>
          <c:order val="3"/>
          <c:tx>
            <c:strRef>
              <c:f>'ACEI-ARB CKDG3-5 by CKD Stage'!$B$57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Stage'!$C$57:$J$57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AA9-4A2D-A49C-FCCB0BF57B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DM'!$B$43</c:f>
              <c:strCache>
                <c:ptCount val="1"/>
                <c:pt idx="0">
                  <c:v>With Diabetes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DM'!$C$41:$J$41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DM'!$C$43:$J$43</c:f>
              <c:numCache>
                <c:formatCode>General</c:formatCode>
                <c:ptCount val="8"/>
                <c:pt idx="0">
                  <c:v>81.819999999999993</c:v>
                </c:pt>
                <c:pt idx="1">
                  <c:v>81.09</c:v>
                </c:pt>
                <c:pt idx="2">
                  <c:v>80.48</c:v>
                </c:pt>
                <c:pt idx="3">
                  <c:v>79.61</c:v>
                </c:pt>
                <c:pt idx="4">
                  <c:v>78.87</c:v>
                </c:pt>
                <c:pt idx="5">
                  <c:v>78.34</c:v>
                </c:pt>
                <c:pt idx="6">
                  <c:v>78.81</c:v>
                </c:pt>
                <c:pt idx="7">
                  <c:v>79.34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699-404F-8A73-C028CC57C683}"/>
            </c:ext>
          </c:extLst>
        </c:ser>
        <c:ser>
          <c:idx val="2"/>
          <c:order val="1"/>
          <c:tx>
            <c:strRef>
              <c:f>'ACEI-ARB CKDG3-5 by DM'!$B$44</c:f>
              <c:strCache>
                <c:ptCount val="1"/>
                <c:pt idx="0">
                  <c:v>Without Diabetes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DM'!$C$41:$J$41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DM'!$C$44:$J$44</c:f>
              <c:numCache>
                <c:formatCode>General</c:formatCode>
                <c:ptCount val="8"/>
                <c:pt idx="0">
                  <c:v>56.88</c:v>
                </c:pt>
                <c:pt idx="1">
                  <c:v>55.51</c:v>
                </c:pt>
                <c:pt idx="2">
                  <c:v>54.81</c:v>
                </c:pt>
                <c:pt idx="3">
                  <c:v>53.62</c:v>
                </c:pt>
                <c:pt idx="4">
                  <c:v>53.9</c:v>
                </c:pt>
                <c:pt idx="5">
                  <c:v>53.88</c:v>
                </c:pt>
                <c:pt idx="6">
                  <c:v>54.79</c:v>
                </c:pt>
                <c:pt idx="7">
                  <c:v>55.73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699-404F-8A73-C028CC57C683}"/>
            </c:ext>
          </c:extLst>
        </c:ser>
        <c:ser>
          <c:idx val="0"/>
          <c:order val="2"/>
          <c:tx>
            <c:strRef>
              <c:f>'ACEI-ARB CKDG3-5 by DM'!$B$42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'ACEI-ARB CKDG3-5 by DM'!$C$41:$J$41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DM'!$C$42:$J$42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699-404F-8A73-C028CC57C6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29176368"/>
        <c:axId val="429172208"/>
      </c:lineChart>
      <c:catAx>
        <c:axId val="429176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9172208"/>
        <c:crosses val="autoZero"/>
        <c:auto val="1"/>
        <c:lblAlgn val="ctr"/>
        <c:lblOffset val="100"/>
        <c:noMultiLvlLbl val="0"/>
      </c:catAx>
      <c:valAx>
        <c:axId val="429172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91763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DM'!$B$53</c:f>
              <c:strCache>
                <c:ptCount val="1"/>
                <c:pt idx="0">
                  <c:v>With Diabetes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DM'!$C$51:$J$51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DM'!$C$53:$J$53</c:f>
              <c:numCache>
                <c:formatCode>0.00</c:formatCode>
                <c:ptCount val="8"/>
                <c:pt idx="0">
                  <c:v>77.162099999999995</c:v>
                </c:pt>
                <c:pt idx="1">
                  <c:v>78.303100000000001</c:v>
                </c:pt>
                <c:pt idx="2">
                  <c:v>74.931399999999996</c:v>
                </c:pt>
                <c:pt idx="3">
                  <c:v>68.602900000000005</c:v>
                </c:pt>
                <c:pt idx="4">
                  <c:v>69.192899999999995</c:v>
                </c:pt>
                <c:pt idx="5">
                  <c:v>69.103999999999999</c:v>
                </c:pt>
                <c:pt idx="6">
                  <c:v>70.448400000000007</c:v>
                </c:pt>
                <c:pt idx="7">
                  <c:v>74.322400000000002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A77-495F-B38F-8AE16F0CB90A}"/>
            </c:ext>
          </c:extLst>
        </c:ser>
        <c:ser>
          <c:idx val="2"/>
          <c:order val="1"/>
          <c:tx>
            <c:strRef>
              <c:f>'ACEI-ARB CKDG3-5 by DM'!$B$54</c:f>
              <c:strCache>
                <c:ptCount val="1"/>
                <c:pt idx="0">
                  <c:v>Without Diabetes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DM'!$C$51:$J$51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DM'!$C$54:$J$54</c:f>
              <c:numCache>
                <c:formatCode>0.00</c:formatCode>
                <c:ptCount val="8"/>
                <c:pt idx="0">
                  <c:v>41.007599999999996</c:v>
                </c:pt>
                <c:pt idx="1">
                  <c:v>40.411900000000003</c:v>
                </c:pt>
                <c:pt idx="2">
                  <c:v>38.759799999999998</c:v>
                </c:pt>
                <c:pt idx="3">
                  <c:v>37.508400000000002</c:v>
                </c:pt>
                <c:pt idx="4">
                  <c:v>37.5428</c:v>
                </c:pt>
                <c:pt idx="5">
                  <c:v>37.284999999999997</c:v>
                </c:pt>
                <c:pt idx="6">
                  <c:v>37.912599999999998</c:v>
                </c:pt>
                <c:pt idx="7">
                  <c:v>38.6327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A77-495F-B38F-8AE16F0CB90A}"/>
            </c:ext>
          </c:extLst>
        </c:ser>
        <c:ser>
          <c:idx val="0"/>
          <c:order val="2"/>
          <c:tx>
            <c:strRef>
              <c:f>'ACEI-ARB CKDG3-5 by DM'!$B$52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DM'!$C$51:$J$51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DM'!$C$52:$J$52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A77-495F-B38F-8AE16F0CB9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2580800"/>
        <c:axId val="82581216"/>
      </c:lineChart>
      <c:catAx>
        <c:axId val="82580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2581216"/>
        <c:crosses val="autoZero"/>
        <c:auto val="1"/>
        <c:lblAlgn val="ctr"/>
        <c:lblOffset val="100"/>
        <c:noMultiLvlLbl val="0"/>
      </c:catAx>
      <c:valAx>
        <c:axId val="82581216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25808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HTN'!$B$43</c:f>
              <c:strCache>
                <c:ptCount val="1"/>
                <c:pt idx="0">
                  <c:v>With Hypertension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HTN'!$C$41:$J$41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HTN'!$C$43:$J$43</c:f>
              <c:numCache>
                <c:formatCode>General</c:formatCode>
                <c:ptCount val="8"/>
                <c:pt idx="0">
                  <c:v>76.2</c:v>
                </c:pt>
                <c:pt idx="1">
                  <c:v>75.680000000000007</c:v>
                </c:pt>
                <c:pt idx="2">
                  <c:v>75.08</c:v>
                </c:pt>
                <c:pt idx="3">
                  <c:v>74.38</c:v>
                </c:pt>
                <c:pt idx="4">
                  <c:v>74.61</c:v>
                </c:pt>
                <c:pt idx="5">
                  <c:v>74.53</c:v>
                </c:pt>
                <c:pt idx="6">
                  <c:v>75.19</c:v>
                </c:pt>
                <c:pt idx="7">
                  <c:v>75.77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E9-4DB2-AA3B-67CFF5B95466}"/>
            </c:ext>
          </c:extLst>
        </c:ser>
        <c:ser>
          <c:idx val="2"/>
          <c:order val="1"/>
          <c:tx>
            <c:strRef>
              <c:f>'ACEI-ARB CKDG3-5 by HTN'!$B$44</c:f>
              <c:strCache>
                <c:ptCount val="1"/>
                <c:pt idx="0">
                  <c:v>Without Hypertension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HTN'!$C$41:$J$41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HTN'!$C$44:$J$44</c:f>
              <c:numCache>
                <c:formatCode>General</c:formatCode>
                <c:ptCount val="8"/>
                <c:pt idx="0">
                  <c:v>32.880000000000003</c:v>
                </c:pt>
                <c:pt idx="1">
                  <c:v>31.04</c:v>
                </c:pt>
                <c:pt idx="2">
                  <c:v>29.58</c:v>
                </c:pt>
                <c:pt idx="3">
                  <c:v>28.48</c:v>
                </c:pt>
                <c:pt idx="4">
                  <c:v>34.520000000000003</c:v>
                </c:pt>
                <c:pt idx="5">
                  <c:v>35.119999999999997</c:v>
                </c:pt>
                <c:pt idx="6">
                  <c:v>35.94</c:v>
                </c:pt>
                <c:pt idx="7">
                  <c:v>38.03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E9-4DB2-AA3B-67CFF5B95466}"/>
            </c:ext>
          </c:extLst>
        </c:ser>
        <c:ser>
          <c:idx val="0"/>
          <c:order val="2"/>
          <c:tx>
            <c:strRef>
              <c:f>'ACEI-ARB CKDG3-5 by HTN'!$B$42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HTN'!$C$41:$J$41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HTN'!$C$42:$J$42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1E9-4DB2-AA3B-67CFF5B954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34261264"/>
        <c:axId val="434253360"/>
      </c:lineChart>
      <c:catAx>
        <c:axId val="434261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4253360"/>
        <c:crosses val="autoZero"/>
        <c:auto val="1"/>
        <c:lblAlgn val="ctr"/>
        <c:lblOffset val="100"/>
        <c:noMultiLvlLbl val="0"/>
      </c:catAx>
      <c:valAx>
        <c:axId val="434253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4261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HTN'!$B$51</c:f>
              <c:strCache>
                <c:ptCount val="1"/>
                <c:pt idx="0">
                  <c:v>With Hypertension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HTN'!$C$49:$J$49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HTN'!$C$51:$J$51</c:f>
              <c:numCache>
                <c:formatCode>0.00</c:formatCode>
                <c:ptCount val="8"/>
                <c:pt idx="0">
                  <c:v>73.950699999999998</c:v>
                </c:pt>
                <c:pt idx="1">
                  <c:v>73.680300000000003</c:v>
                </c:pt>
                <c:pt idx="2">
                  <c:v>73.349800000000002</c:v>
                </c:pt>
                <c:pt idx="3">
                  <c:v>69.069400000000002</c:v>
                </c:pt>
                <c:pt idx="4">
                  <c:v>69.601399999999998</c:v>
                </c:pt>
                <c:pt idx="5">
                  <c:v>69.499099999999999</c:v>
                </c:pt>
                <c:pt idx="6">
                  <c:v>69.907200000000003</c:v>
                </c:pt>
                <c:pt idx="7">
                  <c:v>71.323599999999999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BD5-4530-9422-233EC3309846}"/>
            </c:ext>
          </c:extLst>
        </c:ser>
        <c:ser>
          <c:idx val="2"/>
          <c:order val="1"/>
          <c:tx>
            <c:strRef>
              <c:f>'ACEI-ARB CKDG3-5 by HTN'!$B$52</c:f>
              <c:strCache>
                <c:ptCount val="1"/>
                <c:pt idx="0">
                  <c:v>Without Hypertension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HTN'!$C$49:$J$49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HTN'!$C$52:$J$52</c:f>
              <c:numCache>
                <c:formatCode>0.00</c:formatCode>
                <c:ptCount val="8"/>
                <c:pt idx="0">
                  <c:v>18.991700000000002</c:v>
                </c:pt>
                <c:pt idx="1">
                  <c:v>17.872599999999998</c:v>
                </c:pt>
                <c:pt idx="2">
                  <c:v>16.601600000000001</c:v>
                </c:pt>
                <c:pt idx="3">
                  <c:v>16.2258</c:v>
                </c:pt>
                <c:pt idx="4">
                  <c:v>18.583400000000001</c:v>
                </c:pt>
                <c:pt idx="5">
                  <c:v>19.046900000000001</c:v>
                </c:pt>
                <c:pt idx="6">
                  <c:v>18.685700000000001</c:v>
                </c:pt>
                <c:pt idx="7">
                  <c:v>20.2057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BD5-4530-9422-233EC3309846}"/>
            </c:ext>
          </c:extLst>
        </c:ser>
        <c:ser>
          <c:idx val="0"/>
          <c:order val="2"/>
          <c:tx>
            <c:strRef>
              <c:f>'ACEI-ARB CKDG3-5 by HTN'!$B$50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HTN'!$C$49:$J$49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HTN'!$C$50:$J$50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BD5-4530-9422-233EC33098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16962048"/>
        <c:axId val="416962464"/>
      </c:lineChart>
      <c:catAx>
        <c:axId val="416962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6962464"/>
        <c:crosses val="autoZero"/>
        <c:auto val="1"/>
        <c:lblAlgn val="ctr"/>
        <c:lblOffset val="100"/>
        <c:noMultiLvlLbl val="0"/>
      </c:catAx>
      <c:valAx>
        <c:axId val="4169624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6962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F73B43-6A56-473B-AE2D-AB20CDBDB64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51298-0F74-47A6-ACB4-982F1431AF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1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028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5264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53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40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220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036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0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3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673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1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617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84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0713D3-AB50-4A09-8DB2-7F26C27F2607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3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0D1C1-F57F-8F26-3A27-C1F4D5FA7F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pPr lvl="0"/>
            <a:r>
              <a:rPr lang="en-US" dirty="0" err="1"/>
              <a:t>ACEi</a:t>
            </a:r>
            <a:r>
              <a:rPr lang="en-US"/>
              <a:t>/ARB use in Chronic Kidney Disease </a:t>
            </a:r>
            <a:br>
              <a:rPr lang="en-US"/>
            </a:br>
            <a:r>
              <a:rPr lang="en-US"/>
              <a:t>Stages 3–5 in the Military Health System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42F7F9-7593-8346-0823-514C387C6E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2689998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2000" dirty="0"/>
              <a:t>Angiotensin-converting enzyme inhibitor (</a:t>
            </a:r>
            <a:r>
              <a:rPr lang="en-US" sz="2000" dirty="0" err="1"/>
              <a:t>ACEi</a:t>
            </a:r>
            <a:r>
              <a:rPr lang="en-US" sz="2000" dirty="0"/>
              <a:t>) or angiotensin receptor blocker (ARB) use among Department of Defense Military Health System (DoD MHS) beneficiaries with chronic kidney disease (CKD) stages 3–5 has decreased slightly from 47.3% to 44.1% (age-standardized) between 2016 and 2023. </a:t>
            </a:r>
            <a:r>
              <a:rPr lang="en-US" sz="2000" dirty="0" err="1"/>
              <a:t>ACEi</a:t>
            </a:r>
            <a:r>
              <a:rPr lang="en-US" sz="2000" dirty="0"/>
              <a:t> and ARB use was higher among adults aged 60 years and older (crude); females (age-standardized); Asian American or Pacific Islander beneficiaries (age-standardized); and beneficiaries with CKD stage 4, hypertension, or diabetes (all age-standardized). </a:t>
            </a:r>
          </a:p>
          <a:p>
            <a:pPr algn="l"/>
            <a:endParaRPr lang="en-US" sz="2000" dirty="0"/>
          </a:p>
          <a:p>
            <a:pPr algn="l"/>
            <a:r>
              <a:rPr lang="en-US" sz="2000" b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Data Source: </a:t>
            </a:r>
            <a:r>
              <a:rPr lang="en-US" sz="200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DoD- MHS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54360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2BA6-A320-D4DA-CE84-AEFB2A061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94C1-505E-1214-3F64-1430150DF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Stages 3-5, Crude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B9A880B-B836-7C6E-2CD4-1E12F8D080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1979470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3039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E7B8-C31B-BE20-47F7-08AD12420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14734-CC6D-63CE-89D8-5CBC106E6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Stages 3-5,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D9557E3-70DD-53AA-446A-502C52314F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5650491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55088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B64D9-18CA-1BE8-6278-30BF98AA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696"/>
            <a:ext cx="10515600" cy="1325563"/>
          </a:xfrm>
        </p:spPr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G3-5, by Age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EA94BDF-74BC-7681-4184-3DFAE38281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655019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5689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16056-D43D-597F-909A-2E982B3CD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7EE9E-F195-6165-92F7-0F8C6A23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Sex, Crude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2E0F4EB3-B386-0D90-C65B-1CCA96AD87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7059511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5674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EDE2-CFFE-91BD-B483-A089B3CF7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B3076-1C04-4477-55D8-F1C8F69C8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Sex,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C8FBFE1-913D-AD96-B2E8-32A2C1CAB9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6664025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58743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BBDCC-65CF-EB63-A1C3-7EA461701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E52F-24A9-E406-60D9-204CB41F2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Race/Ethnicity, Crude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5938B76-A3AE-78D0-D180-1F1F769CA3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609690"/>
              </p:ext>
            </p:extLst>
          </p:nvPr>
        </p:nvGraphicFramePr>
        <p:xfrm>
          <a:off x="381000" y="1467423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99031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D452-72D4-19BA-6283-0A2C8EA26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13B2-A808-B641-796C-17E68BAC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Race/</a:t>
            </a:r>
            <a:r>
              <a:rPr lang="en-US" dirty="0" err="1"/>
              <a:t>Ethniciy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AC806D4-E41B-9A45-0F16-DA69E3370E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2975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24031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165BE-B201-E5A6-FFA9-3911B0B5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E7D1-8A9E-F5B8-28D7-38C40829D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CKD Stage, Crude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7187AC-E72C-4224-9FC0-3639740657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81847580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96952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E7B71-1466-A029-C71C-9848DD28C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ECC-8356-BE3E-18DE-DF709DA06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CKD Stage,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D51A15F-20BC-792F-70BB-59722C7167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5222428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28073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7597C-0A5F-7078-DAA3-F72EE2A08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8D5DA-F699-641F-02DD-2D9042EB4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Diabetes,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0FF284B-A383-49B9-BEE2-AE3BFE6582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520774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5125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E5C7F-3BD2-82A7-76BC-5CE45D4F9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0DE3D-C14B-5D7D-363C-7BE11D07E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Diabetes,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AE12E84-F95A-4918-B9C4-AB716D7E8CE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8881677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70756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B2684-F6AA-57B6-7572-135BA91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817D-2BF2-C306-0F78-D23FD06F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CKDG3-5 by Hypertension, Crude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A658E27-8C41-4D58-8E39-7CC38ABC76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9877093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02956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64348-3650-F9B7-25A2-AF3F4F6BF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FFA5-2868-C5E6-AB89-3650DFC23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Hypertension,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D4F8D41-CD18-4FE6-8580-3F24630D1C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5755392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07100218"/>
      </p:ext>
    </p:extLst>
  </p:cSld>
  <p:clrMapOvr>
    <a:masterClrMapping/>
  </p:clrMapOvr>
</p:sld>
</file>

<file path=ppt/theme/theme1.xml><?xml version="1.0" encoding="utf-8"?>
<a:theme xmlns:a="http://schemas.openxmlformats.org/drawingml/2006/main" name="PPT template for KDSS indicator download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341</Words>
  <Application>Microsoft Office PowerPoint</Application>
  <PresentationFormat>Widescreen</PresentationFormat>
  <Paragraphs>32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Open Sans</vt:lpstr>
      <vt:lpstr>PPT template for KDSS indicator downloads</vt:lpstr>
      <vt:lpstr>ACEi/ARB use in Chronic Kidney Disease  Stages 3–5 in the Military Health System</vt:lpstr>
      <vt:lpstr>ACEi/ARB use in CKD Stages 3-5, Crude</vt:lpstr>
      <vt:lpstr>ACEi/ARB use in CKD Stages 3-5,  Age Standardized</vt:lpstr>
      <vt:lpstr>ACEi/ARB use in CKD G3-5, by Age</vt:lpstr>
      <vt:lpstr>ACEi/ARB use in CKD G3-5 by Sex, Crude</vt:lpstr>
      <vt:lpstr>ACEi/ARB use in CKD G3-5 by Sex,  Age Standardized</vt:lpstr>
      <vt:lpstr>ACEi/ARB use in CKD G3-5 by Race/Ethnicity, Crude</vt:lpstr>
      <vt:lpstr>ACEi/ARB use in CKD G3-5 by Race/Ethniciy,  Age Standardized</vt:lpstr>
      <vt:lpstr>ACEi/ARB use in CKD G3-5 by CKD Stage, Crude</vt:lpstr>
      <vt:lpstr>ACEi/ARB use in CKD G3-5 by CKD Stage,  Age Standardized</vt:lpstr>
      <vt:lpstr>ACEi/ARB use in CKD G3-5 by Diabetes, Crude</vt:lpstr>
      <vt:lpstr>ACEi/ARB use in CKD G3-5 by Diabetes,  Age Standardized</vt:lpstr>
      <vt:lpstr>ACEi/ARB use in CKDG3-5 by Hypertension, Crude</vt:lpstr>
      <vt:lpstr>ACEi/ARB use in CKD G3-5 by Hypertension,  Age Standardized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ACEi or ARB Use in Chronic Kidney Disease Stages 3–5 in the Military Health System </dc:title>
  <dc:creator>Licon, Ana Laura</dc:creator>
  <cp:lastModifiedBy>Licon, Ana Laura</cp:lastModifiedBy>
  <cp:revision>2</cp:revision>
  <dcterms:created xsi:type="dcterms:W3CDTF">2025-11-17T16:22:48Z</dcterms:created>
  <dcterms:modified xsi:type="dcterms:W3CDTF">2025-11-18T22:33:37Z</dcterms:modified>
</cp:coreProperties>
</file>