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3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4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5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6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7.xml" ContentType="application/vnd.openxmlformats-officedocument.themeOverr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theme/themeOverride8.xml" ContentType="application/vnd.openxmlformats-officedocument.themeOverr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6" r:id="rId2"/>
    <p:sldId id="260" r:id="rId3"/>
    <p:sldId id="267" r:id="rId4"/>
    <p:sldId id="257" r:id="rId5"/>
    <p:sldId id="265" r:id="rId6"/>
    <p:sldId id="266" r:id="rId7"/>
    <p:sldId id="262" r:id="rId8"/>
    <p:sldId id="264" r:id="rId9"/>
    <p:sldId id="263" r:id="rId10"/>
    <p:sldId id="259" r:id="rId11"/>
    <p:sldId id="268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3E3265-4C07-4F24-A03A-997D44AE1F40}" v="65" dt="2025-10-20T18:28:43.2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22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https://wopi.dropbox.com/wopi/files/oid_3470023610164402432/WOPIServiceId_TP_DROPBOX_PLUS/WOPIUserId_-/KDSS%20Medications%20Output%20v2025-06-25%20with%20Age%20Standardization%20and%20Figures.xlsx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package" Target="../embeddings/Microsoft_Excel_Worksheet3.xlsx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package" Target="../embeddings/Microsoft_Excel_Worksheet4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https://wopi.dropbox.com/wopi/files/oid_3470023610164402432/WOPIServiceId_TP_DROPBOX_PLUS/WOPIUserId_-/KDSS%20Medications%20Output%20v2025-06-25%20with%20Age%20Standardization%20and%20Figures.xlsx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oleObject" Target="https://wopi.dropbox.com/wopi/files/oid_3470023610164402432/WOPIServiceId_TP_DROPBOX_PLUS/WOPIUserId_-/KDSS%20Medications%20Output%20v2025-06-25%20with%20Age%20Standardization%20and%20Figures.xlsx" TargetMode="Externa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9.xml"/><Relationship Id="rId1" Type="http://schemas.microsoft.com/office/2011/relationships/chartStyle" Target="style9.xml"/><Relationship Id="rId4" Type="http://schemas.openxmlformats.org/officeDocument/2006/relationships/oleObject" Target="https://wopi.dropbox.com/wopi/files/oid_3470023610164402432/WOPIServiceId_TP_DROPBOX_PLUS/WOPIUserId_-/KDSS%20Medications%20Output%20v2025-06-25%20with%20Age%20Standardization%20and%20Figures.xlsx" TargetMode="Externa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_ALL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_ALL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_ALL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_ALL.xlsx" TargetMode="External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'ACEI-ARB CKDG3-5 by OVERALL'!$C$41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OVERALL'!$D$40:$K$40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OVERALL'!$D$41:$K$41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991-48BB-B661-1CD90A862B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8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'ACEI-ARB CKDG3-5 by OVERALL'!$C$49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OVERALL'!$D$48:$K$48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OVERALL'!$D$49:$K$49</c:f>
              <c:numCache>
                <c:formatCode>General</c:formatCode>
                <c:ptCount val="8"/>
                <c:pt idx="0">
                  <c:v>47.339999999999996</c:v>
                </c:pt>
                <c:pt idx="1">
                  <c:v>47.06</c:v>
                </c:pt>
                <c:pt idx="2">
                  <c:v>45.47</c:v>
                </c:pt>
                <c:pt idx="3">
                  <c:v>43.78</c:v>
                </c:pt>
                <c:pt idx="4">
                  <c:v>43.95</c:v>
                </c:pt>
                <c:pt idx="5">
                  <c:v>43.379999999999995</c:v>
                </c:pt>
                <c:pt idx="6">
                  <c:v>43.86</c:v>
                </c:pt>
                <c:pt idx="7">
                  <c:v>44.05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93-4AC3-B829-BD331352B9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8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4"/>
          <c:order val="0"/>
          <c:tx>
            <c:strRef>
              <c:f>'ACEI-ARB CKDG3-5 by Age'!$B$53</c:f>
              <c:strCache>
                <c:ptCount val="1"/>
                <c:pt idx="0">
                  <c:v>18-29 years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Age'!$C$53:$J$53</c:f>
              <c:numCache>
                <c:formatCode>General</c:formatCode>
                <c:ptCount val="8"/>
                <c:pt idx="0">
                  <c:v>14.59</c:v>
                </c:pt>
                <c:pt idx="1">
                  <c:v>17.21</c:v>
                </c:pt>
                <c:pt idx="2">
                  <c:v>12.5</c:v>
                </c:pt>
                <c:pt idx="3">
                  <c:v>12.16</c:v>
                </c:pt>
                <c:pt idx="4">
                  <c:v>12.37</c:v>
                </c:pt>
                <c:pt idx="5">
                  <c:v>10.4</c:v>
                </c:pt>
                <c:pt idx="6">
                  <c:v>11.89</c:v>
                </c:pt>
                <c:pt idx="7">
                  <c:v>13.15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78-4BF1-96E1-EDFBB61024D2}"/>
            </c:ext>
          </c:extLst>
        </c:ser>
        <c:ser>
          <c:idx val="2"/>
          <c:order val="1"/>
          <c:tx>
            <c:strRef>
              <c:f>'ACEI-ARB CKDG3-5 by Age'!$B$54</c:f>
              <c:strCache>
                <c:ptCount val="1"/>
                <c:pt idx="0">
                  <c:v>30-39 years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Age'!$C$54:$J$54</c:f>
              <c:numCache>
                <c:formatCode>General</c:formatCode>
                <c:ptCount val="8"/>
                <c:pt idx="0">
                  <c:v>27.2</c:v>
                </c:pt>
                <c:pt idx="1">
                  <c:v>28.43</c:v>
                </c:pt>
                <c:pt idx="2">
                  <c:v>26.42</c:v>
                </c:pt>
                <c:pt idx="3">
                  <c:v>23.83</c:v>
                </c:pt>
                <c:pt idx="4">
                  <c:v>26.04</c:v>
                </c:pt>
                <c:pt idx="5">
                  <c:v>25.92</c:v>
                </c:pt>
                <c:pt idx="6">
                  <c:v>26.7</c:v>
                </c:pt>
                <c:pt idx="7">
                  <c:v>25.34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478-4BF1-96E1-EDFBB61024D2}"/>
            </c:ext>
          </c:extLst>
        </c:ser>
        <c:ser>
          <c:idx val="1"/>
          <c:order val="2"/>
          <c:tx>
            <c:strRef>
              <c:f>'ACEI-ARB CKDG3-5 by Age'!$B$55</c:f>
              <c:strCache>
                <c:ptCount val="1"/>
                <c:pt idx="0">
                  <c:v>40-49 years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Age'!$C$55:$J$55</c:f>
              <c:numCache>
                <c:formatCode>General</c:formatCode>
                <c:ptCount val="8"/>
                <c:pt idx="0">
                  <c:v>44.61</c:v>
                </c:pt>
                <c:pt idx="1">
                  <c:v>42.83</c:v>
                </c:pt>
                <c:pt idx="2">
                  <c:v>40.99</c:v>
                </c:pt>
                <c:pt idx="3">
                  <c:v>39.590000000000003</c:v>
                </c:pt>
                <c:pt idx="4">
                  <c:v>39.44</c:v>
                </c:pt>
                <c:pt idx="5">
                  <c:v>38.299999999999997</c:v>
                </c:pt>
                <c:pt idx="6">
                  <c:v>37.67</c:v>
                </c:pt>
                <c:pt idx="7">
                  <c:v>38.19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478-4BF1-96E1-EDFBB61024D2}"/>
            </c:ext>
          </c:extLst>
        </c:ser>
        <c:ser>
          <c:idx val="3"/>
          <c:order val="3"/>
          <c:tx>
            <c:strRef>
              <c:f>'ACEI-ARB CKDG3-5 by Age'!$B$56</c:f>
              <c:strCache>
                <c:ptCount val="1"/>
                <c:pt idx="0">
                  <c:v>50-59 years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Age'!$C$56:$J$56</c:f>
              <c:numCache>
                <c:formatCode>General</c:formatCode>
                <c:ptCount val="8"/>
                <c:pt idx="0">
                  <c:v>59.51</c:v>
                </c:pt>
                <c:pt idx="1">
                  <c:v>57.88</c:v>
                </c:pt>
                <c:pt idx="2">
                  <c:v>57.35</c:v>
                </c:pt>
                <c:pt idx="3">
                  <c:v>55.1</c:v>
                </c:pt>
                <c:pt idx="4">
                  <c:v>53.77</c:v>
                </c:pt>
                <c:pt idx="5">
                  <c:v>53.04</c:v>
                </c:pt>
                <c:pt idx="6">
                  <c:v>53.14</c:v>
                </c:pt>
                <c:pt idx="7">
                  <c:v>54.28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478-4BF1-96E1-EDFBB61024D2}"/>
            </c:ext>
          </c:extLst>
        </c:ser>
        <c:ser>
          <c:idx val="5"/>
          <c:order val="4"/>
          <c:tx>
            <c:strRef>
              <c:f>'ACEI-ARB CKDG3-5 by Age'!$B$57</c:f>
              <c:strCache>
                <c:ptCount val="1"/>
                <c:pt idx="0">
                  <c:v>60-69 years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Age'!$C$57:$J$57</c:f>
              <c:numCache>
                <c:formatCode>General</c:formatCode>
                <c:ptCount val="8"/>
                <c:pt idx="0">
                  <c:v>71.760000000000005</c:v>
                </c:pt>
                <c:pt idx="1">
                  <c:v>70.14</c:v>
                </c:pt>
                <c:pt idx="2">
                  <c:v>69.52</c:v>
                </c:pt>
                <c:pt idx="3">
                  <c:v>67.790000000000006</c:v>
                </c:pt>
                <c:pt idx="4">
                  <c:v>68.19</c:v>
                </c:pt>
                <c:pt idx="5">
                  <c:v>67.48</c:v>
                </c:pt>
                <c:pt idx="6">
                  <c:v>67.319999999999993</c:v>
                </c:pt>
                <c:pt idx="7">
                  <c:v>67.42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478-4BF1-96E1-EDFBB61024D2}"/>
            </c:ext>
          </c:extLst>
        </c:ser>
        <c:ser>
          <c:idx val="6"/>
          <c:order val="5"/>
          <c:tx>
            <c:strRef>
              <c:f>'ACEI-ARB CKDG3-5 by Age'!$B$58</c:f>
              <c:strCache>
                <c:ptCount val="1"/>
                <c:pt idx="0">
                  <c:v>70+ years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Age'!$C$58:$J$58</c:f>
              <c:numCache>
                <c:formatCode>General</c:formatCode>
                <c:ptCount val="8"/>
                <c:pt idx="0">
                  <c:v>69.849999999999994</c:v>
                </c:pt>
                <c:pt idx="1">
                  <c:v>68.92</c:v>
                </c:pt>
                <c:pt idx="2">
                  <c:v>68.430000000000007</c:v>
                </c:pt>
                <c:pt idx="3">
                  <c:v>68.650000000000006</c:v>
                </c:pt>
                <c:pt idx="4">
                  <c:v>68.349999999999994</c:v>
                </c:pt>
                <c:pt idx="5">
                  <c:v>68.36</c:v>
                </c:pt>
                <c:pt idx="6">
                  <c:v>69.319999999999993</c:v>
                </c:pt>
                <c:pt idx="7">
                  <c:v>70.400000000000006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478-4BF1-96E1-EDFBB61024D2}"/>
            </c:ext>
          </c:extLst>
        </c:ser>
        <c:ser>
          <c:idx val="0"/>
          <c:order val="6"/>
          <c:tx>
            <c:strRef>
              <c:f>'ACEI-ARB CKDG3-5 by Age'!$B$52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Age'!$C$52:$J$52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478-4BF1-96E1-EDFBB61024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8881889763779516E-3"/>
          <c:y val="0.8013775153105861"/>
          <c:w val="0.98022362204724411"/>
          <c:h val="0.1541780402449693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2"/>
          <c:order val="0"/>
          <c:tx>
            <c:strRef>
              <c:f>'ACEI-ARB DM-CKD by Sex'!$B$46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Sex'!$C$46:$J$46</c:f>
              <c:numCache>
                <c:formatCode>General</c:formatCode>
                <c:ptCount val="8"/>
                <c:pt idx="0">
                  <c:v>82.28</c:v>
                </c:pt>
                <c:pt idx="1">
                  <c:v>80.73</c:v>
                </c:pt>
                <c:pt idx="2">
                  <c:v>80.09</c:v>
                </c:pt>
                <c:pt idx="3">
                  <c:v>78.83</c:v>
                </c:pt>
                <c:pt idx="4">
                  <c:v>77.849999999999994</c:v>
                </c:pt>
                <c:pt idx="5">
                  <c:v>77.489999999999995</c:v>
                </c:pt>
                <c:pt idx="6">
                  <c:v>77.709999999999994</c:v>
                </c:pt>
                <c:pt idx="7">
                  <c:v>77.13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4D5-4182-8093-DE1204AF08D3}"/>
            </c:ext>
          </c:extLst>
        </c:ser>
        <c:ser>
          <c:idx val="4"/>
          <c:order val="1"/>
          <c:tx>
            <c:strRef>
              <c:f>'ACEI-ARB DM-CKD by Sex'!$B$45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Sex'!$C$45:$J$45</c:f>
              <c:numCache>
                <c:formatCode>General</c:formatCode>
                <c:ptCount val="8"/>
                <c:pt idx="0">
                  <c:v>78.19</c:v>
                </c:pt>
                <c:pt idx="1">
                  <c:v>77.55</c:v>
                </c:pt>
                <c:pt idx="2">
                  <c:v>77.180000000000007</c:v>
                </c:pt>
                <c:pt idx="3">
                  <c:v>76.2</c:v>
                </c:pt>
                <c:pt idx="4">
                  <c:v>75</c:v>
                </c:pt>
                <c:pt idx="5">
                  <c:v>74.400000000000006</c:v>
                </c:pt>
                <c:pt idx="6">
                  <c:v>74.56</c:v>
                </c:pt>
                <c:pt idx="7">
                  <c:v>74.87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4D5-4182-8093-DE1204AF08D3}"/>
            </c:ext>
          </c:extLst>
        </c:ser>
        <c:ser>
          <c:idx val="0"/>
          <c:order val="2"/>
          <c:tx>
            <c:strRef>
              <c:f>'ACEI-ARB DM-CKD by Sex'!$B$44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Sex'!$C$44:$J$44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4D5-4182-8093-DE1204AF08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2"/>
          <c:order val="0"/>
          <c:tx>
            <c:strRef>
              <c:f>'ACEI-ARB DM-CKD by Sex'!$B$57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Sex'!$C$57:$J$57</c:f>
              <c:numCache>
                <c:formatCode>0.00</c:formatCode>
                <c:ptCount val="8"/>
                <c:pt idx="0">
                  <c:v>75.122399999999999</c:v>
                </c:pt>
                <c:pt idx="1">
                  <c:v>72.219499999999996</c:v>
                </c:pt>
                <c:pt idx="2">
                  <c:v>70.9452</c:v>
                </c:pt>
                <c:pt idx="3">
                  <c:v>69.775199999999998</c:v>
                </c:pt>
                <c:pt idx="4">
                  <c:v>68.278700000000001</c:v>
                </c:pt>
                <c:pt idx="5">
                  <c:v>68.322599999999994</c:v>
                </c:pt>
                <c:pt idx="6">
                  <c:v>68.677300000000002</c:v>
                </c:pt>
                <c:pt idx="7">
                  <c:v>67.797899999999998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C73-44A7-B831-131AA89BE98C}"/>
            </c:ext>
          </c:extLst>
        </c:ser>
        <c:ser>
          <c:idx val="4"/>
          <c:order val="1"/>
          <c:tx>
            <c:strRef>
              <c:f>'ACEI-ARB DM-CKD by Sex'!$B$56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Sex'!$C$56:$J$56</c:f>
              <c:numCache>
                <c:formatCode>0.00</c:formatCode>
                <c:ptCount val="8"/>
                <c:pt idx="0">
                  <c:v>66.120900000000006</c:v>
                </c:pt>
                <c:pt idx="1">
                  <c:v>65.172499999999999</c:v>
                </c:pt>
                <c:pt idx="2">
                  <c:v>64.332700000000003</c:v>
                </c:pt>
                <c:pt idx="3">
                  <c:v>63.990099999999998</c:v>
                </c:pt>
                <c:pt idx="4">
                  <c:v>61.934399999999997</c:v>
                </c:pt>
                <c:pt idx="5">
                  <c:v>61.351599999999998</c:v>
                </c:pt>
                <c:pt idx="6">
                  <c:v>61.5443</c:v>
                </c:pt>
                <c:pt idx="7">
                  <c:v>61.199199999999998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C73-44A7-B831-131AA89BE98C}"/>
            </c:ext>
          </c:extLst>
        </c:ser>
        <c:ser>
          <c:idx val="0"/>
          <c:order val="2"/>
          <c:tx>
            <c:strRef>
              <c:f>'ACEI-ARB DM-CKD by Sex'!$B$55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Sex'!$C$55:$J$55</c:f>
              <c:numCache>
                <c:formatCode>General</c:formatCode>
                <c:ptCount val="8"/>
                <c:pt idx="0">
                  <c:v>69.679999999999993</c:v>
                </c:pt>
                <c:pt idx="1">
                  <c:v>68</c:v>
                </c:pt>
                <c:pt idx="2">
                  <c:v>66.83</c:v>
                </c:pt>
                <c:pt idx="3">
                  <c:v>66.25</c:v>
                </c:pt>
                <c:pt idx="4">
                  <c:v>64.44</c:v>
                </c:pt>
                <c:pt idx="5">
                  <c:v>64.08</c:v>
                </c:pt>
                <c:pt idx="6">
                  <c:v>64.33</c:v>
                </c:pt>
                <c:pt idx="7">
                  <c:v>63.64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C73-44A7-B831-131AA89BE9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8.7489938757655289E-2"/>
          <c:y val="4.7798556430446192E-2"/>
          <c:w val="0.90028783902012244"/>
          <c:h val="0.60277121609798778"/>
        </c:manualLayout>
      </c:layout>
      <c:lineChart>
        <c:grouping val="standard"/>
        <c:varyColors val="0"/>
        <c:ser>
          <c:idx val="3"/>
          <c:order val="0"/>
          <c:tx>
            <c:strRef>
              <c:f>'ACEI-ARB CKDG3-5 by Race'!$B$63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Race'!$C$63:$J$63</c:f>
              <c:numCache>
                <c:formatCode>General</c:formatCode>
                <c:ptCount val="8"/>
                <c:pt idx="0">
                  <c:v>65.12</c:v>
                </c:pt>
                <c:pt idx="1">
                  <c:v>64.010000000000005</c:v>
                </c:pt>
                <c:pt idx="2">
                  <c:v>63.22</c:v>
                </c:pt>
                <c:pt idx="3">
                  <c:v>62.68</c:v>
                </c:pt>
                <c:pt idx="4">
                  <c:v>62.47</c:v>
                </c:pt>
                <c:pt idx="5">
                  <c:v>62.26</c:v>
                </c:pt>
                <c:pt idx="6">
                  <c:v>62.82</c:v>
                </c:pt>
                <c:pt idx="7">
                  <c:v>63.27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9CE-41DB-96DD-431A72292307}"/>
            </c:ext>
          </c:extLst>
        </c:ser>
        <c:ser>
          <c:idx val="2"/>
          <c:order val="1"/>
          <c:tx>
            <c:strRef>
              <c:f>'ACEI-ARB CKDG3-5 by Race'!$B$61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Race'!$C$61:$J$61</c:f>
              <c:numCache>
                <c:formatCode>General</c:formatCode>
                <c:ptCount val="8"/>
                <c:pt idx="0">
                  <c:v>64.47</c:v>
                </c:pt>
                <c:pt idx="1">
                  <c:v>64.099999999999994</c:v>
                </c:pt>
                <c:pt idx="2">
                  <c:v>63.77</c:v>
                </c:pt>
                <c:pt idx="3">
                  <c:v>62.12</c:v>
                </c:pt>
                <c:pt idx="4">
                  <c:v>61.96</c:v>
                </c:pt>
                <c:pt idx="5">
                  <c:v>61.37</c:v>
                </c:pt>
                <c:pt idx="6">
                  <c:v>61.79</c:v>
                </c:pt>
                <c:pt idx="7">
                  <c:v>62.87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9CE-41DB-96DD-431A72292307}"/>
            </c:ext>
          </c:extLst>
        </c:ser>
        <c:ser>
          <c:idx val="4"/>
          <c:order val="2"/>
          <c:tx>
            <c:strRef>
              <c:f>'ACEI-ARB CKDG3-5 by Race'!$B$60</c:f>
              <c:strCache>
                <c:ptCount val="1"/>
                <c:pt idx="0">
                  <c:v>Asian American/Pacific Islander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Race'!$C$60:$J$60</c:f>
              <c:numCache>
                <c:formatCode>General</c:formatCode>
                <c:ptCount val="8"/>
                <c:pt idx="0">
                  <c:v>76.099999999999994</c:v>
                </c:pt>
                <c:pt idx="1">
                  <c:v>75.44</c:v>
                </c:pt>
                <c:pt idx="2">
                  <c:v>74.540000000000006</c:v>
                </c:pt>
                <c:pt idx="3">
                  <c:v>73.52</c:v>
                </c:pt>
                <c:pt idx="4">
                  <c:v>73.489999999999995</c:v>
                </c:pt>
                <c:pt idx="5">
                  <c:v>74.61</c:v>
                </c:pt>
                <c:pt idx="6">
                  <c:v>74.72</c:v>
                </c:pt>
                <c:pt idx="7">
                  <c:v>74.13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9CE-41DB-96DD-431A72292307}"/>
            </c:ext>
          </c:extLst>
        </c:ser>
        <c:ser>
          <c:idx val="1"/>
          <c:order val="3"/>
          <c:tx>
            <c:strRef>
              <c:f>'ACEI-ARB CKDG3-5 by Race'!$B$62</c:f>
              <c:strCache>
                <c:ptCount val="1"/>
                <c:pt idx="0">
                  <c:v>Native American/Alaska Native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Race'!$C$62:$J$62</c:f>
              <c:numCache>
                <c:formatCode>General</c:formatCode>
                <c:ptCount val="8"/>
                <c:pt idx="0">
                  <c:v>68.05</c:v>
                </c:pt>
                <c:pt idx="1">
                  <c:v>65.53</c:v>
                </c:pt>
                <c:pt idx="2">
                  <c:v>68.59</c:v>
                </c:pt>
                <c:pt idx="3">
                  <c:v>61.97</c:v>
                </c:pt>
                <c:pt idx="4">
                  <c:v>65.94</c:v>
                </c:pt>
                <c:pt idx="5">
                  <c:v>66.03</c:v>
                </c:pt>
                <c:pt idx="6">
                  <c:v>64.62</c:v>
                </c:pt>
                <c:pt idx="7">
                  <c:v>65.53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9CE-41DB-96DD-431A72292307}"/>
            </c:ext>
          </c:extLst>
        </c:ser>
        <c:ser>
          <c:idx val="5"/>
          <c:order val="4"/>
          <c:tx>
            <c:strRef>
              <c:f>'ACEI-ARB CKDG3-5 by Race'!$B$64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Race'!$C$64:$J$64</c:f>
              <c:numCache>
                <c:formatCode>General</c:formatCode>
                <c:ptCount val="8"/>
                <c:pt idx="0">
                  <c:v>65.959999999999994</c:v>
                </c:pt>
                <c:pt idx="1">
                  <c:v>62.37</c:v>
                </c:pt>
                <c:pt idx="2">
                  <c:v>64.040000000000006</c:v>
                </c:pt>
                <c:pt idx="3">
                  <c:v>62.19</c:v>
                </c:pt>
                <c:pt idx="4">
                  <c:v>65.489999999999995</c:v>
                </c:pt>
                <c:pt idx="5">
                  <c:v>63.1</c:v>
                </c:pt>
                <c:pt idx="6">
                  <c:v>64.41</c:v>
                </c:pt>
                <c:pt idx="7">
                  <c:v>66.430000000000007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9CE-41DB-96DD-431A72292307}"/>
            </c:ext>
          </c:extLst>
        </c:ser>
        <c:ser>
          <c:idx val="6"/>
          <c:order val="5"/>
          <c:tx>
            <c:strRef>
              <c:f>'ACEI-ARB CKDG3-5 by Race'!$B$65</c:f>
              <c:strCache>
                <c:ptCount val="1"/>
                <c:pt idx="0">
                  <c:v>Unknown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Race'!$C$65:$J$65</c:f>
              <c:numCache>
                <c:formatCode>General</c:formatCode>
                <c:ptCount val="8"/>
                <c:pt idx="0">
                  <c:v>66.680000000000007</c:v>
                </c:pt>
                <c:pt idx="1">
                  <c:v>64.92</c:v>
                </c:pt>
                <c:pt idx="2">
                  <c:v>63.52</c:v>
                </c:pt>
                <c:pt idx="3">
                  <c:v>62.48</c:v>
                </c:pt>
                <c:pt idx="4">
                  <c:v>63.42</c:v>
                </c:pt>
                <c:pt idx="5">
                  <c:v>61.89</c:v>
                </c:pt>
                <c:pt idx="6">
                  <c:v>64.900000000000006</c:v>
                </c:pt>
                <c:pt idx="7">
                  <c:v>67.53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9CE-41DB-96DD-431A72292307}"/>
            </c:ext>
          </c:extLst>
        </c:ser>
        <c:ser>
          <c:idx val="7"/>
          <c:order val="6"/>
          <c:tx>
            <c:strRef>
              <c:f>'ACEI-ARB CKDG3-5 by Race'!$B$66</c:f>
              <c:strCache>
                <c:ptCount val="1"/>
                <c:pt idx="0">
                  <c:v>Missing</c:v>
                </c:pt>
              </c:strCache>
            </c:strRef>
          </c:tx>
          <c:spPr>
            <a:ln w="44450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</a:schemeClr>
              </a:solidFill>
              <a:ln w="9525">
                <a:solidFill>
                  <a:schemeClr val="accent2">
                    <a:lumMod val="60000"/>
                  </a:schemeClr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Race'!$C$66:$J$66</c:f>
              <c:numCache>
                <c:formatCode>General</c:formatCode>
                <c:ptCount val="8"/>
                <c:pt idx="0">
                  <c:v>67.61</c:v>
                </c:pt>
                <c:pt idx="1">
                  <c:v>66.45</c:v>
                </c:pt>
                <c:pt idx="2">
                  <c:v>65.849999999999994</c:v>
                </c:pt>
                <c:pt idx="3">
                  <c:v>65.03</c:v>
                </c:pt>
                <c:pt idx="4">
                  <c:v>64.73</c:v>
                </c:pt>
                <c:pt idx="5">
                  <c:v>65.53</c:v>
                </c:pt>
                <c:pt idx="6">
                  <c:v>66.14</c:v>
                </c:pt>
                <c:pt idx="7">
                  <c:v>66.64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9CE-41DB-96DD-431A72292307}"/>
            </c:ext>
          </c:extLst>
        </c:ser>
        <c:ser>
          <c:idx val="0"/>
          <c:order val="7"/>
          <c:tx>
            <c:strRef>
              <c:f>'ACEI-ARB CKDG3-5 by Race'!$B$59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Race'!$C$59:$J$59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9CE-41DB-96DD-431A722923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2.1996500437445319E-3"/>
          <c:y val="0.76060236220472444"/>
          <c:w val="0.99448958880139982"/>
          <c:h val="0.2143976377952755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8.7489938757655289E-2"/>
          <c:y val="4.7798556430446192E-2"/>
          <c:w val="0.90028783902012244"/>
          <c:h val="0.58054899387576553"/>
        </c:manualLayout>
      </c:layout>
      <c:lineChart>
        <c:grouping val="standard"/>
        <c:varyColors val="0"/>
        <c:ser>
          <c:idx val="3"/>
          <c:order val="0"/>
          <c:tx>
            <c:strRef>
              <c:f>'ACEI-ARB CKDG3-5 by Race'!$B$75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Race'!$C$75:$J$75</c:f>
              <c:numCache>
                <c:formatCode>0.00</c:formatCode>
                <c:ptCount val="8"/>
                <c:pt idx="0">
                  <c:v>43.913200000000003</c:v>
                </c:pt>
                <c:pt idx="1">
                  <c:v>43.424999999999997</c:v>
                </c:pt>
                <c:pt idx="2">
                  <c:v>42.108199999999997</c:v>
                </c:pt>
                <c:pt idx="3">
                  <c:v>41.419800000000002</c:v>
                </c:pt>
                <c:pt idx="4">
                  <c:v>41.423699999999997</c:v>
                </c:pt>
                <c:pt idx="5">
                  <c:v>40.535699999999999</c:v>
                </c:pt>
                <c:pt idx="6">
                  <c:v>41.528799999999997</c:v>
                </c:pt>
                <c:pt idx="7">
                  <c:v>41.571300000000001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A66-4CC6-AADE-EF561F55E071}"/>
            </c:ext>
          </c:extLst>
        </c:ser>
        <c:ser>
          <c:idx val="2"/>
          <c:order val="1"/>
          <c:tx>
            <c:strRef>
              <c:f>'ACEI-ARB CKDG3-5 by Race'!$B$73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Race'!$C$73:$J$73</c:f>
              <c:numCache>
                <c:formatCode>0.00</c:formatCode>
                <c:ptCount val="8"/>
                <c:pt idx="0">
                  <c:v>49.197600000000001</c:v>
                </c:pt>
                <c:pt idx="1">
                  <c:v>48.605400000000003</c:v>
                </c:pt>
                <c:pt idx="2">
                  <c:v>46.518300000000004</c:v>
                </c:pt>
                <c:pt idx="3">
                  <c:v>44.792999999999999</c:v>
                </c:pt>
                <c:pt idx="4">
                  <c:v>45.167700000000004</c:v>
                </c:pt>
                <c:pt idx="5">
                  <c:v>44.639699999999998</c:v>
                </c:pt>
                <c:pt idx="6">
                  <c:v>44.110300000000002</c:v>
                </c:pt>
                <c:pt idx="7">
                  <c:v>44.407800000000002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A66-4CC6-AADE-EF561F55E071}"/>
            </c:ext>
          </c:extLst>
        </c:ser>
        <c:ser>
          <c:idx val="4"/>
          <c:order val="2"/>
          <c:tx>
            <c:strRef>
              <c:f>'ACEI-ARB CKDG3-5 by Race'!$B$72</c:f>
              <c:strCache>
                <c:ptCount val="1"/>
                <c:pt idx="0">
                  <c:v>Asian American/Pacific Islander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Race'!$C$72:$J$72</c:f>
              <c:numCache>
                <c:formatCode>0.00</c:formatCode>
                <c:ptCount val="8"/>
                <c:pt idx="0">
                  <c:v>54.139099999999999</c:v>
                </c:pt>
                <c:pt idx="1">
                  <c:v>55.661700000000003</c:v>
                </c:pt>
                <c:pt idx="2">
                  <c:v>53.253999999999998</c:v>
                </c:pt>
                <c:pt idx="3">
                  <c:v>48.929400000000001</c:v>
                </c:pt>
                <c:pt idx="4">
                  <c:v>51.191099999999999</c:v>
                </c:pt>
                <c:pt idx="5">
                  <c:v>51.992199999999997</c:v>
                </c:pt>
                <c:pt idx="6">
                  <c:v>52.388300000000001</c:v>
                </c:pt>
                <c:pt idx="7">
                  <c:v>52.793900000000001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A66-4CC6-AADE-EF561F55E071}"/>
            </c:ext>
          </c:extLst>
        </c:ser>
        <c:ser>
          <c:idx val="1"/>
          <c:order val="3"/>
          <c:tx>
            <c:strRef>
              <c:f>'ACEI-ARB CKDG3-5 by Race'!$B$74</c:f>
              <c:strCache>
                <c:ptCount val="1"/>
                <c:pt idx="0">
                  <c:v>Native American/Alaska Native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Race'!$C$74:$J$74</c:f>
              <c:numCache>
                <c:formatCode>0.00</c:formatCode>
                <c:ptCount val="8"/>
                <c:pt idx="0">
                  <c:v>50.324199999999998</c:v>
                </c:pt>
                <c:pt idx="1">
                  <c:v>38.606900000000003</c:v>
                </c:pt>
                <c:pt idx="2">
                  <c:v>49.700299999999999</c:v>
                </c:pt>
                <c:pt idx="3">
                  <c:v>43.224299999999999</c:v>
                </c:pt>
                <c:pt idx="4">
                  <c:v>41.454099999999997</c:v>
                </c:pt>
                <c:pt idx="5">
                  <c:v>51.032600000000002</c:v>
                </c:pt>
                <c:pt idx="6">
                  <c:v>38.340800000000002</c:v>
                </c:pt>
                <c:pt idx="7">
                  <c:v>41.084699999999998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A66-4CC6-AADE-EF561F55E071}"/>
            </c:ext>
          </c:extLst>
        </c:ser>
        <c:ser>
          <c:idx val="5"/>
          <c:order val="4"/>
          <c:tx>
            <c:strRef>
              <c:f>'ACEI-ARB CKDG3-5 by Race'!$B$76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Race'!$C$76:$J$76</c:f>
              <c:numCache>
                <c:formatCode>0.00</c:formatCode>
                <c:ptCount val="8"/>
                <c:pt idx="0">
                  <c:v>44.577199999999998</c:v>
                </c:pt>
                <c:pt idx="1">
                  <c:v>46.195500000000003</c:v>
                </c:pt>
                <c:pt idx="2">
                  <c:v>48.507199999999997</c:v>
                </c:pt>
                <c:pt idx="3">
                  <c:v>43.191299999999998</c:v>
                </c:pt>
                <c:pt idx="4">
                  <c:v>46.118200000000002</c:v>
                </c:pt>
                <c:pt idx="5">
                  <c:v>41.3217</c:v>
                </c:pt>
                <c:pt idx="6">
                  <c:v>43.239199999999997</c:v>
                </c:pt>
                <c:pt idx="7">
                  <c:v>47.806100000000001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A66-4CC6-AADE-EF561F55E071}"/>
            </c:ext>
          </c:extLst>
        </c:ser>
        <c:ser>
          <c:idx val="6"/>
          <c:order val="5"/>
          <c:tx>
            <c:strRef>
              <c:f>'ACEI-ARB CKDG3-5 by Race'!$B$77</c:f>
              <c:strCache>
                <c:ptCount val="1"/>
                <c:pt idx="0">
                  <c:v>Unknown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Race'!$C$77:$J$77</c:f>
              <c:numCache>
                <c:formatCode>0.00</c:formatCode>
                <c:ptCount val="8"/>
                <c:pt idx="0">
                  <c:v>47.660800000000002</c:v>
                </c:pt>
                <c:pt idx="1">
                  <c:v>48.783000000000001</c:v>
                </c:pt>
                <c:pt idx="2">
                  <c:v>47.703499999999998</c:v>
                </c:pt>
                <c:pt idx="3">
                  <c:v>44.377200000000002</c:v>
                </c:pt>
                <c:pt idx="4">
                  <c:v>43.0045</c:v>
                </c:pt>
                <c:pt idx="5">
                  <c:v>45.716299999999997</c:v>
                </c:pt>
                <c:pt idx="6">
                  <c:v>50.355200000000004</c:v>
                </c:pt>
                <c:pt idx="7">
                  <c:v>48.2136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6A66-4CC6-AADE-EF561F55E071}"/>
            </c:ext>
          </c:extLst>
        </c:ser>
        <c:ser>
          <c:idx val="7"/>
          <c:order val="6"/>
          <c:tx>
            <c:strRef>
              <c:f>'ACEI-ARB CKDG3-5 by Race'!$B$78</c:f>
              <c:strCache>
                <c:ptCount val="1"/>
                <c:pt idx="0">
                  <c:v>Missing</c:v>
                </c:pt>
              </c:strCache>
            </c:strRef>
          </c:tx>
          <c:spPr>
            <a:ln w="44450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</a:schemeClr>
              </a:solidFill>
              <a:ln w="9525">
                <a:solidFill>
                  <a:schemeClr val="accent2">
                    <a:lumMod val="60000"/>
                  </a:schemeClr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Race'!$C$78:$J$78</c:f>
              <c:numCache>
                <c:formatCode>0.00</c:formatCode>
                <c:ptCount val="8"/>
                <c:pt idx="0">
                  <c:v>53.311</c:v>
                </c:pt>
                <c:pt idx="1">
                  <c:v>53.383000000000003</c:v>
                </c:pt>
                <c:pt idx="2">
                  <c:v>51.492899999999999</c:v>
                </c:pt>
                <c:pt idx="3">
                  <c:v>49.993699999999997</c:v>
                </c:pt>
                <c:pt idx="4">
                  <c:v>49.784199999999998</c:v>
                </c:pt>
                <c:pt idx="5">
                  <c:v>47.4557</c:v>
                </c:pt>
                <c:pt idx="6">
                  <c:v>51.123199999999997</c:v>
                </c:pt>
                <c:pt idx="7">
                  <c:v>50.844799999999999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6A66-4CC6-AADE-EF561F55E071}"/>
            </c:ext>
          </c:extLst>
        </c:ser>
        <c:ser>
          <c:idx val="0"/>
          <c:order val="7"/>
          <c:tx>
            <c:strRef>
              <c:f>'ACEI-ARB CKDG3-5 by Race'!$B$71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Race'!$C$71:$J$71</c:f>
              <c:numCache>
                <c:formatCode>General</c:formatCode>
                <c:ptCount val="8"/>
                <c:pt idx="0">
                  <c:v>47.339999999999996</c:v>
                </c:pt>
                <c:pt idx="1">
                  <c:v>47.06</c:v>
                </c:pt>
                <c:pt idx="2">
                  <c:v>45.47</c:v>
                </c:pt>
                <c:pt idx="3">
                  <c:v>43.78</c:v>
                </c:pt>
                <c:pt idx="4">
                  <c:v>43.95</c:v>
                </c:pt>
                <c:pt idx="5">
                  <c:v>43.379999999999995</c:v>
                </c:pt>
                <c:pt idx="6">
                  <c:v>43.86</c:v>
                </c:pt>
                <c:pt idx="7">
                  <c:v>44.05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6A66-4CC6-AADE-EF561F55E0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8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5.5329833770778646E-3"/>
          <c:y val="0.7467134733158356"/>
          <c:w val="0.98893403324584428"/>
          <c:h val="0.2199531933508311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4"/>
          <c:order val="0"/>
          <c:tx>
            <c:strRef>
              <c:f>'ACEI-ARB CKDG3-5 by CKD Stage'!$B$46</c:f>
              <c:strCache>
                <c:ptCount val="1"/>
                <c:pt idx="0">
                  <c:v>Stage 3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CKDG3-5 by CKD Stage'!$C$44:$J$44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Stage'!$C$46:$J$46</c:f>
              <c:numCache>
                <c:formatCode>General</c:formatCode>
                <c:ptCount val="8"/>
                <c:pt idx="0">
                  <c:v>66.260000000000005</c:v>
                </c:pt>
                <c:pt idx="1">
                  <c:v>65.180000000000007</c:v>
                </c:pt>
                <c:pt idx="2">
                  <c:v>64.42</c:v>
                </c:pt>
                <c:pt idx="3">
                  <c:v>63.37</c:v>
                </c:pt>
                <c:pt idx="4">
                  <c:v>63.23</c:v>
                </c:pt>
                <c:pt idx="5">
                  <c:v>62.99</c:v>
                </c:pt>
                <c:pt idx="6">
                  <c:v>63.65</c:v>
                </c:pt>
                <c:pt idx="7">
                  <c:v>64.180000000000007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176-4707-944E-AB37C07ECDAF}"/>
            </c:ext>
          </c:extLst>
        </c:ser>
        <c:ser>
          <c:idx val="2"/>
          <c:order val="1"/>
          <c:tx>
            <c:strRef>
              <c:f>'ACEI-ARB CKDG3-5 by CKD Stage'!$B$47</c:f>
              <c:strCache>
                <c:ptCount val="1"/>
                <c:pt idx="0">
                  <c:v>Stage 4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CKD Stage'!$C$44:$J$44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Stage'!$C$47:$J$47</c:f>
              <c:numCache>
                <c:formatCode>General</c:formatCode>
                <c:ptCount val="8"/>
                <c:pt idx="0">
                  <c:v>67.52</c:v>
                </c:pt>
                <c:pt idx="1">
                  <c:v>67.290000000000006</c:v>
                </c:pt>
                <c:pt idx="2">
                  <c:v>67.2</c:v>
                </c:pt>
                <c:pt idx="3">
                  <c:v>66.3</c:v>
                </c:pt>
                <c:pt idx="4">
                  <c:v>68.849999999999994</c:v>
                </c:pt>
                <c:pt idx="5">
                  <c:v>67.900000000000006</c:v>
                </c:pt>
                <c:pt idx="6">
                  <c:v>68.489999999999995</c:v>
                </c:pt>
                <c:pt idx="7">
                  <c:v>70.23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176-4707-944E-AB37C07ECDAF}"/>
            </c:ext>
          </c:extLst>
        </c:ser>
        <c:ser>
          <c:idx val="1"/>
          <c:order val="2"/>
          <c:tx>
            <c:strRef>
              <c:f>'ACEI-ARB CKDG3-5 by CKD Stage'!$B$48</c:f>
              <c:strCache>
                <c:ptCount val="1"/>
                <c:pt idx="0">
                  <c:v>Stage 5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CKD Stage'!$C$44:$J$44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Stage'!$C$48:$J$48</c:f>
              <c:numCache>
                <c:formatCode>General</c:formatCode>
                <c:ptCount val="8"/>
                <c:pt idx="0">
                  <c:v>50.85</c:v>
                </c:pt>
                <c:pt idx="1">
                  <c:v>46.63</c:v>
                </c:pt>
                <c:pt idx="2">
                  <c:v>46.5</c:v>
                </c:pt>
                <c:pt idx="3">
                  <c:v>48.83</c:v>
                </c:pt>
                <c:pt idx="4">
                  <c:v>47.47</c:v>
                </c:pt>
                <c:pt idx="5">
                  <c:v>46.61</c:v>
                </c:pt>
                <c:pt idx="6">
                  <c:v>47.56</c:v>
                </c:pt>
                <c:pt idx="7">
                  <c:v>52.04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176-4707-944E-AB37C07ECDAF}"/>
            </c:ext>
          </c:extLst>
        </c:ser>
        <c:ser>
          <c:idx val="0"/>
          <c:order val="3"/>
          <c:tx>
            <c:strRef>
              <c:f>'ACEI-ARB CKDG3-5 by CKD Stage'!$B$45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CKD Stage'!$C$44:$J$44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Stage'!$C$45:$J$45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176-4707-944E-AB37C07ECD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4"/>
          <c:order val="0"/>
          <c:tx>
            <c:strRef>
              <c:f>'ACEI-ARB CKDG3-5 by CKD Stage'!$B$58</c:f>
              <c:strCache>
                <c:ptCount val="1"/>
                <c:pt idx="0">
                  <c:v>Stage 3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CKDG3-5 by CKD Stage'!$C$56:$J$56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Stage'!$C$58:$J$58</c:f>
              <c:numCache>
                <c:formatCode>0.00</c:formatCode>
                <c:ptCount val="8"/>
                <c:pt idx="0">
                  <c:v>46.594200000000001</c:v>
                </c:pt>
                <c:pt idx="1">
                  <c:v>45.959699999999998</c:v>
                </c:pt>
                <c:pt idx="2">
                  <c:v>44.580199999999998</c:v>
                </c:pt>
                <c:pt idx="3">
                  <c:v>43.119399999999999</c:v>
                </c:pt>
                <c:pt idx="4">
                  <c:v>43.181899999999999</c:v>
                </c:pt>
                <c:pt idx="5">
                  <c:v>42.654899999999998</c:v>
                </c:pt>
                <c:pt idx="6">
                  <c:v>43.015099999999997</c:v>
                </c:pt>
                <c:pt idx="7">
                  <c:v>42.928800000000003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F2-45B8-AC3E-7614A8EA8F18}"/>
            </c:ext>
          </c:extLst>
        </c:ser>
        <c:ser>
          <c:idx val="2"/>
          <c:order val="1"/>
          <c:tx>
            <c:strRef>
              <c:f>'ACEI-ARB CKDG3-5 by CKD Stage'!$B$59</c:f>
              <c:strCache>
                <c:ptCount val="1"/>
                <c:pt idx="0">
                  <c:v>Stage 4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CKD Stage'!$C$56:$J$56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Stage'!$C$59:$J$59</c:f>
              <c:numCache>
                <c:formatCode>0.00</c:formatCode>
                <c:ptCount val="8"/>
                <c:pt idx="0">
                  <c:v>61.926900000000003</c:v>
                </c:pt>
                <c:pt idx="1">
                  <c:v>67.093800000000002</c:v>
                </c:pt>
                <c:pt idx="2">
                  <c:v>63.68</c:v>
                </c:pt>
                <c:pt idx="3">
                  <c:v>58.871099999999998</c:v>
                </c:pt>
                <c:pt idx="4">
                  <c:v>61.390999999999998</c:v>
                </c:pt>
                <c:pt idx="5">
                  <c:v>60.924700000000001</c:v>
                </c:pt>
                <c:pt idx="6">
                  <c:v>64.980099999999993</c:v>
                </c:pt>
                <c:pt idx="7">
                  <c:v>70.722300000000004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F2-45B8-AC3E-7614A8EA8F18}"/>
            </c:ext>
          </c:extLst>
        </c:ser>
        <c:ser>
          <c:idx val="1"/>
          <c:order val="2"/>
          <c:tx>
            <c:strRef>
              <c:f>'ACEI-ARB CKDG3-5 by CKD Stage'!$B$60</c:f>
              <c:strCache>
                <c:ptCount val="1"/>
                <c:pt idx="0">
                  <c:v>Stage 5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CKD Stage'!$C$56:$J$56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Stage'!$C$60:$J$60</c:f>
              <c:numCache>
                <c:formatCode>0.00</c:formatCode>
                <c:ptCount val="8"/>
                <c:pt idx="0">
                  <c:v>44.005299999999998</c:v>
                </c:pt>
                <c:pt idx="1">
                  <c:v>52.898200000000003</c:v>
                </c:pt>
                <c:pt idx="2">
                  <c:v>47.905900000000003</c:v>
                </c:pt>
                <c:pt idx="3">
                  <c:v>45.049199999999999</c:v>
                </c:pt>
                <c:pt idx="4">
                  <c:v>41.007100000000001</c:v>
                </c:pt>
                <c:pt idx="5">
                  <c:v>42.409399999999998</c:v>
                </c:pt>
                <c:pt idx="6">
                  <c:v>52.314300000000003</c:v>
                </c:pt>
                <c:pt idx="7">
                  <c:v>61.0944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F2-45B8-AC3E-7614A8EA8F18}"/>
            </c:ext>
          </c:extLst>
        </c:ser>
        <c:ser>
          <c:idx val="0"/>
          <c:order val="3"/>
          <c:tx>
            <c:strRef>
              <c:f>'ACEI-ARB CKDG3-5 by CKD Stage'!$B$57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CKD Stage'!$C$56:$J$56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Stage'!$C$57:$J$57</c:f>
              <c:numCache>
                <c:formatCode>General</c:formatCode>
                <c:ptCount val="8"/>
                <c:pt idx="0">
                  <c:v>47.339999999999996</c:v>
                </c:pt>
                <c:pt idx="1">
                  <c:v>47.06</c:v>
                </c:pt>
                <c:pt idx="2">
                  <c:v>45.47</c:v>
                </c:pt>
                <c:pt idx="3">
                  <c:v>43.78</c:v>
                </c:pt>
                <c:pt idx="4">
                  <c:v>43.95</c:v>
                </c:pt>
                <c:pt idx="5">
                  <c:v>43.379999999999995</c:v>
                </c:pt>
                <c:pt idx="6">
                  <c:v>43.86</c:v>
                </c:pt>
                <c:pt idx="7">
                  <c:v>44.05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EF2-45B8-AC3E-7614A8EA8F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CKDG3-5 by DM'!$B$43</c:f>
              <c:strCache>
                <c:ptCount val="1"/>
                <c:pt idx="0">
                  <c:v>With Diabetes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DM'!$C$41:$J$41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DM'!$C$43:$J$43</c:f>
              <c:numCache>
                <c:formatCode>General</c:formatCode>
                <c:ptCount val="8"/>
                <c:pt idx="0">
                  <c:v>81.819999999999993</c:v>
                </c:pt>
                <c:pt idx="1">
                  <c:v>81.09</c:v>
                </c:pt>
                <c:pt idx="2">
                  <c:v>80.48</c:v>
                </c:pt>
                <c:pt idx="3">
                  <c:v>79.61</c:v>
                </c:pt>
                <c:pt idx="4">
                  <c:v>78.87</c:v>
                </c:pt>
                <c:pt idx="5">
                  <c:v>78.34</c:v>
                </c:pt>
                <c:pt idx="6">
                  <c:v>78.81</c:v>
                </c:pt>
                <c:pt idx="7">
                  <c:v>79.34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699-404F-8A73-C028CC57C683}"/>
            </c:ext>
          </c:extLst>
        </c:ser>
        <c:ser>
          <c:idx val="2"/>
          <c:order val="1"/>
          <c:tx>
            <c:strRef>
              <c:f>'ACEI-ARB CKDG3-5 by DM'!$B$44</c:f>
              <c:strCache>
                <c:ptCount val="1"/>
                <c:pt idx="0">
                  <c:v>Without Diabetes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DM'!$C$41:$J$41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DM'!$C$44:$J$44</c:f>
              <c:numCache>
                <c:formatCode>General</c:formatCode>
                <c:ptCount val="8"/>
                <c:pt idx="0">
                  <c:v>56.88</c:v>
                </c:pt>
                <c:pt idx="1">
                  <c:v>55.51</c:v>
                </c:pt>
                <c:pt idx="2">
                  <c:v>54.81</c:v>
                </c:pt>
                <c:pt idx="3">
                  <c:v>53.62</c:v>
                </c:pt>
                <c:pt idx="4">
                  <c:v>53.9</c:v>
                </c:pt>
                <c:pt idx="5">
                  <c:v>53.88</c:v>
                </c:pt>
                <c:pt idx="6">
                  <c:v>54.79</c:v>
                </c:pt>
                <c:pt idx="7">
                  <c:v>55.73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699-404F-8A73-C028CC57C683}"/>
            </c:ext>
          </c:extLst>
        </c:ser>
        <c:ser>
          <c:idx val="0"/>
          <c:order val="2"/>
          <c:tx>
            <c:strRef>
              <c:f>'ACEI-ARB CKDG3-5 by DM'!$B$42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'ACEI-ARB CKDG3-5 by DM'!$C$41:$J$41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DM'!$C$42:$J$42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699-404F-8A73-C028CC57C6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29176368"/>
        <c:axId val="429172208"/>
      </c:lineChart>
      <c:catAx>
        <c:axId val="4291763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9172208"/>
        <c:crosses val="autoZero"/>
        <c:auto val="1"/>
        <c:lblAlgn val="ctr"/>
        <c:lblOffset val="100"/>
        <c:noMultiLvlLbl val="0"/>
      </c:catAx>
      <c:valAx>
        <c:axId val="4291722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91763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CKDG3-5 by DM'!$B$53</c:f>
              <c:strCache>
                <c:ptCount val="1"/>
                <c:pt idx="0">
                  <c:v>With Diabetes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DM'!$C$51:$J$51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DM'!$C$53:$J$53</c:f>
              <c:numCache>
                <c:formatCode>0.00</c:formatCode>
                <c:ptCount val="8"/>
                <c:pt idx="0">
                  <c:v>77.162099999999995</c:v>
                </c:pt>
                <c:pt idx="1">
                  <c:v>78.303100000000001</c:v>
                </c:pt>
                <c:pt idx="2">
                  <c:v>74.931399999999996</c:v>
                </c:pt>
                <c:pt idx="3">
                  <c:v>68.602900000000005</c:v>
                </c:pt>
                <c:pt idx="4">
                  <c:v>69.192899999999995</c:v>
                </c:pt>
                <c:pt idx="5">
                  <c:v>69.103999999999999</c:v>
                </c:pt>
                <c:pt idx="6">
                  <c:v>70.448400000000007</c:v>
                </c:pt>
                <c:pt idx="7">
                  <c:v>74.322400000000002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A77-495F-B38F-8AE16F0CB90A}"/>
            </c:ext>
          </c:extLst>
        </c:ser>
        <c:ser>
          <c:idx val="2"/>
          <c:order val="1"/>
          <c:tx>
            <c:strRef>
              <c:f>'ACEI-ARB CKDG3-5 by DM'!$B$54</c:f>
              <c:strCache>
                <c:ptCount val="1"/>
                <c:pt idx="0">
                  <c:v>Without Diabetes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DM'!$C$51:$J$51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DM'!$C$54:$J$54</c:f>
              <c:numCache>
                <c:formatCode>0.00</c:formatCode>
                <c:ptCount val="8"/>
                <c:pt idx="0">
                  <c:v>41.007599999999996</c:v>
                </c:pt>
                <c:pt idx="1">
                  <c:v>40.411900000000003</c:v>
                </c:pt>
                <c:pt idx="2">
                  <c:v>38.759799999999998</c:v>
                </c:pt>
                <c:pt idx="3">
                  <c:v>37.508400000000002</c:v>
                </c:pt>
                <c:pt idx="4">
                  <c:v>37.5428</c:v>
                </c:pt>
                <c:pt idx="5">
                  <c:v>37.284999999999997</c:v>
                </c:pt>
                <c:pt idx="6">
                  <c:v>37.912599999999998</c:v>
                </c:pt>
                <c:pt idx="7">
                  <c:v>38.6327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A77-495F-B38F-8AE16F0CB90A}"/>
            </c:ext>
          </c:extLst>
        </c:ser>
        <c:ser>
          <c:idx val="0"/>
          <c:order val="2"/>
          <c:tx>
            <c:strRef>
              <c:f>'ACEI-ARB CKDG3-5 by DM'!$B$52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DM'!$C$51:$J$51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DM'!$C$52:$J$52</c:f>
              <c:numCache>
                <c:formatCode>General</c:formatCode>
                <c:ptCount val="8"/>
                <c:pt idx="0">
                  <c:v>47.339999999999996</c:v>
                </c:pt>
                <c:pt idx="1">
                  <c:v>47.06</c:v>
                </c:pt>
                <c:pt idx="2">
                  <c:v>45.47</c:v>
                </c:pt>
                <c:pt idx="3">
                  <c:v>43.78</c:v>
                </c:pt>
                <c:pt idx="4">
                  <c:v>43.95</c:v>
                </c:pt>
                <c:pt idx="5">
                  <c:v>43.379999999999995</c:v>
                </c:pt>
                <c:pt idx="6">
                  <c:v>43.86</c:v>
                </c:pt>
                <c:pt idx="7">
                  <c:v>44.05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A77-495F-B38F-8AE16F0CB9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2580800"/>
        <c:axId val="82581216"/>
      </c:lineChart>
      <c:catAx>
        <c:axId val="82580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2581216"/>
        <c:crosses val="autoZero"/>
        <c:auto val="1"/>
        <c:lblAlgn val="ctr"/>
        <c:lblOffset val="100"/>
        <c:noMultiLvlLbl val="0"/>
      </c:catAx>
      <c:valAx>
        <c:axId val="82581216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25808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CKDG3-5 by HTN'!$B$43</c:f>
              <c:strCache>
                <c:ptCount val="1"/>
                <c:pt idx="0">
                  <c:v>With Hypertension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HTN'!$C$41:$J$41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HTN'!$C$43:$J$43</c:f>
              <c:numCache>
                <c:formatCode>General</c:formatCode>
                <c:ptCount val="8"/>
                <c:pt idx="0">
                  <c:v>76.2</c:v>
                </c:pt>
                <c:pt idx="1">
                  <c:v>75.680000000000007</c:v>
                </c:pt>
                <c:pt idx="2">
                  <c:v>75.08</c:v>
                </c:pt>
                <c:pt idx="3">
                  <c:v>74.38</c:v>
                </c:pt>
                <c:pt idx="4">
                  <c:v>74.61</c:v>
                </c:pt>
                <c:pt idx="5">
                  <c:v>74.53</c:v>
                </c:pt>
                <c:pt idx="6">
                  <c:v>75.19</c:v>
                </c:pt>
                <c:pt idx="7">
                  <c:v>75.77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E9-4DB2-AA3B-67CFF5B95466}"/>
            </c:ext>
          </c:extLst>
        </c:ser>
        <c:ser>
          <c:idx val="2"/>
          <c:order val="1"/>
          <c:tx>
            <c:strRef>
              <c:f>'ACEI-ARB CKDG3-5 by HTN'!$B$44</c:f>
              <c:strCache>
                <c:ptCount val="1"/>
                <c:pt idx="0">
                  <c:v>Without Hypertension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HTN'!$C$41:$J$41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HTN'!$C$44:$J$44</c:f>
              <c:numCache>
                <c:formatCode>General</c:formatCode>
                <c:ptCount val="8"/>
                <c:pt idx="0">
                  <c:v>32.880000000000003</c:v>
                </c:pt>
                <c:pt idx="1">
                  <c:v>31.04</c:v>
                </c:pt>
                <c:pt idx="2">
                  <c:v>29.58</c:v>
                </c:pt>
                <c:pt idx="3">
                  <c:v>28.48</c:v>
                </c:pt>
                <c:pt idx="4">
                  <c:v>34.520000000000003</c:v>
                </c:pt>
                <c:pt idx="5">
                  <c:v>35.119999999999997</c:v>
                </c:pt>
                <c:pt idx="6">
                  <c:v>35.94</c:v>
                </c:pt>
                <c:pt idx="7">
                  <c:v>38.03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1E9-4DB2-AA3B-67CFF5B95466}"/>
            </c:ext>
          </c:extLst>
        </c:ser>
        <c:ser>
          <c:idx val="0"/>
          <c:order val="2"/>
          <c:tx>
            <c:strRef>
              <c:f>'ACEI-ARB CKDG3-5 by HTN'!$B$42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HTN'!$C$41:$J$41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HTN'!$C$42:$J$42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1E9-4DB2-AA3B-67CFF5B954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34261264"/>
        <c:axId val="434253360"/>
      </c:lineChart>
      <c:catAx>
        <c:axId val="434261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4253360"/>
        <c:crosses val="autoZero"/>
        <c:auto val="1"/>
        <c:lblAlgn val="ctr"/>
        <c:lblOffset val="100"/>
        <c:noMultiLvlLbl val="0"/>
      </c:catAx>
      <c:valAx>
        <c:axId val="434253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4261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CKDG3-5 by HTN'!$B$51</c:f>
              <c:strCache>
                <c:ptCount val="1"/>
                <c:pt idx="0">
                  <c:v>With Hypertension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HTN'!$C$49:$J$49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HTN'!$C$51:$J$51</c:f>
              <c:numCache>
                <c:formatCode>0.00</c:formatCode>
                <c:ptCount val="8"/>
                <c:pt idx="0">
                  <c:v>73.950699999999998</c:v>
                </c:pt>
                <c:pt idx="1">
                  <c:v>73.680300000000003</c:v>
                </c:pt>
                <c:pt idx="2">
                  <c:v>73.349800000000002</c:v>
                </c:pt>
                <c:pt idx="3">
                  <c:v>69.069400000000002</c:v>
                </c:pt>
                <c:pt idx="4">
                  <c:v>69.601399999999998</c:v>
                </c:pt>
                <c:pt idx="5">
                  <c:v>69.499099999999999</c:v>
                </c:pt>
                <c:pt idx="6">
                  <c:v>69.907200000000003</c:v>
                </c:pt>
                <c:pt idx="7">
                  <c:v>71.323599999999999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BD5-4530-9422-233EC3309846}"/>
            </c:ext>
          </c:extLst>
        </c:ser>
        <c:ser>
          <c:idx val="2"/>
          <c:order val="1"/>
          <c:tx>
            <c:strRef>
              <c:f>'ACEI-ARB CKDG3-5 by HTN'!$B$52</c:f>
              <c:strCache>
                <c:ptCount val="1"/>
                <c:pt idx="0">
                  <c:v>Without Hypertension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HTN'!$C$49:$J$49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HTN'!$C$52:$J$52</c:f>
              <c:numCache>
                <c:formatCode>0.00</c:formatCode>
                <c:ptCount val="8"/>
                <c:pt idx="0">
                  <c:v>18.991700000000002</c:v>
                </c:pt>
                <c:pt idx="1">
                  <c:v>17.872599999999998</c:v>
                </c:pt>
                <c:pt idx="2">
                  <c:v>16.601600000000001</c:v>
                </c:pt>
                <c:pt idx="3">
                  <c:v>16.2258</c:v>
                </c:pt>
                <c:pt idx="4">
                  <c:v>18.583400000000001</c:v>
                </c:pt>
                <c:pt idx="5">
                  <c:v>19.046900000000001</c:v>
                </c:pt>
                <c:pt idx="6">
                  <c:v>18.685700000000001</c:v>
                </c:pt>
                <c:pt idx="7">
                  <c:v>20.2057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BD5-4530-9422-233EC3309846}"/>
            </c:ext>
          </c:extLst>
        </c:ser>
        <c:ser>
          <c:idx val="0"/>
          <c:order val="2"/>
          <c:tx>
            <c:strRef>
              <c:f>'ACEI-ARB CKDG3-5 by HTN'!$B$50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HTN'!$C$49:$J$49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HTN'!$C$50:$J$50</c:f>
              <c:numCache>
                <c:formatCode>General</c:formatCode>
                <c:ptCount val="8"/>
                <c:pt idx="0">
                  <c:v>47.339999999999996</c:v>
                </c:pt>
                <c:pt idx="1">
                  <c:v>47.06</c:v>
                </c:pt>
                <c:pt idx="2">
                  <c:v>45.47</c:v>
                </c:pt>
                <c:pt idx="3">
                  <c:v>43.78</c:v>
                </c:pt>
                <c:pt idx="4">
                  <c:v>43.95</c:v>
                </c:pt>
                <c:pt idx="5">
                  <c:v>43.379999999999995</c:v>
                </c:pt>
                <c:pt idx="6">
                  <c:v>43.86</c:v>
                </c:pt>
                <c:pt idx="7">
                  <c:v>44.05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BD5-4530-9422-233EC33098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16962048"/>
        <c:axId val="416962464"/>
      </c:lineChart>
      <c:catAx>
        <c:axId val="416962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6962464"/>
        <c:crosses val="autoZero"/>
        <c:auto val="1"/>
        <c:lblAlgn val="ctr"/>
        <c:lblOffset val="100"/>
        <c:noMultiLvlLbl val="0"/>
      </c:catAx>
      <c:valAx>
        <c:axId val="416962464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6962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F73B43-6A56-473B-AE2D-AB20CDBDB64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51298-0F74-47A6-ACB4-982F1431AF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818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051298-0F74-47A6-ACB4-982F1431AFC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0028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8449-2E43-4B34-AFB5-42CA0AD23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" y="2178844"/>
            <a:ext cx="11338560" cy="1594369"/>
          </a:xfrm>
        </p:spPr>
        <p:txBody>
          <a:bodyPr anchor="b"/>
          <a:lstStyle>
            <a:lvl1pPr algn="ctr"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D807-1E0F-4F52-92E5-9827BB931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1881352"/>
          </a:xfrm>
        </p:spPr>
        <p:txBody>
          <a:bodyPr/>
          <a:lstStyle>
            <a:lvl1pPr marL="0" indent="0" algn="ctr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0F046-36EC-4A13-89A5-0CC29AB4D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4A129-0606-4903-A165-D0B38864E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EF8D5BE6-2B49-4430-B3CC-EC848085B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353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7F23F-F86B-41BA-A6AA-1A3F17EB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B79402-AB80-4C31-A14F-82C076FD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92937"/>
            <a:ext cx="114300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D2CB6-1D80-4081-86FB-B15DD03D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CB740-D754-48D4-9589-4E1B5CCB6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1B60-B2EB-45FC-99A5-2CEE060F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CE5B4ECC-CA9A-4DD6-BBC4-5B5CA7B419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540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294DA-8682-47BA-801B-4A312533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86CDE-F4D9-4130-9F65-C19EC77EE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EDE1F-53E5-4C5C-B1DC-D69BEDE4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7E355-DA7E-4665-99AA-D6331108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42E0-1332-4ADF-BB40-D707772F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021B1473-E230-4424-88C9-096E878C3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2206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B8B7E-E383-41B8-83DC-BCBAEFF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0F6-218D-4666-93AB-CC5CB0352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B6129-B622-4C6C-9627-E2D34A72A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2E2F8A-DDB4-40D8-BC9A-9F8C601A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D8514-39E9-463F-9D6D-BA2F1E4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628B1-4B31-46D1-9943-288C2CFA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EDFA2D4-658B-4CFA-90B4-6D3C81B195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036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F42C-D912-40D5-B069-2EBDDB21F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FE388-458A-4BFC-8B5B-E2338FA75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71131-2939-4333-BE32-6B971E6D91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687D6-AE10-483D-8497-199549CC3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0C9B6-845A-427D-8890-7FF14752B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6D4DF-7BF9-4656-9E74-1978BF3C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118974-B101-4E89-B490-F9C18CF5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7DF8C8-6B1A-46AB-B0B9-0B1486618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blue and white sign&#10;&#10;Description automatically generated">
            <a:extLst>
              <a:ext uri="{FF2B5EF4-FFF2-40B4-BE49-F238E27FC236}">
                <a16:creationId xmlns:a16="http://schemas.microsoft.com/office/drawing/2014/main" id="{288D87A5-8AAA-4E59-8F47-23DB04B75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0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592C9-40CD-4BC2-AA2D-942CC7600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8478D-ABC5-4F57-99D5-D5C201F5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C8747-5D3F-46B5-985C-DAC1E17CE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AA2AB-2FF6-44C7-A235-F093DF30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A blue and white sign&#10;&#10;Description automatically generated">
            <a:extLst>
              <a:ext uri="{FF2B5EF4-FFF2-40B4-BE49-F238E27FC236}">
                <a16:creationId xmlns:a16="http://schemas.microsoft.com/office/drawing/2014/main" id="{F220FB18-732D-4555-9511-BE496C629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235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F6823-A8E4-41B5-AABF-7E50AB944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E33D15-14C9-4533-A0B2-E17FCF5B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63C01-7C52-4C05-B87A-E55AEC07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1800F7B6-564D-454C-8D78-AAFB76F65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673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A31D2-9A00-45DB-A47F-9F57177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AAFDC-A042-4571-8E47-321A4016E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D1982-1467-44BE-898D-FDE749B74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64EBC-62D2-4411-B172-EB0CAA250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270BC-E6DC-49B9-94D8-2DFC8079D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01F3D-733C-4F46-80D5-9CEB97054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AAFF090-4748-4CEB-82FE-B8DC75C44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1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1E9C-B474-4962-83D4-0F95B2D0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891AEC-7DE2-4B8B-BF1B-C9E9B2488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28899-8ED1-47C9-90C3-9AB19FF89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948AA-B4CB-40C1-989C-1976A668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E994E-4C08-4134-AA8F-7F0FB57B4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27BB6-3A58-4F48-9C34-230B6476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6551F537-C48C-4D91-AF2C-B85939448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1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E83A-2FF1-4212-A7D8-F2547F72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DF2CD3-4A3B-4BB5-A8C6-93515C840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E1338-8E14-4E12-8514-B8F7581CA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4247-AED8-4BE5-97FF-55E5D290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3D25E-9B75-4BDF-BE71-685AF58A3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617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55AC4-0A12-4AF2-BD32-F89BA4E32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311FD-96A5-4F2E-9CC1-A1537DF2F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3FE6-D7D9-42A7-A93F-97596BFC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A1973-370D-4668-BF90-3DBF1A43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5534F-0704-4F83-B361-02989C4F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884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6A2EFD-5BC8-486D-AC05-C88192EE0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EF7-BE2E-44A6-A579-2EB131557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8898-A5C2-4AD9-9375-B6EEEF874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0713D3-AB50-4A09-8DB2-7F26C27F260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FB22A-4D3A-4BD5-9047-B2647995E7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6F5A4-D87B-4D75-B420-FEC892754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35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0D1C1-F57F-8F26-3A27-C1F4D5FA7F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 err="1"/>
              <a:t>ACEi</a:t>
            </a:r>
            <a:r>
              <a:rPr lang="en-US" dirty="0"/>
              <a:t> or ARB Use in Chronic Kidney Disease Stages 3–5 in the Military Health System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42F7F9-7593-8346-0823-514C387C6E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2689998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2000" dirty="0"/>
              <a:t>Angiotensin-converting enzyme inhibitor (</a:t>
            </a:r>
            <a:r>
              <a:rPr lang="en-US" sz="2000" dirty="0" err="1"/>
              <a:t>ACEi</a:t>
            </a:r>
            <a:r>
              <a:rPr lang="en-US" sz="2000" dirty="0"/>
              <a:t>) or angiotensin receptor blocker (ARB) use among Department of Defense Military Health System (DoD MHS) beneficiaries with chronic kidney disease (CKD) stages 3–5 has decreased slightly from 47.3% to 44.1% (age-standardized) between 2016 and 2023. </a:t>
            </a:r>
            <a:r>
              <a:rPr lang="en-US" sz="2000" dirty="0" err="1"/>
              <a:t>ACEi</a:t>
            </a:r>
            <a:r>
              <a:rPr lang="en-US" sz="2000" dirty="0"/>
              <a:t> and ARB use was higher among adults aged 60 years and older (crude); females (age-standardized); Asian American or Pacific Islander beneficiaries (age-standardized); and beneficiaries with CKD stage 4, hypertension, or diabetes (all age-standardized). </a:t>
            </a:r>
          </a:p>
          <a:p>
            <a:pPr algn="l"/>
            <a:endParaRPr lang="en-US" sz="2000" dirty="0"/>
          </a:p>
          <a:p>
            <a:pPr algn="l"/>
            <a:r>
              <a:rPr lang="en-US" sz="2000" b="1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Data Source: </a:t>
            </a:r>
            <a:r>
              <a:rPr lang="en-US" sz="200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DoD- MHS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54360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92BA6-A320-D4DA-CE84-AEFB2A061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94C1-505E-1214-3F64-1430150DF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Stages 3-5, Crude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B9A880B-B836-7C6E-2CD4-1E12F8D080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1979470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30395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5E7B8-C31B-BE20-47F7-08AD12420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14734-CC6D-63CE-89D8-5CBC106E6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Stages 3-5,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D9557E3-70DD-53AA-446A-502C52314F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5650491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755088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B64D9-18CA-1BE8-6278-30BF98AAC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0696"/>
            <a:ext cx="10515600" cy="1325563"/>
          </a:xfrm>
        </p:spPr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G3-5, by Age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EA94BDF-74BC-7681-4184-3DFAE38281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655019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456890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16056-D43D-597F-909A-2E982B3CD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7EE9E-F195-6165-92F7-0F8C6A235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 by Sex, Crude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2E0F4EB3-B386-0D90-C65B-1CCA96AD87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7059511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756743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8EDE2-CFFE-91BD-B483-A089B3CF7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B3076-1C04-4477-55D8-F1C8F69C8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 by Sex,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C8FBFE1-913D-AD96-B2E8-32A2C1CAB9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6664025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58743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BBDCC-65CF-EB63-A1C3-7EA461701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FE52F-24A9-E406-60D9-204CB41F2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 by Race, Crude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5938B76-A3AE-78D0-D180-1F1F769CA3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1541182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990317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FD452-72D4-19BA-6283-0A2C8EA26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113B2-A808-B641-796C-17E68BAC7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 by Race,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AC806D4-E41B-9A45-0F16-DA69E3370E1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0953401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24031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165BE-B201-E5A6-FFA9-3911B0B50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E7D1-8A9E-F5B8-28D7-38C40829D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 by CKD Stage, Crude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41E1F12-D0C5-AF72-FBC3-B06AEB4717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2475471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969527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E7B71-1466-A029-C71C-9848DD28C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86ECC-8356-BE3E-18DE-DF709DA06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 by CKD Stage,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D51A15F-20BC-792F-70BB-59722C71670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9021439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28073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7597C-0A5F-7078-DAA3-F72EE2A08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8D5DA-F699-641F-02DD-2D9042EB4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 G3-5 by DM,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B0FF284B-A383-49B9-BEE2-AE3BFE6582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5207749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51257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E5C7F-3BD2-82A7-76BC-5CE45D4F9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0DE3D-C14B-5D7D-363C-7BE11D07E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 G3-5 by DM,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AE12E84-F95A-4918-B9C4-AB716D7E8CE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8881677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70756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B2684-F6AA-57B6-7572-135BA915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817D-2BF2-C306-0F78-D23FD06F3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CKDG3-5 by HTN, Crude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A658E27-8C41-4D58-8E39-7CC38ABC76C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9877093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029567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64348-3650-F9B7-25A2-AF3F4F6BF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FFA5-2868-C5E6-AB89-3650DFC23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 G3-5 by HTN,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D4F8D41-CD18-4FE6-8580-3F24630D1CD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57553922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607100218"/>
      </p:ext>
    </p:extLst>
  </p:cSld>
  <p:clrMapOvr>
    <a:masterClrMapping/>
  </p:clrMapOvr>
</p:sld>
</file>

<file path=ppt/theme/theme1.xml><?xml version="1.0" encoding="utf-8"?>
<a:theme xmlns:a="http://schemas.openxmlformats.org/drawingml/2006/main" name="PPT template for KDSS indicator download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335</Words>
  <Application>Microsoft Office PowerPoint</Application>
  <PresentationFormat>Widescreen</PresentationFormat>
  <Paragraphs>31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Open Sans</vt:lpstr>
      <vt:lpstr>PPT template for KDSS indicator downloads</vt:lpstr>
      <vt:lpstr>ACEi or ARB Use in Chronic Kidney Disease Stages 3–5 in the Military Health System </vt:lpstr>
      <vt:lpstr>ACEi/ARB use in CKD Stages 3-5, Crude</vt:lpstr>
      <vt:lpstr>ACEi/ARB use in CKD Stages 3-5,  Age Standardized</vt:lpstr>
      <vt:lpstr>ACEi/ARB use in CKD G3-5, by Age</vt:lpstr>
      <vt:lpstr>ACEi/ARB use in CKD G3-5 by Sex, Crude</vt:lpstr>
      <vt:lpstr>ACEi/ARB use in CKD G3-5 by Sex,  Age Standardized</vt:lpstr>
      <vt:lpstr>ACEi/ARB use in CKD G3-5 by Race, Crude</vt:lpstr>
      <vt:lpstr>ACEi/ARB use in CKD G3-5 by Race,  Age Standardized</vt:lpstr>
      <vt:lpstr>ACEi/ARB use in CKD G3-5 by CKD Stage, Crude</vt:lpstr>
      <vt:lpstr>ACEi/ARB use in CKD G3-5 by CKD Stage,  Age Standardized</vt:lpstr>
      <vt:lpstr>ACEi/ARB use in CKD G3-5 by DM, Crude</vt:lpstr>
      <vt:lpstr>ACEi/ARB use in CKD G3-5 by DM,  Age Standardized</vt:lpstr>
      <vt:lpstr>ACEi/ARB use in CKDG3-5 by HTN, Crude</vt:lpstr>
      <vt:lpstr>ACEi/ARB use in CKD G3-5 by HTN,  Age Standardized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ACEi or ARB Use in Chronic Kidney Disease Stages 3–5 in the Military Health System </dc:title>
  <dc:creator>Licon, Ana Laura</dc:creator>
  <cp:lastModifiedBy>Licon, Ana Laura</cp:lastModifiedBy>
  <cp:revision>2</cp:revision>
  <dcterms:created xsi:type="dcterms:W3CDTF">2025-10-21T20:07:47Z</dcterms:created>
  <dcterms:modified xsi:type="dcterms:W3CDTF">2025-10-21T20:16:13Z</dcterms:modified>
</cp:coreProperties>
</file>