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9" r:id="rId2"/>
    <p:sldId id="290" r:id="rId3"/>
    <p:sldId id="291" r:id="rId4"/>
    <p:sldId id="292" r:id="rId5"/>
    <p:sldId id="293" r:id="rId6"/>
    <p:sldId id="29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con, Ana Laura" initials="LAL" lastIdx="1" clrIdx="0">
    <p:extLst>
      <p:ext uri="{19B8F6BF-5375-455C-9EA6-DF929625EA0E}">
        <p15:presenceInfo xmlns:p15="http://schemas.microsoft.com/office/powerpoint/2012/main" userId="S::alicon@med.umich.edu::cd5c2778-d82d-4d36-9d52-40772a6c916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CVD!$E$30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CVD!$J$14:$J$18</c:f>
                <c:numCache>
                  <c:formatCode>General</c:formatCode>
                  <c:ptCount val="5"/>
                  <c:pt idx="0">
                    <c:v>8.8473499999999969E-3</c:v>
                  </c:pt>
                  <c:pt idx="1">
                    <c:v>7.1789500000000034E-3</c:v>
                  </c:pt>
                  <c:pt idx="2">
                    <c:v>6.3806399999999999E-3</c:v>
                  </c:pt>
                  <c:pt idx="3">
                    <c:v>6.8563099999999974E-3</c:v>
                  </c:pt>
                  <c:pt idx="4">
                    <c:v>1.1009630000000006E-2</c:v>
                  </c:pt>
                </c:numCache>
              </c:numRef>
            </c:plus>
            <c:minus>
              <c:numRef>
                <c:f>CVD!$K$14:$K$18</c:f>
                <c:numCache>
                  <c:formatCode>General</c:formatCode>
                  <c:ptCount val="5"/>
                  <c:pt idx="0">
                    <c:v>8.8476200000000005E-3</c:v>
                  </c:pt>
                  <c:pt idx="1">
                    <c:v>7.1783100000000002E-3</c:v>
                  </c:pt>
                  <c:pt idx="2">
                    <c:v>6.381349999999994E-3</c:v>
                  </c:pt>
                  <c:pt idx="3">
                    <c:v>6.8560400000000007E-3</c:v>
                  </c:pt>
                  <c:pt idx="4">
                    <c:v>1.1010239999999991E-2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CVD!$E$31:$E$35</c:f>
              <c:numCache>
                <c:formatCode>0.0%</c:formatCode>
                <c:ptCount val="5"/>
                <c:pt idx="0">
                  <c:v>0.259936</c:v>
                </c:pt>
                <c:pt idx="1">
                  <c:v>0.25090200000000001</c:v>
                </c:pt>
                <c:pt idx="2">
                  <c:v>0.25100299999999998</c:v>
                </c:pt>
                <c:pt idx="3">
                  <c:v>0.23926900000000001</c:v>
                </c:pt>
                <c:pt idx="4">
                  <c:v>0.242397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78E-45D6-9779-46A8999D7A05}"/>
            </c:ext>
          </c:extLst>
        </c:ser>
        <c:ser>
          <c:idx val="2"/>
          <c:order val="1"/>
          <c:tx>
            <c:strRef>
              <c:f>CVD!$D$30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CVD!$J$19:$J$23</c:f>
                <c:numCache>
                  <c:formatCode>General</c:formatCode>
                  <c:ptCount val="5"/>
                  <c:pt idx="0">
                    <c:v>3.0471329999999991E-2</c:v>
                  </c:pt>
                  <c:pt idx="1">
                    <c:v>2.8627260000000015E-2</c:v>
                  </c:pt>
                  <c:pt idx="2">
                    <c:v>2.5103629999999988E-2</c:v>
                  </c:pt>
                  <c:pt idx="3">
                    <c:v>1.9710850000000002E-2</c:v>
                  </c:pt>
                  <c:pt idx="4">
                    <c:v>3.6947649999999999E-2</c:v>
                  </c:pt>
                </c:numCache>
              </c:numRef>
            </c:plus>
            <c:minus>
              <c:numRef>
                <c:f>CVD!$K$19:$K$23</c:f>
                <c:numCache>
                  <c:formatCode>General</c:formatCode>
                  <c:ptCount val="5"/>
                  <c:pt idx="0">
                    <c:v>3.0471670000000006E-2</c:v>
                  </c:pt>
                  <c:pt idx="1">
                    <c:v>2.862764000000001E-2</c:v>
                  </c:pt>
                  <c:pt idx="2">
                    <c:v>2.510404000000005E-2</c:v>
                  </c:pt>
                  <c:pt idx="3">
                    <c:v>1.9711350000000016E-2</c:v>
                  </c:pt>
                  <c:pt idx="4">
                    <c:v>3.6948479999999978E-2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CVD!$D$31:$D$35</c:f>
              <c:numCache>
                <c:formatCode>0.0%</c:formatCode>
                <c:ptCount val="5"/>
                <c:pt idx="0">
                  <c:v>6.2815999999999997E-2</c:v>
                </c:pt>
                <c:pt idx="1">
                  <c:v>6.1622000000000003E-2</c:v>
                </c:pt>
                <c:pt idx="2">
                  <c:v>5.9589000000000003E-2</c:v>
                </c:pt>
                <c:pt idx="3">
                  <c:v>6.2475999999999997E-2</c:v>
                </c:pt>
                <c:pt idx="4">
                  <c:v>7.8241000000000005E-2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78E-45D6-9779-46A8999D7A05}"/>
            </c:ext>
          </c:extLst>
        </c:ser>
        <c:ser>
          <c:idx val="0"/>
          <c:order val="2"/>
          <c:tx>
            <c:strRef>
              <c:f>CVD!$C$30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CVD!$I$4:$I$8</c:f>
                <c:numCache>
                  <c:formatCode>General</c:formatCode>
                  <c:ptCount val="5"/>
                  <c:pt idx="0">
                    <c:v>1.1615300000000009E-2</c:v>
                  </c:pt>
                  <c:pt idx="1">
                    <c:v>9.10438999999999E-3</c:v>
                  </c:pt>
                  <c:pt idx="2">
                    <c:v>8.0694699999999953E-3</c:v>
                  </c:pt>
                  <c:pt idx="3">
                    <c:v>7.0948799999999979E-3</c:v>
                  </c:pt>
                  <c:pt idx="4">
                    <c:v>1.355054E-2</c:v>
                  </c:pt>
                </c:numCache>
              </c:numRef>
            </c:plus>
            <c:minus>
              <c:numRef>
                <c:f>CVD!$J$4:$J$8</c:f>
                <c:numCache>
                  <c:formatCode>General</c:formatCode>
                  <c:ptCount val="5"/>
                  <c:pt idx="0">
                    <c:v>1.1614630000000001E-2</c:v>
                  </c:pt>
                  <c:pt idx="1">
                    <c:v>9.1042200000000101E-3</c:v>
                  </c:pt>
                  <c:pt idx="2">
                    <c:v>8.0686600000000053E-3</c:v>
                  </c:pt>
                  <c:pt idx="3">
                    <c:v>7.0942999999999978E-3</c:v>
                  </c:pt>
                  <c:pt idx="4">
                    <c:v>1.3550840000000008E-2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CVD!$B$31:$B$35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CVD!$C$31:$C$35</c:f>
              <c:numCache>
                <c:formatCode>0.0%</c:formatCode>
                <c:ptCount val="5"/>
                <c:pt idx="0">
                  <c:v>8.9439000000000005E-2</c:v>
                </c:pt>
                <c:pt idx="1">
                  <c:v>8.7292999999999996E-2</c:v>
                </c:pt>
                <c:pt idx="2">
                  <c:v>8.3767999999999995E-2</c:v>
                </c:pt>
                <c:pt idx="3">
                  <c:v>8.7686E-2</c:v>
                </c:pt>
                <c:pt idx="4">
                  <c:v>0.10140299999999999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8E-45D6-9779-46A8999D7A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0.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'CVD (Age Std)'!$E$30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Std)'!$J$14:$J$18</c:f>
                <c:numCache>
                  <c:formatCode>General</c:formatCode>
                  <c:ptCount val="5"/>
                  <c:pt idx="0">
                    <c:v>9.4819199999999909E-3</c:v>
                  </c:pt>
                  <c:pt idx="1">
                    <c:v>8.1522799999999979E-3</c:v>
                  </c:pt>
                  <c:pt idx="2">
                    <c:v>5.5856100000000047E-3</c:v>
                  </c:pt>
                  <c:pt idx="3">
                    <c:v>6.2696899999999944E-3</c:v>
                  </c:pt>
                  <c:pt idx="4">
                    <c:v>9.1127800000000009E-3</c:v>
                  </c:pt>
                </c:numCache>
              </c:numRef>
            </c:plus>
            <c:minus>
              <c:numRef>
                <c:f>'CVD (Age Std)'!$K$14:$K$18</c:f>
                <c:numCache>
                  <c:formatCode>General</c:formatCode>
                  <c:ptCount val="5"/>
                  <c:pt idx="0">
                    <c:v>9.481719999999999E-3</c:v>
                  </c:pt>
                  <c:pt idx="1">
                    <c:v>8.1523500000000026E-3</c:v>
                  </c:pt>
                  <c:pt idx="2">
                    <c:v>5.5848200000000042E-3</c:v>
                  </c:pt>
                  <c:pt idx="3">
                    <c:v>6.270120000000004E-3</c:v>
                  </c:pt>
                  <c:pt idx="4">
                    <c:v>9.1118499999999908E-3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'CVD (Age Std)'!$E$31:$E$35</c:f>
              <c:numCache>
                <c:formatCode>0.0%</c:formatCode>
                <c:ptCount val="5"/>
                <c:pt idx="0">
                  <c:v>0.15393299999999999</c:v>
                </c:pt>
                <c:pt idx="1">
                  <c:v>0.15023</c:v>
                </c:pt>
                <c:pt idx="2">
                  <c:v>0.14095199999999999</c:v>
                </c:pt>
                <c:pt idx="3">
                  <c:v>0.145203</c:v>
                </c:pt>
                <c:pt idx="4">
                  <c:v>0.144177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C6-4374-A01F-AE1D85E5D876}"/>
            </c:ext>
          </c:extLst>
        </c:ser>
        <c:ser>
          <c:idx val="2"/>
          <c:order val="1"/>
          <c:tx>
            <c:strRef>
              <c:f>'CVD (Age Std)'!$D$30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Std)'!$J$19:$J$23</c:f>
                <c:numCache>
                  <c:formatCode>General</c:formatCode>
                  <c:ptCount val="5"/>
                  <c:pt idx="0">
                    <c:v>2.2795409999999988E-2</c:v>
                  </c:pt>
                  <c:pt idx="1">
                    <c:v>2.3615080000000011E-2</c:v>
                  </c:pt>
                  <c:pt idx="2">
                    <c:v>1.7752569999999995E-2</c:v>
                  </c:pt>
                  <c:pt idx="3">
                    <c:v>1.3704510000000003E-2</c:v>
                  </c:pt>
                  <c:pt idx="4">
                    <c:v>2.3958750000000001E-2</c:v>
                  </c:pt>
                </c:numCache>
              </c:numRef>
            </c:plus>
            <c:minus>
              <c:numRef>
                <c:f>'CVD (Age Std)'!$K$19:$K$23</c:f>
                <c:numCache>
                  <c:formatCode>General</c:formatCode>
                  <c:ptCount val="5"/>
                  <c:pt idx="0">
                    <c:v>2.2795540000000003E-2</c:v>
                  </c:pt>
                  <c:pt idx="1">
                    <c:v>2.3615959999999991E-2</c:v>
                  </c:pt>
                  <c:pt idx="2">
                    <c:v>1.7753500000000005E-2</c:v>
                  </c:pt>
                  <c:pt idx="3">
                    <c:v>1.370476000000001E-2</c:v>
                  </c:pt>
                  <c:pt idx="4">
                    <c:v>2.3958110000000005E-2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'CVD (Age Std)'!$D$31:$D$35</c:f>
              <c:numCache>
                <c:formatCode>0.0%</c:formatCode>
                <c:ptCount val="5"/>
                <c:pt idx="0">
                  <c:v>7.9270999999999994E-2</c:v>
                </c:pt>
                <c:pt idx="1">
                  <c:v>7.4177999999999994E-2</c:v>
                </c:pt>
                <c:pt idx="2">
                  <c:v>6.8413000000000002E-2</c:v>
                </c:pt>
                <c:pt idx="3">
                  <c:v>6.9059999999999996E-2</c:v>
                </c:pt>
                <c:pt idx="4">
                  <c:v>8.1143000000000007E-2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5C6-4374-A01F-AE1D85E5D876}"/>
            </c:ext>
          </c:extLst>
        </c:ser>
        <c:ser>
          <c:idx val="0"/>
          <c:order val="2"/>
          <c:tx>
            <c:strRef>
              <c:f>'CVD (Age Std)'!$C$30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'CVD (Age Std)'!$I$4:$I$8</c:f>
                <c:numCache>
                  <c:formatCode>General</c:formatCode>
                  <c:ptCount val="5"/>
                  <c:pt idx="0">
                    <c:v>1.0231580000000004E-2</c:v>
                  </c:pt>
                  <c:pt idx="1">
                    <c:v>7.9864699999999955E-3</c:v>
                  </c:pt>
                  <c:pt idx="2">
                    <c:v>5.6791199999999958E-3</c:v>
                  </c:pt>
                  <c:pt idx="3">
                    <c:v>6.359920000000005E-3</c:v>
                  </c:pt>
                  <c:pt idx="4">
                    <c:v>9.9395400000000106E-3</c:v>
                  </c:pt>
                </c:numCache>
              </c:numRef>
            </c:plus>
            <c:minus>
              <c:numRef>
                <c:f>'CVD (Age Std)'!$J$4:$J$8</c:f>
                <c:numCache>
                  <c:formatCode>General</c:formatCode>
                  <c:ptCount val="5"/>
                  <c:pt idx="0">
                    <c:v>1.0230939999999994E-2</c:v>
                  </c:pt>
                  <c:pt idx="1">
                    <c:v>7.9862299999999969E-3</c:v>
                  </c:pt>
                  <c:pt idx="2">
                    <c:v>5.6797600000000059E-3</c:v>
                  </c:pt>
                  <c:pt idx="3">
                    <c:v>6.3608400000000065E-3</c:v>
                  </c:pt>
                  <c:pt idx="4">
                    <c:v>9.9403599999999953E-3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'CVD (Age Std)'!$B$31:$B$35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'CVD (Age Std)'!$C$31:$C$35</c:f>
              <c:numCache>
                <c:formatCode>0.0%</c:formatCode>
                <c:ptCount val="5"/>
                <c:pt idx="0">
                  <c:v>9.6018000000000006E-2</c:v>
                </c:pt>
                <c:pt idx="1">
                  <c:v>9.0060000000000001E-2</c:v>
                </c:pt>
                <c:pt idx="2">
                  <c:v>8.3654999999999993E-2</c:v>
                </c:pt>
                <c:pt idx="3">
                  <c:v>8.4131999999999998E-2</c:v>
                </c:pt>
                <c:pt idx="4">
                  <c:v>9.3393000000000004E-2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C6-4374-A01F-AE1D85E5D8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0.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'Age Strata'!$L$71</c:f>
              <c:strCache>
                <c:ptCount val="1"/>
                <c:pt idx="0">
                  <c:v>18-39 years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Strata'!$S$80:$W$80</c:f>
                <c:numCache>
                  <c:formatCode>General</c:formatCode>
                  <c:ptCount val="5"/>
                  <c:pt idx="0">
                    <c:v>4.99304E-2</c:v>
                  </c:pt>
                  <c:pt idx="1">
                    <c:v>1.1132080000000001E-2</c:v>
                  </c:pt>
                  <c:pt idx="2">
                    <c:v>5.3614969999999998E-2</c:v>
                  </c:pt>
                  <c:pt idx="3">
                    <c:v>4.335667E-2</c:v>
                  </c:pt>
                  <c:pt idx="4">
                    <c:v>4.5746410000000001E-2</c:v>
                  </c:pt>
                </c:numCache>
              </c:numRef>
            </c:plus>
            <c:minus>
              <c:numRef>
                <c:f>'Age Strata'!$S$71:$W$71</c:f>
                <c:numCache>
                  <c:formatCode>General</c:formatCode>
                  <c:ptCount val="5"/>
                  <c:pt idx="0">
                    <c:v>-1.8297999999999999E-3</c:v>
                  </c:pt>
                  <c:pt idx="1">
                    <c:v>1.9183E-3</c:v>
                  </c:pt>
                  <c:pt idx="2">
                    <c:v>-8.4802000000000002E-3</c:v>
                  </c:pt>
                  <c:pt idx="3">
                    <c:v>-8.0227000000000007E-3</c:v>
                  </c:pt>
                  <c:pt idx="4">
                    <c:v>-2.6051999999999998E-3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Strata'!$M$71:$Q$71</c:f>
              <c:numCache>
                <c:formatCode>General</c:formatCode>
                <c:ptCount val="5"/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429B-4F63-A867-63127257DDC0}"/>
            </c:ext>
          </c:extLst>
        </c:ser>
        <c:ser>
          <c:idx val="1"/>
          <c:order val="1"/>
          <c:tx>
            <c:strRef>
              <c:f>'Age Strata'!$L$72</c:f>
              <c:strCache>
                <c:ptCount val="1"/>
                <c:pt idx="0">
                  <c:v>40-59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Strata'!$S$81:$W$81</c:f>
                <c:numCache>
                  <c:formatCode>General</c:formatCode>
                  <c:ptCount val="5"/>
                  <c:pt idx="0">
                    <c:v>4.2930550000000012E-2</c:v>
                  </c:pt>
                  <c:pt idx="1">
                    <c:v>4.5110230000000001E-2</c:v>
                  </c:pt>
                  <c:pt idx="2">
                    <c:v>3.7814900000000012E-2</c:v>
                  </c:pt>
                  <c:pt idx="3">
                    <c:v>3.1147310000000011E-2</c:v>
                  </c:pt>
                  <c:pt idx="4">
                    <c:v>4.0554830000000014E-2</c:v>
                  </c:pt>
                </c:numCache>
              </c:numRef>
            </c:plus>
            <c:minus>
              <c:numRef>
                <c:f>'Age Strata'!$S$72:$W$72</c:f>
                <c:numCache>
                  <c:formatCode>General</c:formatCode>
                  <c:ptCount val="5"/>
                  <c:pt idx="0">
                    <c:v>4.2930399999999994E-2</c:v>
                  </c:pt>
                  <c:pt idx="1">
                    <c:v>4.5111100000000015E-2</c:v>
                  </c:pt>
                  <c:pt idx="2">
                    <c:v>3.781459999999999E-2</c:v>
                  </c:pt>
                  <c:pt idx="3">
                    <c:v>3.1146899999999991E-2</c:v>
                  </c:pt>
                  <c:pt idx="4">
                    <c:v>4.0554300000000001E-2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Strata'!$M$72:$Q$72</c:f>
              <c:numCache>
                <c:formatCode>0.0%</c:formatCode>
                <c:ptCount val="5"/>
                <c:pt idx="0">
                  <c:v>0.12773899999999999</c:v>
                </c:pt>
                <c:pt idx="1">
                  <c:v>0.15962000000000001</c:v>
                </c:pt>
                <c:pt idx="2">
                  <c:v>0.11161699999999999</c:v>
                </c:pt>
                <c:pt idx="3">
                  <c:v>0.13642099999999999</c:v>
                </c:pt>
                <c:pt idx="4">
                  <c:v>0.134324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29B-4F63-A867-63127257DDC0}"/>
            </c:ext>
          </c:extLst>
        </c:ser>
        <c:ser>
          <c:idx val="2"/>
          <c:order val="2"/>
          <c:tx>
            <c:strRef>
              <c:f>'Age Strata'!$L$73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Strata'!$S$82:$W$82</c:f>
                <c:numCache>
                  <c:formatCode>General</c:formatCode>
                  <c:ptCount val="5"/>
                  <c:pt idx="0">
                    <c:v>6.9294880000000003E-2</c:v>
                  </c:pt>
                  <c:pt idx="1">
                    <c:v>6.7324820000000007E-2</c:v>
                  </c:pt>
                  <c:pt idx="2">
                    <c:v>7.8595599999999988E-2</c:v>
                  </c:pt>
                  <c:pt idx="3">
                    <c:v>6.8384149999999977E-2</c:v>
                  </c:pt>
                  <c:pt idx="4">
                    <c:v>6.7800959999999966E-2</c:v>
                  </c:pt>
                </c:numCache>
              </c:numRef>
            </c:plus>
            <c:minus>
              <c:numRef>
                <c:f>'Age Strata'!$S$73:$W$73</c:f>
                <c:numCache>
                  <c:formatCode>General</c:formatCode>
                  <c:ptCount val="5"/>
                  <c:pt idx="0">
                    <c:v>6.9294899999999993E-2</c:v>
                  </c:pt>
                  <c:pt idx="1">
                    <c:v>6.7325599999999985E-2</c:v>
                  </c:pt>
                  <c:pt idx="2">
                    <c:v>7.8595100000000029E-2</c:v>
                  </c:pt>
                  <c:pt idx="3">
                    <c:v>6.8384600000000018E-2</c:v>
                  </c:pt>
                  <c:pt idx="4">
                    <c:v>6.7800200000000005E-2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Strata'!$M$73:$Q$73</c:f>
              <c:numCache>
                <c:formatCode>0.0%</c:formatCode>
                <c:ptCount val="5"/>
                <c:pt idx="0">
                  <c:v>0.34243800000000002</c:v>
                </c:pt>
                <c:pt idx="1">
                  <c:v>0.29138799999999998</c:v>
                </c:pt>
                <c:pt idx="2">
                  <c:v>0.29212100000000002</c:v>
                </c:pt>
                <c:pt idx="3">
                  <c:v>0.28182400000000002</c:v>
                </c:pt>
                <c:pt idx="4">
                  <c:v>0.28104400000000002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29B-4F63-A867-63127257DDC0}"/>
            </c:ext>
          </c:extLst>
        </c:ser>
        <c:ser>
          <c:idx val="3"/>
          <c:order val="3"/>
          <c:tx>
            <c:strRef>
              <c:f>'Age Strata'!$L$74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Strata'!$S$83:$W$83</c:f>
                <c:numCache>
                  <c:formatCode>General</c:formatCode>
                  <c:ptCount val="5"/>
                  <c:pt idx="0">
                    <c:v>4.3864650000000005E-2</c:v>
                  </c:pt>
                  <c:pt idx="1">
                    <c:v>4.3494980000000016E-2</c:v>
                  </c:pt>
                  <c:pt idx="2">
                    <c:v>3.9138190000000017E-2</c:v>
                  </c:pt>
                  <c:pt idx="3">
                    <c:v>4.4686589999999971E-2</c:v>
                  </c:pt>
                  <c:pt idx="4">
                    <c:v>6.1639790000000028E-2</c:v>
                  </c:pt>
                </c:numCache>
              </c:numRef>
            </c:plus>
            <c:minus>
              <c:numRef>
                <c:f>'Age Strata'!$S$74:$W$74</c:f>
                <c:numCache>
                  <c:formatCode>General</c:formatCode>
                  <c:ptCount val="5"/>
                  <c:pt idx="0">
                    <c:v>4.3864499999999973E-2</c:v>
                  </c:pt>
                  <c:pt idx="1">
                    <c:v>4.3495899999999976E-2</c:v>
                  </c:pt>
                  <c:pt idx="2">
                    <c:v>3.9138399999999962E-2</c:v>
                  </c:pt>
                  <c:pt idx="3">
                    <c:v>4.4687599999999994E-2</c:v>
                  </c:pt>
                  <c:pt idx="4">
                    <c:v>6.1640499999999987E-2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Strata'!$M$70:$Q$70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Strata'!$M$74:$Q$74</c:f>
              <c:numCache>
                <c:formatCode>0.0%</c:formatCode>
                <c:ptCount val="5"/>
                <c:pt idx="0">
                  <c:v>0.41536299999999998</c:v>
                </c:pt>
                <c:pt idx="1">
                  <c:v>0.40454499999999999</c:v>
                </c:pt>
                <c:pt idx="2">
                  <c:v>0.39741399999999999</c:v>
                </c:pt>
                <c:pt idx="3">
                  <c:v>0.38253500000000001</c:v>
                </c:pt>
                <c:pt idx="4">
                  <c:v>0.38596399999999997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29B-4F63-A867-63127257DD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among adults</a:t>
                </a:r>
                <a:r>
                  <a:rPr lang="en-US" baseline="0" dirty="0"/>
                  <a:t> with CKD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'Sex Strata'!$K$71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Strata'!$R$80:$V$80</c:f>
                <c:numCache>
                  <c:formatCode>General</c:formatCode>
                  <c:ptCount val="5"/>
                  <c:pt idx="0">
                    <c:v>3.7299959999999993E-2</c:v>
                  </c:pt>
                  <c:pt idx="1">
                    <c:v>3.4949940000000013E-2</c:v>
                  </c:pt>
                  <c:pt idx="2">
                    <c:v>3.5738649999999983E-2</c:v>
                  </c:pt>
                  <c:pt idx="3">
                    <c:v>2.8452780000000011E-2</c:v>
                  </c:pt>
                  <c:pt idx="4">
                    <c:v>4.7147639999999991E-2</c:v>
                  </c:pt>
                </c:numCache>
              </c:numRef>
            </c:plus>
            <c:minus>
              <c:numRef>
                <c:f>'Sex Strata'!$R$71:$V$71</c:f>
                <c:numCache>
                  <c:formatCode>General</c:formatCode>
                  <c:ptCount val="5"/>
                  <c:pt idx="0">
                    <c:v>3.7300069999999991E-2</c:v>
                  </c:pt>
                  <c:pt idx="1">
                    <c:v>3.495007E-2</c:v>
                  </c:pt>
                  <c:pt idx="2">
                    <c:v>3.5739369999999993E-2</c:v>
                  </c:pt>
                  <c:pt idx="3">
                    <c:v>2.8451779999999982E-2</c:v>
                  </c:pt>
                  <c:pt idx="4">
                    <c:v>4.7147870000000008E-2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Strata'!$L$71:$P$71</c:f>
              <c:numCache>
                <c:formatCode>0.0%</c:formatCode>
                <c:ptCount val="5"/>
                <c:pt idx="0">
                  <c:v>0.23756099999999999</c:v>
                </c:pt>
                <c:pt idx="1">
                  <c:v>0.217885</c:v>
                </c:pt>
                <c:pt idx="2">
                  <c:v>0.24059700000000001</c:v>
                </c:pt>
                <c:pt idx="3">
                  <c:v>0.20439499999999999</c:v>
                </c:pt>
                <c:pt idx="4">
                  <c:v>0.19994500000000001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F1B3-4938-96B4-D9C3804C3130}"/>
            </c:ext>
          </c:extLst>
        </c:ser>
        <c:ser>
          <c:idx val="1"/>
          <c:order val="1"/>
          <c:tx>
            <c:strRef>
              <c:f>'Sex Strata'!$K$72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Strata'!$R$81:$V$81</c:f>
                <c:numCache>
                  <c:formatCode>General</c:formatCode>
                  <c:ptCount val="5"/>
                  <c:pt idx="0">
                    <c:v>4.556068000000002E-2</c:v>
                  </c:pt>
                  <c:pt idx="1">
                    <c:v>4.4841280000000039E-2</c:v>
                  </c:pt>
                  <c:pt idx="2">
                    <c:v>3.9467040000000009E-2</c:v>
                  </c:pt>
                  <c:pt idx="3">
                    <c:v>3.4904749999999984E-2</c:v>
                  </c:pt>
                  <c:pt idx="4">
                    <c:v>4.6958030000000039E-2</c:v>
                  </c:pt>
                </c:numCache>
              </c:numRef>
            </c:plus>
            <c:minus>
              <c:numRef>
                <c:f>'Sex Strata'!$R$72:$V$72</c:f>
                <c:numCache>
                  <c:formatCode>General</c:formatCode>
                  <c:ptCount val="5"/>
                  <c:pt idx="0">
                    <c:v>4.5560050000000019E-2</c:v>
                  </c:pt>
                  <c:pt idx="1">
                    <c:v>4.4840439999999981E-2</c:v>
                  </c:pt>
                  <c:pt idx="2">
                    <c:v>3.9466659999999987E-2</c:v>
                  </c:pt>
                  <c:pt idx="3">
                    <c:v>3.4903889999999993E-2</c:v>
                  </c:pt>
                  <c:pt idx="4">
                    <c:v>4.6957289999999985E-2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Strata'!$L$72:$P$72</c:f>
              <c:numCache>
                <c:formatCode>0.0%</c:formatCode>
                <c:ptCount val="5"/>
                <c:pt idx="0">
                  <c:v>0.28894300000000001</c:v>
                </c:pt>
                <c:pt idx="1">
                  <c:v>0.29903999999999997</c:v>
                </c:pt>
                <c:pt idx="2">
                  <c:v>0.26404699999999998</c:v>
                </c:pt>
                <c:pt idx="3">
                  <c:v>0.28761500000000001</c:v>
                </c:pt>
                <c:pt idx="4">
                  <c:v>0.29879899999999998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B3-4938-96B4-D9C3804C31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CVD among adults wit</a:t>
                </a:r>
                <a:r>
                  <a:rPr lang="en-US" baseline="0" dirty="0"/>
                  <a:t>h CKD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3"/>
          <c:order val="0"/>
          <c:tx>
            <c:strRef>
              <c:f>'Race Ethnicity'!$K$74</c:f>
              <c:strCache>
                <c:ptCount val="1"/>
                <c:pt idx="0">
                  <c:v>Non-Hispanic 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Ethnicity'!$R$83:$V$83</c:f>
                <c:numCache>
                  <c:formatCode>General</c:formatCode>
                  <c:ptCount val="5"/>
                  <c:pt idx="0">
                    <c:v>3.7575629999999971E-2</c:v>
                  </c:pt>
                  <c:pt idx="1">
                    <c:v>3.5307529999999976E-2</c:v>
                  </c:pt>
                  <c:pt idx="2">
                    <c:v>3.5478999999999983E-2</c:v>
                  </c:pt>
                  <c:pt idx="3">
                    <c:v>2.8597749999999977E-2</c:v>
                  </c:pt>
                  <c:pt idx="4">
                    <c:v>6.1033119999999996E-2</c:v>
                  </c:pt>
                </c:numCache>
              </c:numRef>
            </c:plus>
            <c:minus>
              <c:numRef>
                <c:f>'Race Ethnicity'!$R$74:$V$74</c:f>
                <c:numCache>
                  <c:formatCode>General</c:formatCode>
                  <c:ptCount val="5"/>
                  <c:pt idx="0">
                    <c:v>3.7575179999999986E-2</c:v>
                  </c:pt>
                  <c:pt idx="1">
                    <c:v>3.5307630000000007E-2</c:v>
                  </c:pt>
                  <c:pt idx="2">
                    <c:v>3.5478700000000002E-2</c:v>
                  </c:pt>
                  <c:pt idx="3">
                    <c:v>2.8597040000000018E-2</c:v>
                  </c:pt>
                  <c:pt idx="4">
                    <c:v>6.1033500000000018E-2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Ethnicity'!$L$74:$P$74</c:f>
              <c:numCache>
                <c:formatCode>General</c:formatCode>
                <c:ptCount val="5"/>
                <c:pt idx="0">
                  <c:v>0.29130200000000001</c:v>
                </c:pt>
                <c:pt idx="1">
                  <c:v>0.27945500000000001</c:v>
                </c:pt>
                <c:pt idx="2">
                  <c:v>0.28102199999999999</c:v>
                </c:pt>
                <c:pt idx="3">
                  <c:v>0.25664100000000001</c:v>
                </c:pt>
                <c:pt idx="4">
                  <c:v>0.27024300000000001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BD3-4ECE-9C32-F9EFD6745B3E}"/>
            </c:ext>
          </c:extLst>
        </c:ser>
        <c:ser>
          <c:idx val="1"/>
          <c:order val="1"/>
          <c:tx>
            <c:strRef>
              <c:f>'Race Ethnicity'!$K$72</c:f>
              <c:strCache>
                <c:ptCount val="1"/>
                <c:pt idx="0">
                  <c:v>Non-Hispanic 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Ethnicity'!$R$81:$V$81</c:f>
                <c:numCache>
                  <c:formatCode>General</c:formatCode>
                  <c:ptCount val="5"/>
                  <c:pt idx="0">
                    <c:v>5.0423259999999998E-2</c:v>
                  </c:pt>
                  <c:pt idx="1">
                    <c:v>4.9693889999999963E-2</c:v>
                  </c:pt>
                  <c:pt idx="2">
                    <c:v>2.9714820000000003E-2</c:v>
                  </c:pt>
                  <c:pt idx="3">
                    <c:v>3.621183E-2</c:v>
                  </c:pt>
                  <c:pt idx="4">
                    <c:v>4.1714990000000007E-2</c:v>
                  </c:pt>
                </c:numCache>
              </c:numRef>
            </c:plus>
            <c:minus>
              <c:numRef>
                <c:f>'Race Ethnicity'!$R$72:$V$72</c:f>
                <c:numCache>
                  <c:formatCode>General</c:formatCode>
                  <c:ptCount val="5"/>
                  <c:pt idx="0">
                    <c:v>5.0423970000000012E-2</c:v>
                  </c:pt>
                  <c:pt idx="1">
                    <c:v>4.9693650000000034E-2</c:v>
                  </c:pt>
                  <c:pt idx="2">
                    <c:v>2.9714180000000007E-2</c:v>
                  </c:pt>
                  <c:pt idx="3">
                    <c:v>3.6211820000000006E-2</c:v>
                  </c:pt>
                  <c:pt idx="4">
                    <c:v>4.171532E-2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Ethnicity'!$L$72:$P$72</c:f>
              <c:numCache>
                <c:formatCode>General</c:formatCode>
                <c:ptCount val="5"/>
                <c:pt idx="0">
                  <c:v>0.244115</c:v>
                </c:pt>
                <c:pt idx="1">
                  <c:v>0.25615900000000003</c:v>
                </c:pt>
                <c:pt idx="2">
                  <c:v>0.20561599999999999</c:v>
                </c:pt>
                <c:pt idx="3">
                  <c:v>0.257469</c:v>
                </c:pt>
                <c:pt idx="4">
                  <c:v>0.23517199999999999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D3-4ECE-9C32-F9EFD6745B3E}"/>
            </c:ext>
          </c:extLst>
        </c:ser>
        <c:ser>
          <c:idx val="0"/>
          <c:order val="2"/>
          <c:tx>
            <c:strRef>
              <c:f>'Race Ethnicity'!$K$71</c:f>
              <c:strCache>
                <c:ptCount val="1"/>
                <c:pt idx="0">
                  <c:v>Hispanic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Ethnicity'!$R$80:$V$80</c:f>
                <c:numCache>
                  <c:formatCode>General</c:formatCode>
                  <c:ptCount val="5"/>
                  <c:pt idx="0">
                    <c:v>3.1700279999999983E-2</c:v>
                  </c:pt>
                  <c:pt idx="1">
                    <c:v>3.6603510000000006E-2</c:v>
                  </c:pt>
                  <c:pt idx="2">
                    <c:v>5.1492989999999988E-2</c:v>
                  </c:pt>
                  <c:pt idx="3">
                    <c:v>2.8759249999999986E-2</c:v>
                  </c:pt>
                  <c:pt idx="4">
                    <c:v>3.1122089999999991E-2</c:v>
                  </c:pt>
                </c:numCache>
              </c:numRef>
            </c:plus>
            <c:minus>
              <c:numRef>
                <c:f>'Race Ethnicity'!$R$71:$V$71</c:f>
                <c:numCache>
                  <c:formatCode>General</c:formatCode>
                  <c:ptCount val="5"/>
                  <c:pt idx="0">
                    <c:v>3.1701080000000006E-2</c:v>
                  </c:pt>
                  <c:pt idx="1">
                    <c:v>3.6602670000000004E-2</c:v>
                  </c:pt>
                  <c:pt idx="2">
                    <c:v>5.1492450000000009E-2</c:v>
                  </c:pt>
                  <c:pt idx="3">
                    <c:v>2.8758560000000002E-2</c:v>
                  </c:pt>
                  <c:pt idx="4">
                    <c:v>3.1122960000000005E-2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Ethnicity'!$L$71:$P$71</c:f>
              <c:numCache>
                <c:formatCode>General</c:formatCode>
                <c:ptCount val="5"/>
                <c:pt idx="0">
                  <c:v>9.5071000000000003E-2</c:v>
                </c:pt>
                <c:pt idx="1">
                  <c:v>0.135242</c:v>
                </c:pt>
                <c:pt idx="2">
                  <c:v>0.17485800000000001</c:v>
                </c:pt>
                <c:pt idx="3">
                  <c:v>0.14923600000000001</c:v>
                </c:pt>
                <c:pt idx="4">
                  <c:v>0.158549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DBD3-4ECE-9C32-F9EFD6745B3E}"/>
            </c:ext>
          </c:extLst>
        </c:ser>
        <c:ser>
          <c:idx val="2"/>
          <c:order val="3"/>
          <c:tx>
            <c:strRef>
              <c:f>'Race Ethnicity'!$K$73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Ethnicity'!$R$82:$V$82</c:f>
                <c:numCache>
                  <c:formatCode>General</c:formatCode>
                  <c:ptCount val="5"/>
                  <c:pt idx="0">
                    <c:v>0.11650025</c:v>
                  </c:pt>
                  <c:pt idx="1">
                    <c:v>0.16568951000000001</c:v>
                  </c:pt>
                  <c:pt idx="2">
                    <c:v>0.35301912000000002</c:v>
                  </c:pt>
                  <c:pt idx="3">
                    <c:v>8.0762719999999982E-2</c:v>
                  </c:pt>
                  <c:pt idx="4">
                    <c:v>6.1522460000000001E-2</c:v>
                  </c:pt>
                </c:numCache>
              </c:numRef>
            </c:plus>
            <c:minus>
              <c:numRef>
                <c:f>'Race Ethnicity'!$R$73:$V$73</c:f>
                <c:numCache>
                  <c:formatCode>General</c:formatCode>
                  <c:ptCount val="5"/>
                  <c:pt idx="0">
                    <c:v>0.11649979000000001</c:v>
                  </c:pt>
                  <c:pt idx="1">
                    <c:v>-3.9567629999999999E-2</c:v>
                  </c:pt>
                  <c:pt idx="2">
                    <c:v>-7.8406539999999997E-2</c:v>
                  </c:pt>
                  <c:pt idx="3">
                    <c:v>8.0761900000000011E-2</c:v>
                  </c:pt>
                  <c:pt idx="4">
                    <c:v>6.152284999999999E-2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Ethnicity'!$L$70:$P$70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Ethnicity'!$L$73:$P$73</c:f>
              <c:numCache>
                <c:formatCode>General</c:formatCode>
                <c:ptCount val="5"/>
                <c:pt idx="0">
                  <c:v>0.21514900000000001</c:v>
                </c:pt>
                <c:pt idx="3">
                  <c:v>0.19508600000000001</c:v>
                </c:pt>
                <c:pt idx="4">
                  <c:v>0.197683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D3-4ECE-9C32-F9EFD6745B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400" dirty="0"/>
                  <a:t>CVD</a:t>
                </a:r>
                <a:r>
                  <a:rPr lang="en-US" sz="2400" baseline="0" dirty="0"/>
                  <a:t> among those with CKD (%)</a:t>
                </a:r>
                <a:endParaRPr lang="en-US" sz="2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8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528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83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46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15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732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8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892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76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421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9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747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A4C7-F2E1-4AC2-88AC-896135C15CAD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CD22D9-FC66-4E9B-B210-E8D0367ACA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12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666" y="2134636"/>
            <a:ext cx="11542644" cy="1640266"/>
          </a:xfrm>
        </p:spPr>
        <p:txBody>
          <a:bodyPr anchor="ctr">
            <a:noAutofit/>
          </a:bodyPr>
          <a:lstStyle/>
          <a:p>
            <a:r>
              <a:rPr lang="en-US" sz="4400" b="1" dirty="0"/>
              <a:t>Trends in Prevalence of Cardiovascular Disease</a:t>
            </a:r>
            <a:endParaRPr 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6" y="3903231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During 2001–March 2020, the overall crude prevalence of cardiovascular disease (CVD) ranged from 8.9% to 10.1% and was at least threefold higher among adults with CKD compared to adults without CKD across the time periods. Age-standardized prevalence of CVD was about twofold higher in adults with than without CKD. Crude prevalence of CVD among adults with CKD was higher among older, male, and non-Hispanic White adults.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b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NHANES</a:t>
            </a: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443673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by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098BABC-4BEC-4CD1-9B3D-BF74236A07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6132558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84112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E370A2-FFE1-4D01-AC88-990221B15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by CKD, 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637442B-6623-405E-9AC1-D4C85D0933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13683453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94114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E282F0-BBF1-4FA7-AB1C-DD0A1A859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Age,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EA90893-59CE-4A22-8373-3FBC1A306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0744275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5607009-3D31-4148-9941-409888AE0AA1}"/>
              </a:ext>
            </a:extLst>
          </p:cNvPr>
          <p:cNvSpPr txBox="1"/>
          <p:nvPr/>
        </p:nvSpPr>
        <p:spPr>
          <a:xfrm>
            <a:off x="3513083" y="6354375"/>
            <a:ext cx="8505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Note: Estimates for Age Category “20-39 years" were suppressed due to a large standard error stemming from a small sample size.</a:t>
            </a:r>
          </a:p>
        </p:txBody>
      </p:sp>
    </p:spTree>
    <p:extLst>
      <p:ext uri="{BB962C8B-B14F-4D97-AF65-F5344CB8AC3E}">
        <p14:creationId xmlns:p14="http://schemas.microsoft.com/office/powerpoint/2010/main" val="3670257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1299609-388D-40F4-8FD2-10944AAF1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Sex,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AC658C9-E915-4AA7-B839-11400FE3A1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0625374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95644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E4F957-7018-4576-B0D7-609F2CAC6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b="1" dirty="0"/>
              <a:t>Trends in Prevalence of Cardiovascular Disease in Adults with CKD by Race/Ethnicity,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03DFC81-8C50-4CE8-BF91-2A8600F50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3120282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188ECC-B1B0-4A45-B979-8BCBBA988A14}"/>
              </a:ext>
            </a:extLst>
          </p:cNvPr>
          <p:cNvSpPr txBox="1"/>
          <p:nvPr/>
        </p:nvSpPr>
        <p:spPr>
          <a:xfrm>
            <a:off x="3513083" y="6354375"/>
            <a:ext cx="8505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Note: Estimates for Race\Ethnicity "Other" were suppressed due to a large standard error stemming from a small sample size.</a:t>
            </a:r>
          </a:p>
        </p:txBody>
      </p:sp>
    </p:spTree>
    <p:extLst>
      <p:ext uri="{BB962C8B-B14F-4D97-AF65-F5344CB8AC3E}">
        <p14:creationId xmlns:p14="http://schemas.microsoft.com/office/powerpoint/2010/main" val="811446756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KDSS indicator downloads template</Template>
  <TotalTime>454</TotalTime>
  <Words>229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Open Sans</vt:lpstr>
      <vt:lpstr>KDSS indicator downloads template</vt:lpstr>
      <vt:lpstr>Trends in Prevalence of Cardiovascular Disease</vt:lpstr>
      <vt:lpstr>Trends in Prevalence of Cardiovascular Disease by CKD, Crude</vt:lpstr>
      <vt:lpstr>Trends in Prevalence of Cardiovascular Disease by CKD, Age Standardized</vt:lpstr>
      <vt:lpstr>Trends in Prevalence of Cardiovascular Disease in Adults with CKD by Age, Crude</vt:lpstr>
      <vt:lpstr>Trends in Prevalence of Cardiovascular Disease in Adults with CKD by Sex, Crude</vt:lpstr>
      <vt:lpstr>Trends in Prevalence of Cardiovascular Disease in Adults with CKD by Race/Ethnicity, Crude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Trends in Prevalence of Diabetes</dc:title>
  <dc:creator>Licon, Ana Laura</dc:creator>
  <cp:lastModifiedBy>Licon, Ana Laura</cp:lastModifiedBy>
  <cp:revision>7</cp:revision>
  <dcterms:created xsi:type="dcterms:W3CDTF">2025-09-23T20:56:13Z</dcterms:created>
  <dcterms:modified xsi:type="dcterms:W3CDTF">2026-02-11T18:42:24Z</dcterms:modified>
</cp:coreProperties>
</file>