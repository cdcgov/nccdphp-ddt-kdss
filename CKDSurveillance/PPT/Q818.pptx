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theme/themeOverride1.xml" ContentType="application/vnd.openxmlformats-officedocument.themeOverrid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theme/themeOverride2.xml" ContentType="application/vnd.openxmlformats-officedocument.themeOverrid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theme/themeOverride3.xml" ContentType="application/vnd.openxmlformats-officedocument.themeOverrid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theme/themeOverride4.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1" r:id="rId6"/>
    <p:sldId id="260" r:id="rId7"/>
    <p:sldId id="262" r:id="rId8"/>
    <p:sldId id="263"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111" d="100"/>
          <a:sy n="111" d="100"/>
        </p:scale>
        <p:origin x="59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charts/_rels/chart1.xml.rels><?xml version="1.0" encoding="UTF-8" standalone="yes"?>
<Relationships xmlns="http://schemas.openxmlformats.org/package/2006/relationships"><Relationship Id="rId3" Type="http://schemas.openxmlformats.org/officeDocument/2006/relationships/oleObject" Target="file:///C:\Users\alicon\University%20of%20Michigan%20Dropbox\Ana%20Laura%20Licon\KECC\CDC%20(2022-%20)\Website%20Redesign\TED\2025\DoD\PKD_DoD.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alicon\University%20of%20Michigan%20Dropbox\Ana%20Laura%20Licon\KECC\CDC%20(2022-%20)\Website%20Redesign\TED\2025\DoD\PKD_DoD.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package" Target="../embeddings/Microsoft_Excel_Worksheet1.xlsx"/></Relationships>
</file>

<file path=ppt/charts/_rels/chart5.xml.rels><?xml version="1.0" encoding="UTF-8" standalone="yes"?>
<Relationships xmlns="http://schemas.openxmlformats.org/package/2006/relationships"><Relationship Id="rId3" Type="http://schemas.openxmlformats.org/officeDocument/2006/relationships/themeOverride" Target="../theme/themeOverride2.xml"/><Relationship Id="rId2" Type="http://schemas.microsoft.com/office/2011/relationships/chartColorStyle" Target="colors5.xml"/><Relationship Id="rId1" Type="http://schemas.microsoft.com/office/2011/relationships/chartStyle" Target="style5.xml"/><Relationship Id="rId4" Type="http://schemas.openxmlformats.org/officeDocument/2006/relationships/package" Target="../embeddings/Microsoft_Excel_Worksheet2.xlsx"/></Relationships>
</file>

<file path=ppt/charts/_rels/chart6.xml.rels><?xml version="1.0" encoding="UTF-8" standalone="yes"?>
<Relationships xmlns="http://schemas.openxmlformats.org/package/2006/relationships"><Relationship Id="rId3" Type="http://schemas.openxmlformats.org/officeDocument/2006/relationships/themeOverride" Target="../theme/themeOverride3.xml"/><Relationship Id="rId2" Type="http://schemas.microsoft.com/office/2011/relationships/chartColorStyle" Target="colors6.xml"/><Relationship Id="rId1" Type="http://schemas.microsoft.com/office/2011/relationships/chartStyle" Target="style6.xml"/><Relationship Id="rId4" Type="http://schemas.openxmlformats.org/officeDocument/2006/relationships/package" Target="../embeddings/Microsoft_Excel_Worksheet3.xlsx"/></Relationships>
</file>

<file path=ppt/charts/_rels/chart7.xml.rels><?xml version="1.0" encoding="UTF-8" standalone="yes"?>
<Relationships xmlns="http://schemas.openxmlformats.org/package/2006/relationships"><Relationship Id="rId3" Type="http://schemas.openxmlformats.org/officeDocument/2006/relationships/themeOverride" Target="../theme/themeOverride4.xml"/><Relationship Id="rId2" Type="http://schemas.microsoft.com/office/2011/relationships/chartColorStyle" Target="colors7.xml"/><Relationship Id="rId1" Type="http://schemas.microsoft.com/office/2011/relationships/chartStyle" Target="style7.xml"/><Relationship Id="rId4"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3"/>
          <c:order val="3"/>
          <c:tx>
            <c:strRef>
              <c:f>PKDPeriodPrevOVERALL!$B$2</c:f>
              <c:strCache>
                <c:ptCount val="1"/>
                <c:pt idx="0">
                  <c:v>ALL</c:v>
                </c:pt>
              </c:strCache>
            </c:strRef>
          </c:tx>
          <c:spPr>
            <a:solidFill>
              <a:schemeClr val="accent4"/>
            </a:solidFill>
            <a:ln>
              <a:noFill/>
            </a:ln>
            <a:effectLst/>
          </c:spPr>
          <c:invertIfNegative val="0"/>
          <c:cat>
            <c:strRef>
              <c:f>PKDPeriodPrevOVERALL!$D$1:$E$1</c:f>
              <c:strCache>
                <c:ptCount val="2"/>
                <c:pt idx="0">
                  <c:v>2016-2018</c:v>
                </c:pt>
                <c:pt idx="1">
                  <c:v>2019-2021</c:v>
                </c:pt>
              </c:strCache>
            </c:strRef>
          </c:cat>
          <c:val>
            <c:numRef>
              <c:f>PKDPeriodPrevOVERALL!$D$2:$E$2</c:f>
              <c:numCache>
                <c:formatCode>General</c:formatCode>
                <c:ptCount val="2"/>
                <c:pt idx="0">
                  <c:v>58.21</c:v>
                </c:pt>
                <c:pt idx="1">
                  <c:v>54.23</c:v>
                </c:pt>
              </c:numCache>
            </c:numRef>
          </c:val>
          <c:extLst>
            <c:ext xmlns:c16="http://schemas.microsoft.com/office/drawing/2014/chart" uri="{C3380CC4-5D6E-409C-BE32-E72D297353CC}">
              <c16:uniqueId val="{00000000-E146-46D7-BC13-B2635C59F24D}"/>
            </c:ext>
          </c:extLst>
        </c:ser>
        <c:dLbls>
          <c:showLegendKey val="0"/>
          <c:showVal val="0"/>
          <c:showCatName val="0"/>
          <c:showSerName val="0"/>
          <c:showPercent val="0"/>
          <c:showBubbleSize val="0"/>
        </c:dLbls>
        <c:gapWidth val="150"/>
        <c:axId val="1785061167"/>
        <c:axId val="1785060687"/>
        <c:extLst>
          <c:ext xmlns:c15="http://schemas.microsoft.com/office/drawing/2012/chart" uri="{02D57815-91ED-43cb-92C2-25804820EDAC}">
            <c15:filteredBarSeries>
              <c15:ser>
                <c:idx val="0"/>
                <c:order val="0"/>
                <c:tx>
                  <c:strRef>
                    <c:extLst>
                      <c:ext uri="{02D57815-91ED-43cb-92C2-25804820EDAC}">
                        <c15:formulaRef>
                          <c15:sqref>PKDPeriodPrevOVERALL!$A$2:$C$2</c15:sqref>
                        </c15:formulaRef>
                      </c:ext>
                    </c:extLst>
                    <c:strCache>
                      <c:ptCount val="3"/>
                      <c:pt idx="0">
                        <c:v>OVERALL</c:v>
                      </c:pt>
                      <c:pt idx="1">
                        <c:v>ALL</c:v>
                      </c:pt>
                      <c:pt idx="2">
                        <c:v>Prevalence (per 100K)</c:v>
                      </c:pt>
                    </c:strCache>
                  </c:strRef>
                </c:tx>
                <c:spPr>
                  <a:solidFill>
                    <a:schemeClr val="accent1"/>
                  </a:solidFill>
                  <a:ln>
                    <a:noFill/>
                  </a:ln>
                  <a:effectLst/>
                </c:spPr>
                <c:invertIfNegative val="0"/>
                <c:cat>
                  <c:strRef>
                    <c:extLst>
                      <c:ext uri="{02D57815-91ED-43cb-92C2-25804820EDAC}">
                        <c15:formulaRef>
                          <c15:sqref>PKDPeriodPrevOVERALL!$D$1:$E$1</c15:sqref>
                        </c15:formulaRef>
                      </c:ext>
                    </c:extLst>
                    <c:strCache>
                      <c:ptCount val="2"/>
                      <c:pt idx="0">
                        <c:v>2016-2018</c:v>
                      </c:pt>
                      <c:pt idx="1">
                        <c:v>2019-2021</c:v>
                      </c:pt>
                    </c:strCache>
                  </c:strRef>
                </c:cat>
                <c:val>
                  <c:numRef>
                    <c:extLst>
                      <c:ext uri="{02D57815-91ED-43cb-92C2-25804820EDAC}">
                        <c15:formulaRef>
                          <c15:sqref>PKDPeriodPrevOVERALL!$D$2:$E$2</c15:sqref>
                        </c15:formulaRef>
                      </c:ext>
                    </c:extLst>
                    <c:numCache>
                      <c:formatCode>General</c:formatCode>
                      <c:ptCount val="2"/>
                      <c:pt idx="0">
                        <c:v>58.21</c:v>
                      </c:pt>
                      <c:pt idx="1">
                        <c:v>54.23</c:v>
                      </c:pt>
                    </c:numCache>
                  </c:numRef>
                </c:val>
                <c:extLst>
                  <c:ext xmlns:c16="http://schemas.microsoft.com/office/drawing/2014/chart" uri="{C3380CC4-5D6E-409C-BE32-E72D297353CC}">
                    <c16:uniqueId val="{00000001-E146-46D7-BC13-B2635C59F24D}"/>
                  </c:ext>
                </c:extLst>
              </c15:ser>
            </c15:filteredBarSeries>
            <c15:filteredBarSeries>
              <c15:ser>
                <c:idx val="1"/>
                <c:order val="1"/>
                <c:tx>
                  <c:strRef>
                    <c:extLst xmlns:c15="http://schemas.microsoft.com/office/drawing/2012/chart">
                      <c:ext xmlns:c15="http://schemas.microsoft.com/office/drawing/2012/chart" uri="{02D57815-91ED-43cb-92C2-25804820EDAC}">
                        <c15:formulaRef>
                          <c15:sqref>PKDPeriodPrevOVERALL!$A$3:$C$3</c15:sqref>
                        </c15:formulaRef>
                      </c:ext>
                    </c:extLst>
                    <c:strCache>
                      <c:ptCount val="3"/>
                      <c:pt idx="0">
                        <c:v>OVERALL</c:v>
                      </c:pt>
                      <c:pt idx="1">
                        <c:v>ALL</c:v>
                      </c:pt>
                      <c:pt idx="2">
                        <c:v>n (PKD)</c:v>
                      </c:pt>
                    </c:strCache>
                  </c:strRef>
                </c:tx>
                <c:spPr>
                  <a:solidFill>
                    <a:schemeClr val="accent2"/>
                  </a:solidFill>
                  <a:ln>
                    <a:noFill/>
                  </a:ln>
                  <a:effectLst/>
                </c:spPr>
                <c:invertIfNegative val="0"/>
                <c:cat>
                  <c:strRef>
                    <c:extLst xmlns:c15="http://schemas.microsoft.com/office/drawing/2012/chart">
                      <c:ext xmlns:c15="http://schemas.microsoft.com/office/drawing/2012/chart" uri="{02D57815-91ED-43cb-92C2-25804820EDAC}">
                        <c15:formulaRef>
                          <c15:sqref>PKDPeriodPrevOVERALL!$D$1:$E$1</c15:sqref>
                        </c15:formulaRef>
                      </c:ext>
                    </c:extLst>
                    <c:strCache>
                      <c:ptCount val="2"/>
                      <c:pt idx="0">
                        <c:v>2016-2018</c:v>
                      </c:pt>
                      <c:pt idx="1">
                        <c:v>2019-2021</c:v>
                      </c:pt>
                    </c:strCache>
                  </c:strRef>
                </c:cat>
                <c:val>
                  <c:numRef>
                    <c:extLst xmlns:c15="http://schemas.microsoft.com/office/drawing/2012/chart">
                      <c:ext xmlns:c15="http://schemas.microsoft.com/office/drawing/2012/chart" uri="{02D57815-91ED-43cb-92C2-25804820EDAC}">
                        <c15:formulaRef>
                          <c15:sqref>PKDPeriodPrevOVERALL!$D$3:$E$3</c15:sqref>
                        </c15:formulaRef>
                      </c:ext>
                    </c:extLst>
                    <c:numCache>
                      <c:formatCode>General</c:formatCode>
                      <c:ptCount val="2"/>
                      <c:pt idx="0">
                        <c:v>2932</c:v>
                      </c:pt>
                      <c:pt idx="1">
                        <c:v>2817</c:v>
                      </c:pt>
                    </c:numCache>
                  </c:numRef>
                </c:val>
                <c:extLst xmlns:c15="http://schemas.microsoft.com/office/drawing/2012/chart">
                  <c:ext xmlns:c16="http://schemas.microsoft.com/office/drawing/2014/chart" uri="{C3380CC4-5D6E-409C-BE32-E72D297353CC}">
                    <c16:uniqueId val="{00000002-E146-46D7-BC13-B2635C59F24D}"/>
                  </c:ext>
                </c:extLst>
              </c15:ser>
            </c15:filteredBarSeries>
            <c15:filteredBarSeries>
              <c15:ser>
                <c:idx val="2"/>
                <c:order val="2"/>
                <c:tx>
                  <c:strRef>
                    <c:extLst xmlns:c15="http://schemas.microsoft.com/office/drawing/2012/chart">
                      <c:ext xmlns:c15="http://schemas.microsoft.com/office/drawing/2012/chart" uri="{02D57815-91ED-43cb-92C2-25804820EDAC}">
                        <c15:formulaRef>
                          <c15:sqref>PKDPeriodPrevOVERALL!$A$4:$C$4</c15:sqref>
                        </c15:formulaRef>
                      </c:ext>
                    </c:extLst>
                    <c:strCache>
                      <c:ptCount val="3"/>
                      <c:pt idx="0">
                        <c:v>OVERALL</c:v>
                      </c:pt>
                      <c:pt idx="1">
                        <c:v>ALL</c:v>
                      </c:pt>
                      <c:pt idx="2">
                        <c:v>n (tot)</c:v>
                      </c:pt>
                    </c:strCache>
                  </c:strRef>
                </c:tx>
                <c:spPr>
                  <a:solidFill>
                    <a:schemeClr val="accent3"/>
                  </a:solidFill>
                  <a:ln>
                    <a:noFill/>
                  </a:ln>
                  <a:effectLst/>
                </c:spPr>
                <c:invertIfNegative val="0"/>
                <c:cat>
                  <c:strRef>
                    <c:extLst xmlns:c15="http://schemas.microsoft.com/office/drawing/2012/chart">
                      <c:ext xmlns:c15="http://schemas.microsoft.com/office/drawing/2012/chart" uri="{02D57815-91ED-43cb-92C2-25804820EDAC}">
                        <c15:formulaRef>
                          <c15:sqref>PKDPeriodPrevOVERALL!$D$1:$E$1</c15:sqref>
                        </c15:formulaRef>
                      </c:ext>
                    </c:extLst>
                    <c:strCache>
                      <c:ptCount val="2"/>
                      <c:pt idx="0">
                        <c:v>2016-2018</c:v>
                      </c:pt>
                      <c:pt idx="1">
                        <c:v>2019-2021</c:v>
                      </c:pt>
                    </c:strCache>
                  </c:strRef>
                </c:cat>
                <c:val>
                  <c:numRef>
                    <c:extLst xmlns:c15="http://schemas.microsoft.com/office/drawing/2012/chart">
                      <c:ext xmlns:c15="http://schemas.microsoft.com/office/drawing/2012/chart" uri="{02D57815-91ED-43cb-92C2-25804820EDAC}">
                        <c15:formulaRef>
                          <c15:sqref>PKDPeriodPrevOVERALL!$D$4:$E$4</c15:sqref>
                        </c15:formulaRef>
                      </c:ext>
                    </c:extLst>
                    <c:numCache>
                      <c:formatCode>General</c:formatCode>
                      <c:ptCount val="2"/>
                      <c:pt idx="0">
                        <c:v>5036634</c:v>
                      </c:pt>
                      <c:pt idx="1">
                        <c:v>5194389</c:v>
                      </c:pt>
                    </c:numCache>
                  </c:numRef>
                </c:val>
                <c:extLst xmlns:c15="http://schemas.microsoft.com/office/drawing/2012/chart">
                  <c:ext xmlns:c16="http://schemas.microsoft.com/office/drawing/2014/chart" uri="{C3380CC4-5D6E-409C-BE32-E72D297353CC}">
                    <c16:uniqueId val="{00000003-E146-46D7-BC13-B2635C59F24D}"/>
                  </c:ext>
                </c:extLst>
              </c15:ser>
            </c15:filteredBarSeries>
          </c:ext>
        </c:extLst>
      </c:barChart>
      <c:catAx>
        <c:axId val="178506116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2400" b="0" i="0" u="none" strike="noStrike" kern="1200" baseline="0">
                <a:solidFill>
                  <a:schemeClr val="tx1"/>
                </a:solidFill>
                <a:latin typeface="+mn-lt"/>
                <a:ea typeface="+mn-ea"/>
                <a:cs typeface="+mn-cs"/>
              </a:defRPr>
            </a:pPr>
            <a:endParaRPr lang="en-US"/>
          </a:p>
        </c:txPr>
        <c:crossAx val="1785060687"/>
        <c:crosses val="autoZero"/>
        <c:auto val="1"/>
        <c:lblAlgn val="ctr"/>
        <c:lblOffset val="100"/>
        <c:noMultiLvlLbl val="0"/>
      </c:catAx>
      <c:valAx>
        <c:axId val="1785060687"/>
        <c:scaling>
          <c:orientation val="minMax"/>
          <c:max val="100"/>
          <c:min val="0"/>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2400" b="0" i="0" u="none" strike="noStrike" kern="1200" baseline="0">
                    <a:solidFill>
                      <a:schemeClr val="tx1"/>
                    </a:solidFill>
                    <a:latin typeface="+mn-lt"/>
                    <a:ea typeface="+mn-ea"/>
                    <a:cs typeface="+mn-cs"/>
                  </a:defRPr>
                </a:pPr>
                <a:r>
                  <a:rPr lang="en-US"/>
                  <a:t>PKD Prevalence per 100,000</a:t>
                </a:r>
              </a:p>
            </c:rich>
          </c:tx>
          <c:overlay val="0"/>
          <c:spPr>
            <a:noFill/>
            <a:ln>
              <a:noFill/>
            </a:ln>
            <a:effectLst/>
          </c:spPr>
          <c:txPr>
            <a:bodyPr rot="-5400000" spcFirstLastPara="1" vertOverflow="ellipsis" vert="horz" wrap="square" anchor="ctr" anchorCtr="1"/>
            <a:lstStyle/>
            <a:p>
              <a:pPr>
                <a:defRPr sz="2400" b="0" i="0" u="none" strike="noStrike" kern="1200" baseline="0">
                  <a:solidFill>
                    <a:schemeClr val="tx1"/>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2400" b="0" i="0" u="none" strike="noStrike" kern="1200" baseline="0">
                <a:solidFill>
                  <a:schemeClr val="tx1"/>
                </a:solidFill>
                <a:latin typeface="+mn-lt"/>
                <a:ea typeface="+mn-ea"/>
                <a:cs typeface="+mn-cs"/>
              </a:defRPr>
            </a:pPr>
            <a:endParaRPr lang="en-US"/>
          </a:p>
        </c:txPr>
        <c:crossAx val="1785061167"/>
        <c:crosses val="autoZero"/>
        <c:crossBetween val="between"/>
      </c:valAx>
      <c:spPr>
        <a:noFill/>
        <a:ln>
          <a:noFill/>
        </a:ln>
        <a:effectLst/>
      </c:spPr>
    </c:plotArea>
    <c:plotVisOnly val="1"/>
    <c:dispBlanksAs val="gap"/>
    <c:showDLblsOverMax val="0"/>
  </c:chart>
  <c:spPr>
    <a:noFill/>
    <a:ln>
      <a:noFill/>
    </a:ln>
    <a:effectLst/>
  </c:spPr>
  <c:txPr>
    <a:bodyPr/>
    <a:lstStyle/>
    <a:p>
      <a:pPr>
        <a:defRPr sz="2400" b="0">
          <a:solidFill>
            <a:schemeClr val="tx1"/>
          </a:solidFill>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3"/>
          <c:order val="3"/>
          <c:tx>
            <c:strRef>
              <c:f>PKDPeriodPrevOVERALL!$B$5</c:f>
              <c:strCache>
                <c:ptCount val="1"/>
                <c:pt idx="0">
                  <c:v>ALL</c:v>
                </c:pt>
              </c:strCache>
            </c:strRef>
          </c:tx>
          <c:spPr>
            <a:solidFill>
              <a:schemeClr val="accent4"/>
            </a:solidFill>
            <a:ln>
              <a:noFill/>
            </a:ln>
            <a:effectLst/>
          </c:spPr>
          <c:invertIfNegative val="0"/>
          <c:cat>
            <c:strRef>
              <c:f>PKDPeriodPrevOVERALL!$D$1:$E$1</c:f>
              <c:strCache>
                <c:ptCount val="2"/>
                <c:pt idx="0">
                  <c:v>2016-2018</c:v>
                </c:pt>
                <c:pt idx="1">
                  <c:v>2019-2021</c:v>
                </c:pt>
              </c:strCache>
            </c:strRef>
          </c:cat>
          <c:val>
            <c:numRef>
              <c:f>PKDPeriodPrevOVERALL!$D$5:$E$5</c:f>
              <c:numCache>
                <c:formatCode>General</c:formatCode>
                <c:ptCount val="2"/>
                <c:pt idx="0">
                  <c:v>86.3</c:v>
                </c:pt>
                <c:pt idx="1">
                  <c:v>85.1</c:v>
                </c:pt>
              </c:numCache>
            </c:numRef>
          </c:val>
          <c:extLst>
            <c:ext xmlns:c16="http://schemas.microsoft.com/office/drawing/2014/chart" uri="{C3380CC4-5D6E-409C-BE32-E72D297353CC}">
              <c16:uniqueId val="{00000000-4337-4732-A426-C8CC3CCA2B7F}"/>
            </c:ext>
          </c:extLst>
        </c:ser>
        <c:dLbls>
          <c:showLegendKey val="0"/>
          <c:showVal val="0"/>
          <c:showCatName val="0"/>
          <c:showSerName val="0"/>
          <c:showPercent val="0"/>
          <c:showBubbleSize val="0"/>
        </c:dLbls>
        <c:gapWidth val="150"/>
        <c:axId val="1785061167"/>
        <c:axId val="1785060687"/>
        <c:extLst>
          <c:ext xmlns:c15="http://schemas.microsoft.com/office/drawing/2012/chart" uri="{02D57815-91ED-43cb-92C2-25804820EDAC}">
            <c15:filteredBarSeries>
              <c15:ser>
                <c:idx val="0"/>
                <c:order val="0"/>
                <c:tx>
                  <c:strRef>
                    <c:extLst>
                      <c:ext uri="{02D57815-91ED-43cb-92C2-25804820EDAC}">
                        <c15:formulaRef>
                          <c15:sqref>PKDPeriodPrevOVERALL!$A$2:$C$2</c15:sqref>
                        </c15:formulaRef>
                      </c:ext>
                    </c:extLst>
                    <c:strCache>
                      <c:ptCount val="3"/>
                      <c:pt idx="0">
                        <c:v>OVERALL</c:v>
                      </c:pt>
                      <c:pt idx="1">
                        <c:v>ALL</c:v>
                      </c:pt>
                      <c:pt idx="2">
                        <c:v>Prevalence (per 100K)</c:v>
                      </c:pt>
                    </c:strCache>
                  </c:strRef>
                </c:tx>
                <c:spPr>
                  <a:solidFill>
                    <a:schemeClr val="accent1"/>
                  </a:solidFill>
                  <a:ln>
                    <a:noFill/>
                  </a:ln>
                  <a:effectLst/>
                </c:spPr>
                <c:invertIfNegative val="0"/>
                <c:cat>
                  <c:strRef>
                    <c:extLst>
                      <c:ext uri="{02D57815-91ED-43cb-92C2-25804820EDAC}">
                        <c15:formulaRef>
                          <c15:sqref>PKDPeriodPrevOVERALL!$D$1:$E$1</c15:sqref>
                        </c15:formulaRef>
                      </c:ext>
                    </c:extLst>
                    <c:strCache>
                      <c:ptCount val="2"/>
                      <c:pt idx="0">
                        <c:v>2016-2018</c:v>
                      </c:pt>
                      <c:pt idx="1">
                        <c:v>2019-2021</c:v>
                      </c:pt>
                    </c:strCache>
                  </c:strRef>
                </c:cat>
                <c:val>
                  <c:numRef>
                    <c:extLst>
                      <c:ext uri="{02D57815-91ED-43cb-92C2-25804820EDAC}">
                        <c15:formulaRef>
                          <c15:sqref>PKDPeriodPrevOVERALL!$D$2:$E$2</c15:sqref>
                        </c15:formulaRef>
                      </c:ext>
                    </c:extLst>
                    <c:numCache>
                      <c:formatCode>General</c:formatCode>
                      <c:ptCount val="2"/>
                      <c:pt idx="0">
                        <c:v>58.21</c:v>
                      </c:pt>
                      <c:pt idx="1">
                        <c:v>54.23</c:v>
                      </c:pt>
                    </c:numCache>
                  </c:numRef>
                </c:val>
                <c:extLst>
                  <c:ext xmlns:c16="http://schemas.microsoft.com/office/drawing/2014/chart" uri="{C3380CC4-5D6E-409C-BE32-E72D297353CC}">
                    <c16:uniqueId val="{00000001-4337-4732-A426-C8CC3CCA2B7F}"/>
                  </c:ext>
                </c:extLst>
              </c15:ser>
            </c15:filteredBarSeries>
            <c15:filteredBarSeries>
              <c15:ser>
                <c:idx val="1"/>
                <c:order val="1"/>
                <c:tx>
                  <c:strRef>
                    <c:extLst xmlns:c15="http://schemas.microsoft.com/office/drawing/2012/chart">
                      <c:ext xmlns:c15="http://schemas.microsoft.com/office/drawing/2012/chart" uri="{02D57815-91ED-43cb-92C2-25804820EDAC}">
                        <c15:formulaRef>
                          <c15:sqref>PKDPeriodPrevOVERALL!$A$3:$C$3</c15:sqref>
                        </c15:formulaRef>
                      </c:ext>
                    </c:extLst>
                    <c:strCache>
                      <c:ptCount val="3"/>
                      <c:pt idx="0">
                        <c:v>OVERALL</c:v>
                      </c:pt>
                      <c:pt idx="1">
                        <c:v>ALL</c:v>
                      </c:pt>
                      <c:pt idx="2">
                        <c:v>n (PKD)</c:v>
                      </c:pt>
                    </c:strCache>
                  </c:strRef>
                </c:tx>
                <c:spPr>
                  <a:solidFill>
                    <a:schemeClr val="accent2"/>
                  </a:solidFill>
                  <a:ln>
                    <a:noFill/>
                  </a:ln>
                  <a:effectLst/>
                </c:spPr>
                <c:invertIfNegative val="0"/>
                <c:cat>
                  <c:strRef>
                    <c:extLst xmlns:c15="http://schemas.microsoft.com/office/drawing/2012/chart">
                      <c:ext xmlns:c15="http://schemas.microsoft.com/office/drawing/2012/chart" uri="{02D57815-91ED-43cb-92C2-25804820EDAC}">
                        <c15:formulaRef>
                          <c15:sqref>PKDPeriodPrevOVERALL!$D$1:$E$1</c15:sqref>
                        </c15:formulaRef>
                      </c:ext>
                    </c:extLst>
                    <c:strCache>
                      <c:ptCount val="2"/>
                      <c:pt idx="0">
                        <c:v>2016-2018</c:v>
                      </c:pt>
                      <c:pt idx="1">
                        <c:v>2019-2021</c:v>
                      </c:pt>
                    </c:strCache>
                  </c:strRef>
                </c:cat>
                <c:val>
                  <c:numRef>
                    <c:extLst xmlns:c15="http://schemas.microsoft.com/office/drawing/2012/chart">
                      <c:ext xmlns:c15="http://schemas.microsoft.com/office/drawing/2012/chart" uri="{02D57815-91ED-43cb-92C2-25804820EDAC}">
                        <c15:formulaRef>
                          <c15:sqref>PKDPeriodPrevOVERALL!$D$3:$E$3</c15:sqref>
                        </c15:formulaRef>
                      </c:ext>
                    </c:extLst>
                    <c:numCache>
                      <c:formatCode>General</c:formatCode>
                      <c:ptCount val="2"/>
                      <c:pt idx="0">
                        <c:v>2932</c:v>
                      </c:pt>
                      <c:pt idx="1">
                        <c:v>2817</c:v>
                      </c:pt>
                    </c:numCache>
                  </c:numRef>
                </c:val>
                <c:extLst xmlns:c15="http://schemas.microsoft.com/office/drawing/2012/chart">
                  <c:ext xmlns:c16="http://schemas.microsoft.com/office/drawing/2014/chart" uri="{C3380CC4-5D6E-409C-BE32-E72D297353CC}">
                    <c16:uniqueId val="{00000002-4337-4732-A426-C8CC3CCA2B7F}"/>
                  </c:ext>
                </c:extLst>
              </c15:ser>
            </c15:filteredBarSeries>
            <c15:filteredBarSeries>
              <c15:ser>
                <c:idx val="2"/>
                <c:order val="2"/>
                <c:tx>
                  <c:strRef>
                    <c:extLst xmlns:c15="http://schemas.microsoft.com/office/drawing/2012/chart">
                      <c:ext xmlns:c15="http://schemas.microsoft.com/office/drawing/2012/chart" uri="{02D57815-91ED-43cb-92C2-25804820EDAC}">
                        <c15:formulaRef>
                          <c15:sqref>PKDPeriodPrevOVERALL!$A$4:$C$4</c15:sqref>
                        </c15:formulaRef>
                      </c:ext>
                    </c:extLst>
                    <c:strCache>
                      <c:ptCount val="3"/>
                      <c:pt idx="0">
                        <c:v>OVERALL</c:v>
                      </c:pt>
                      <c:pt idx="1">
                        <c:v>ALL</c:v>
                      </c:pt>
                      <c:pt idx="2">
                        <c:v>n (tot)</c:v>
                      </c:pt>
                    </c:strCache>
                  </c:strRef>
                </c:tx>
                <c:spPr>
                  <a:solidFill>
                    <a:schemeClr val="accent3"/>
                  </a:solidFill>
                  <a:ln>
                    <a:noFill/>
                  </a:ln>
                  <a:effectLst/>
                </c:spPr>
                <c:invertIfNegative val="0"/>
                <c:cat>
                  <c:strRef>
                    <c:extLst xmlns:c15="http://schemas.microsoft.com/office/drawing/2012/chart">
                      <c:ext xmlns:c15="http://schemas.microsoft.com/office/drawing/2012/chart" uri="{02D57815-91ED-43cb-92C2-25804820EDAC}">
                        <c15:formulaRef>
                          <c15:sqref>PKDPeriodPrevOVERALL!$D$1:$E$1</c15:sqref>
                        </c15:formulaRef>
                      </c:ext>
                    </c:extLst>
                    <c:strCache>
                      <c:ptCount val="2"/>
                      <c:pt idx="0">
                        <c:v>2016-2018</c:v>
                      </c:pt>
                      <c:pt idx="1">
                        <c:v>2019-2021</c:v>
                      </c:pt>
                    </c:strCache>
                  </c:strRef>
                </c:cat>
                <c:val>
                  <c:numRef>
                    <c:extLst xmlns:c15="http://schemas.microsoft.com/office/drawing/2012/chart">
                      <c:ext xmlns:c15="http://schemas.microsoft.com/office/drawing/2012/chart" uri="{02D57815-91ED-43cb-92C2-25804820EDAC}">
                        <c15:formulaRef>
                          <c15:sqref>PKDPeriodPrevOVERALL!$D$4:$E$4</c15:sqref>
                        </c15:formulaRef>
                      </c:ext>
                    </c:extLst>
                    <c:numCache>
                      <c:formatCode>General</c:formatCode>
                      <c:ptCount val="2"/>
                      <c:pt idx="0">
                        <c:v>5036634</c:v>
                      </c:pt>
                      <c:pt idx="1">
                        <c:v>5194389</c:v>
                      </c:pt>
                    </c:numCache>
                  </c:numRef>
                </c:val>
                <c:extLst xmlns:c15="http://schemas.microsoft.com/office/drawing/2012/chart">
                  <c:ext xmlns:c16="http://schemas.microsoft.com/office/drawing/2014/chart" uri="{C3380CC4-5D6E-409C-BE32-E72D297353CC}">
                    <c16:uniqueId val="{00000003-4337-4732-A426-C8CC3CCA2B7F}"/>
                  </c:ext>
                </c:extLst>
              </c15:ser>
            </c15:filteredBarSeries>
          </c:ext>
        </c:extLst>
      </c:barChart>
      <c:catAx>
        <c:axId val="178506116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2400" b="0" i="0" u="none" strike="noStrike" kern="1200" baseline="0">
                <a:solidFill>
                  <a:schemeClr val="tx1"/>
                </a:solidFill>
                <a:latin typeface="+mn-lt"/>
                <a:ea typeface="+mn-ea"/>
                <a:cs typeface="+mn-cs"/>
              </a:defRPr>
            </a:pPr>
            <a:endParaRPr lang="en-US"/>
          </a:p>
        </c:txPr>
        <c:crossAx val="1785060687"/>
        <c:crosses val="autoZero"/>
        <c:auto val="1"/>
        <c:lblAlgn val="ctr"/>
        <c:lblOffset val="100"/>
        <c:noMultiLvlLbl val="0"/>
      </c:catAx>
      <c:valAx>
        <c:axId val="1785060687"/>
        <c:scaling>
          <c:orientation val="minMax"/>
          <c:min val="0"/>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2400" b="0" i="0" u="none" strike="noStrike" kern="1200" baseline="0">
                    <a:solidFill>
                      <a:schemeClr val="tx1"/>
                    </a:solidFill>
                    <a:latin typeface="+mn-lt"/>
                    <a:ea typeface="+mn-ea"/>
                    <a:cs typeface="+mn-cs"/>
                  </a:defRPr>
                </a:pPr>
                <a:r>
                  <a:rPr lang="en-US"/>
                  <a:t>PKD Prevalence per 100,000</a:t>
                </a:r>
              </a:p>
            </c:rich>
          </c:tx>
          <c:overlay val="0"/>
          <c:spPr>
            <a:noFill/>
            <a:ln>
              <a:noFill/>
            </a:ln>
            <a:effectLst/>
          </c:spPr>
          <c:txPr>
            <a:bodyPr rot="-5400000" spcFirstLastPara="1" vertOverflow="ellipsis" vert="horz" wrap="square" anchor="ctr" anchorCtr="1"/>
            <a:lstStyle/>
            <a:p>
              <a:pPr>
                <a:defRPr sz="2400" b="0" i="0" u="none" strike="noStrike" kern="1200" baseline="0">
                  <a:solidFill>
                    <a:schemeClr val="tx1"/>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2400" b="0" i="0" u="none" strike="noStrike" kern="1200" baseline="0">
                <a:solidFill>
                  <a:schemeClr val="tx1"/>
                </a:solidFill>
                <a:latin typeface="+mn-lt"/>
                <a:ea typeface="+mn-ea"/>
                <a:cs typeface="+mn-cs"/>
              </a:defRPr>
            </a:pPr>
            <a:endParaRPr lang="en-US"/>
          </a:p>
        </c:txPr>
        <c:crossAx val="1785061167"/>
        <c:crosses val="autoZero"/>
        <c:crossBetween val="between"/>
      </c:valAx>
      <c:spPr>
        <a:noFill/>
        <a:ln>
          <a:noFill/>
        </a:ln>
        <a:effectLst/>
      </c:spPr>
    </c:plotArea>
    <c:plotVisOnly val="1"/>
    <c:dispBlanksAs val="gap"/>
    <c:showDLblsOverMax val="0"/>
  </c:chart>
  <c:spPr>
    <a:noFill/>
    <a:ln>
      <a:noFill/>
    </a:ln>
    <a:effectLst/>
  </c:spPr>
  <c:txPr>
    <a:bodyPr/>
    <a:lstStyle/>
    <a:p>
      <a:pPr>
        <a:defRPr sz="2400">
          <a:solidFill>
            <a:schemeClr val="tx1"/>
          </a:solidFill>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PKDPeriodPrevAge!$D$36</c:f>
              <c:strCache>
                <c:ptCount val="1"/>
                <c:pt idx="0">
                  <c:v>2016-2018</c:v>
                </c:pt>
              </c:strCache>
            </c:strRef>
          </c:tx>
          <c:spPr>
            <a:solidFill>
              <a:schemeClr val="accent1"/>
            </a:solidFill>
            <a:ln>
              <a:noFill/>
            </a:ln>
            <a:effectLst/>
          </c:spPr>
          <c:invertIfNegative val="0"/>
          <c:cat>
            <c:strRef>
              <c:f>PKDPeriodPrevAge!$E$35:$M$35</c:f>
              <c:strCache>
                <c:ptCount val="9"/>
                <c:pt idx="0">
                  <c:v>0-5</c:v>
                </c:pt>
                <c:pt idx="1">
                  <c:v>6-10</c:v>
                </c:pt>
                <c:pt idx="2">
                  <c:v>11-17</c:v>
                </c:pt>
                <c:pt idx="3">
                  <c:v>18-29</c:v>
                </c:pt>
                <c:pt idx="4">
                  <c:v>30-39</c:v>
                </c:pt>
                <c:pt idx="5">
                  <c:v>40-49</c:v>
                </c:pt>
                <c:pt idx="6">
                  <c:v>50-59</c:v>
                </c:pt>
                <c:pt idx="7">
                  <c:v>60-69</c:v>
                </c:pt>
                <c:pt idx="8">
                  <c:v>70+</c:v>
                </c:pt>
              </c:strCache>
            </c:strRef>
          </c:cat>
          <c:val>
            <c:numRef>
              <c:f>PKDPeriodPrevAge!$E$36:$M$36</c:f>
              <c:numCache>
                <c:formatCode>General</c:formatCode>
                <c:ptCount val="9"/>
                <c:pt idx="0">
                  <c:v>20.49</c:v>
                </c:pt>
                <c:pt idx="1">
                  <c:v>16.670000000000002</c:v>
                </c:pt>
                <c:pt idx="2">
                  <c:v>22.6</c:v>
                </c:pt>
                <c:pt idx="3">
                  <c:v>29.67</c:v>
                </c:pt>
                <c:pt idx="4">
                  <c:v>64.290000000000006</c:v>
                </c:pt>
                <c:pt idx="5">
                  <c:v>89.66</c:v>
                </c:pt>
                <c:pt idx="6">
                  <c:v>111.81</c:v>
                </c:pt>
                <c:pt idx="7">
                  <c:v>131.03</c:v>
                </c:pt>
                <c:pt idx="8">
                  <c:v>142.94</c:v>
                </c:pt>
              </c:numCache>
            </c:numRef>
          </c:val>
          <c:extLst>
            <c:ext xmlns:c16="http://schemas.microsoft.com/office/drawing/2014/chart" uri="{C3380CC4-5D6E-409C-BE32-E72D297353CC}">
              <c16:uniqueId val="{00000000-FD1F-4EE8-9651-052809BEF0C9}"/>
            </c:ext>
          </c:extLst>
        </c:ser>
        <c:ser>
          <c:idx val="1"/>
          <c:order val="1"/>
          <c:tx>
            <c:strRef>
              <c:f>PKDPeriodPrevAge!$D$37</c:f>
              <c:strCache>
                <c:ptCount val="1"/>
                <c:pt idx="0">
                  <c:v>2019-2021</c:v>
                </c:pt>
              </c:strCache>
            </c:strRef>
          </c:tx>
          <c:spPr>
            <a:solidFill>
              <a:schemeClr val="accent2"/>
            </a:solidFill>
            <a:ln>
              <a:noFill/>
            </a:ln>
            <a:effectLst/>
          </c:spPr>
          <c:invertIfNegative val="0"/>
          <c:cat>
            <c:strRef>
              <c:f>PKDPeriodPrevAge!$E$35:$M$35</c:f>
              <c:strCache>
                <c:ptCount val="9"/>
                <c:pt idx="0">
                  <c:v>0-5</c:v>
                </c:pt>
                <c:pt idx="1">
                  <c:v>6-10</c:v>
                </c:pt>
                <c:pt idx="2">
                  <c:v>11-17</c:v>
                </c:pt>
                <c:pt idx="3">
                  <c:v>18-29</c:v>
                </c:pt>
                <c:pt idx="4">
                  <c:v>30-39</c:v>
                </c:pt>
                <c:pt idx="5">
                  <c:v>40-49</c:v>
                </c:pt>
                <c:pt idx="6">
                  <c:v>50-59</c:v>
                </c:pt>
                <c:pt idx="7">
                  <c:v>60-69</c:v>
                </c:pt>
                <c:pt idx="8">
                  <c:v>70+</c:v>
                </c:pt>
              </c:strCache>
            </c:strRef>
          </c:cat>
          <c:val>
            <c:numRef>
              <c:f>PKDPeriodPrevAge!$E$37:$M$37</c:f>
              <c:numCache>
                <c:formatCode>General</c:formatCode>
                <c:ptCount val="9"/>
                <c:pt idx="0">
                  <c:v>20.78</c:v>
                </c:pt>
                <c:pt idx="1">
                  <c:v>17.09</c:v>
                </c:pt>
                <c:pt idx="2">
                  <c:v>21.37</c:v>
                </c:pt>
                <c:pt idx="3">
                  <c:v>25.56</c:v>
                </c:pt>
                <c:pt idx="4">
                  <c:v>57.08</c:v>
                </c:pt>
                <c:pt idx="5">
                  <c:v>90.7</c:v>
                </c:pt>
                <c:pt idx="6">
                  <c:v>104.53</c:v>
                </c:pt>
                <c:pt idx="7">
                  <c:v>127.07</c:v>
                </c:pt>
                <c:pt idx="8">
                  <c:v>132.25</c:v>
                </c:pt>
              </c:numCache>
            </c:numRef>
          </c:val>
          <c:extLst>
            <c:ext xmlns:c16="http://schemas.microsoft.com/office/drawing/2014/chart" uri="{C3380CC4-5D6E-409C-BE32-E72D297353CC}">
              <c16:uniqueId val="{00000001-FD1F-4EE8-9651-052809BEF0C9}"/>
            </c:ext>
          </c:extLst>
        </c:ser>
        <c:dLbls>
          <c:showLegendKey val="0"/>
          <c:showVal val="0"/>
          <c:showCatName val="0"/>
          <c:showSerName val="0"/>
          <c:showPercent val="0"/>
          <c:showBubbleSize val="0"/>
        </c:dLbls>
        <c:gapWidth val="219"/>
        <c:overlap val="-27"/>
        <c:axId val="762750976"/>
        <c:axId val="762755136"/>
      </c:barChart>
      <c:catAx>
        <c:axId val="762750976"/>
        <c:scaling>
          <c:orientation val="minMax"/>
        </c:scaling>
        <c:delete val="0"/>
        <c:axPos val="b"/>
        <c:title>
          <c:tx>
            <c:rich>
              <a:bodyPr rot="0" spcFirstLastPara="1" vertOverflow="ellipsis" vert="horz" wrap="square" anchor="ctr" anchorCtr="1"/>
              <a:lstStyle/>
              <a:p>
                <a:pPr>
                  <a:defRPr sz="2400" b="0" i="0" u="none" strike="noStrike" kern="1200" baseline="0">
                    <a:solidFill>
                      <a:schemeClr val="tx1"/>
                    </a:solidFill>
                    <a:latin typeface="+mn-lt"/>
                    <a:ea typeface="+mn-ea"/>
                    <a:cs typeface="+mn-cs"/>
                  </a:defRPr>
                </a:pPr>
                <a:r>
                  <a:rPr lang="en-US"/>
                  <a:t>Age Category</a:t>
                </a:r>
              </a:p>
            </c:rich>
          </c:tx>
          <c:overlay val="0"/>
          <c:spPr>
            <a:noFill/>
            <a:ln>
              <a:noFill/>
            </a:ln>
            <a:effectLst/>
          </c:spPr>
          <c:txPr>
            <a:bodyPr rot="0" spcFirstLastPara="1" vertOverflow="ellipsis" vert="horz" wrap="square" anchor="ctr" anchorCtr="1"/>
            <a:lstStyle/>
            <a:p>
              <a:pPr>
                <a:defRPr sz="2400" b="0" i="0" u="none" strike="noStrike" kern="1200" baseline="0">
                  <a:solidFill>
                    <a:schemeClr val="tx1"/>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2400" b="0" i="0" u="none" strike="noStrike" kern="1200" baseline="0">
                <a:solidFill>
                  <a:schemeClr val="tx1"/>
                </a:solidFill>
                <a:latin typeface="+mn-lt"/>
                <a:ea typeface="+mn-ea"/>
                <a:cs typeface="+mn-cs"/>
              </a:defRPr>
            </a:pPr>
            <a:endParaRPr lang="en-US"/>
          </a:p>
        </c:txPr>
        <c:crossAx val="762755136"/>
        <c:crosses val="autoZero"/>
        <c:auto val="1"/>
        <c:lblAlgn val="ctr"/>
        <c:lblOffset val="100"/>
        <c:noMultiLvlLbl val="0"/>
      </c:catAx>
      <c:valAx>
        <c:axId val="762755136"/>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2400" b="0" i="0" u="none" strike="noStrike" kern="1200" baseline="0">
                    <a:solidFill>
                      <a:schemeClr val="tx1"/>
                    </a:solidFill>
                    <a:latin typeface="+mn-lt"/>
                    <a:ea typeface="+mn-ea"/>
                    <a:cs typeface="+mn-cs"/>
                  </a:defRPr>
                </a:pPr>
                <a:r>
                  <a:rPr lang="en-US"/>
                  <a:t>PKD Prevalence per 100,000</a:t>
                </a:r>
              </a:p>
            </c:rich>
          </c:tx>
          <c:overlay val="0"/>
          <c:spPr>
            <a:noFill/>
            <a:ln>
              <a:noFill/>
            </a:ln>
            <a:effectLst/>
          </c:spPr>
          <c:txPr>
            <a:bodyPr rot="-5400000" spcFirstLastPara="1" vertOverflow="ellipsis" vert="horz" wrap="square" anchor="ctr" anchorCtr="1"/>
            <a:lstStyle/>
            <a:p>
              <a:pPr>
                <a:defRPr sz="2400" b="0" i="0" u="none" strike="noStrike" kern="1200" baseline="0">
                  <a:solidFill>
                    <a:schemeClr val="tx1"/>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2400" b="0" i="0" u="none" strike="noStrike" kern="1200" baseline="0">
                <a:solidFill>
                  <a:schemeClr val="tx1"/>
                </a:solidFill>
                <a:latin typeface="+mn-lt"/>
                <a:ea typeface="+mn-ea"/>
                <a:cs typeface="+mn-cs"/>
              </a:defRPr>
            </a:pPr>
            <a:endParaRPr lang="en-US"/>
          </a:p>
        </c:txPr>
        <c:crossAx val="76275097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24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2400">
          <a:solidFill>
            <a:schemeClr val="tx1"/>
          </a:solidFill>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barChart>
        <c:barDir val="col"/>
        <c:grouping val="clustered"/>
        <c:varyColors val="0"/>
        <c:ser>
          <c:idx val="9"/>
          <c:order val="0"/>
          <c:tx>
            <c:strRef>
              <c:f>PKDPeriodPrevSex!$AN$29</c:f>
              <c:strCache>
                <c:ptCount val="1"/>
                <c:pt idx="0">
                  <c:v>2016-2018</c:v>
                </c:pt>
              </c:strCache>
            </c:strRef>
          </c:tx>
          <c:spPr>
            <a:solidFill>
              <a:schemeClr val="accent4">
                <a:lumMod val="60000"/>
              </a:schemeClr>
            </a:solidFill>
            <a:ln>
              <a:noFill/>
            </a:ln>
            <a:effectLst/>
          </c:spPr>
          <c:invertIfNegative val="0"/>
          <c:cat>
            <c:strRef>
              <c:f>PKDPeriodPrevSex!$AM$30:$AM$31</c:f>
              <c:strCache>
                <c:ptCount val="2"/>
                <c:pt idx="0">
                  <c:v>Female</c:v>
                </c:pt>
                <c:pt idx="1">
                  <c:v>Male</c:v>
                </c:pt>
              </c:strCache>
            </c:strRef>
          </c:cat>
          <c:val>
            <c:numRef>
              <c:f>PKDPeriodPrevSex!$AN$30:$AN$31</c:f>
              <c:numCache>
                <c:formatCode>General</c:formatCode>
                <c:ptCount val="2"/>
                <c:pt idx="0">
                  <c:v>64.14</c:v>
                </c:pt>
                <c:pt idx="1">
                  <c:v>61.95</c:v>
                </c:pt>
              </c:numCache>
            </c:numRef>
          </c:val>
          <c:extLst>
            <c:ext xmlns:c16="http://schemas.microsoft.com/office/drawing/2014/chart" uri="{C3380CC4-5D6E-409C-BE32-E72D297353CC}">
              <c16:uniqueId val="{00000000-429E-4056-91D6-2DD167835FFC}"/>
            </c:ext>
          </c:extLst>
        </c:ser>
        <c:ser>
          <c:idx val="10"/>
          <c:order val="1"/>
          <c:tx>
            <c:strRef>
              <c:f>PKDPeriodPrevSex!$AO$29</c:f>
              <c:strCache>
                <c:ptCount val="1"/>
                <c:pt idx="0">
                  <c:v>2019-2021</c:v>
                </c:pt>
              </c:strCache>
            </c:strRef>
          </c:tx>
          <c:spPr>
            <a:solidFill>
              <a:schemeClr val="accent5">
                <a:lumMod val="60000"/>
              </a:schemeClr>
            </a:solidFill>
            <a:ln>
              <a:noFill/>
            </a:ln>
            <a:effectLst/>
          </c:spPr>
          <c:invertIfNegative val="0"/>
          <c:cat>
            <c:strRef>
              <c:f>PKDPeriodPrevSex!$AM$30:$AM$31</c:f>
              <c:strCache>
                <c:ptCount val="2"/>
                <c:pt idx="0">
                  <c:v>Female</c:v>
                </c:pt>
                <c:pt idx="1">
                  <c:v>Male</c:v>
                </c:pt>
              </c:strCache>
            </c:strRef>
          </c:cat>
          <c:val>
            <c:numRef>
              <c:f>PKDPeriodPrevSex!$AO$30:$AO$31</c:f>
              <c:numCache>
                <c:formatCode>General</c:formatCode>
                <c:ptCount val="2"/>
                <c:pt idx="0">
                  <c:v>53.05</c:v>
                </c:pt>
                <c:pt idx="1">
                  <c:v>47.73</c:v>
                </c:pt>
              </c:numCache>
            </c:numRef>
          </c:val>
          <c:extLst>
            <c:ext xmlns:c16="http://schemas.microsoft.com/office/drawing/2014/chart" uri="{C3380CC4-5D6E-409C-BE32-E72D297353CC}">
              <c16:uniqueId val="{00000001-429E-4056-91D6-2DD167835FFC}"/>
            </c:ext>
          </c:extLst>
        </c:ser>
        <c:dLbls>
          <c:showLegendKey val="0"/>
          <c:showVal val="0"/>
          <c:showCatName val="0"/>
          <c:showSerName val="0"/>
          <c:showPercent val="0"/>
          <c:showBubbleSize val="0"/>
        </c:dLbls>
        <c:gapWidth val="150"/>
        <c:overlap val="-12"/>
        <c:axId val="1785061167"/>
        <c:axId val="1785060687"/>
        <c:extLst/>
      </c:barChart>
      <c:catAx>
        <c:axId val="178506116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2400" b="0" i="0" u="none" strike="noStrike" kern="1200" baseline="0">
                <a:solidFill>
                  <a:schemeClr val="tx1"/>
                </a:solidFill>
                <a:latin typeface="+mn-lt"/>
                <a:ea typeface="+mn-ea"/>
                <a:cs typeface="+mn-cs"/>
              </a:defRPr>
            </a:pPr>
            <a:endParaRPr lang="en-US"/>
          </a:p>
        </c:txPr>
        <c:crossAx val="1785060687"/>
        <c:crosses val="autoZero"/>
        <c:auto val="1"/>
        <c:lblAlgn val="ctr"/>
        <c:lblOffset val="100"/>
        <c:noMultiLvlLbl val="0"/>
      </c:catAx>
      <c:valAx>
        <c:axId val="1785060687"/>
        <c:scaling>
          <c:orientation val="minMax"/>
          <c:max val="100"/>
          <c:min val="0"/>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2400" b="0" i="0" u="none" strike="noStrike" kern="1200" baseline="0">
                    <a:solidFill>
                      <a:schemeClr val="tx1"/>
                    </a:solidFill>
                    <a:latin typeface="+mn-lt"/>
                    <a:ea typeface="+mn-ea"/>
                    <a:cs typeface="+mn-cs"/>
                  </a:defRPr>
                </a:pPr>
                <a:r>
                  <a:rPr lang="en-US"/>
                  <a:t>PKD Prevalence per 100,000</a:t>
                </a:r>
              </a:p>
            </c:rich>
          </c:tx>
          <c:overlay val="0"/>
          <c:spPr>
            <a:noFill/>
            <a:ln>
              <a:noFill/>
            </a:ln>
            <a:effectLst/>
          </c:spPr>
          <c:txPr>
            <a:bodyPr rot="-5400000" spcFirstLastPara="1" vertOverflow="ellipsis" vert="horz" wrap="square" anchor="ctr" anchorCtr="1"/>
            <a:lstStyle/>
            <a:p>
              <a:pPr>
                <a:defRPr sz="2400" b="0" i="0" u="none" strike="noStrike" kern="1200" baseline="0">
                  <a:solidFill>
                    <a:schemeClr val="tx1"/>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2400" b="0" i="0" u="none" strike="noStrike" kern="1200" baseline="0">
                <a:solidFill>
                  <a:schemeClr val="tx1"/>
                </a:solidFill>
                <a:latin typeface="+mn-lt"/>
                <a:ea typeface="+mn-ea"/>
                <a:cs typeface="+mn-cs"/>
              </a:defRPr>
            </a:pPr>
            <a:endParaRPr lang="en-US"/>
          </a:p>
        </c:txPr>
        <c:crossAx val="1785061167"/>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24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a:effectLst/>
  </c:spPr>
  <c:txPr>
    <a:bodyPr/>
    <a:lstStyle/>
    <a:p>
      <a:pPr>
        <a:defRPr sz="2400" b="0">
          <a:solidFill>
            <a:schemeClr val="tx1"/>
          </a:solidFill>
        </a:defRPr>
      </a:pPr>
      <a:endParaRPr lang="en-US"/>
    </a:p>
  </c:txPr>
  <c:externalData r:id="rId4">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barChart>
        <c:barDir val="col"/>
        <c:grouping val="clustered"/>
        <c:varyColors val="0"/>
        <c:ser>
          <c:idx val="9"/>
          <c:order val="0"/>
          <c:tx>
            <c:strRef>
              <c:f>PKDPeriodPrevSex!$AN$29</c:f>
              <c:strCache>
                <c:ptCount val="1"/>
                <c:pt idx="0">
                  <c:v>2016-2018</c:v>
                </c:pt>
              </c:strCache>
            </c:strRef>
          </c:tx>
          <c:spPr>
            <a:solidFill>
              <a:schemeClr val="accent4">
                <a:lumMod val="60000"/>
              </a:schemeClr>
            </a:solidFill>
            <a:ln>
              <a:noFill/>
            </a:ln>
            <a:effectLst/>
          </c:spPr>
          <c:invertIfNegative val="0"/>
          <c:cat>
            <c:strRef>
              <c:f>PKDPeriodPrevSex!$AM$38:$AM$39</c:f>
              <c:strCache>
                <c:ptCount val="2"/>
                <c:pt idx="0">
                  <c:v>Female</c:v>
                </c:pt>
                <c:pt idx="1">
                  <c:v>Male</c:v>
                </c:pt>
              </c:strCache>
            </c:strRef>
          </c:cat>
          <c:val>
            <c:numRef>
              <c:f>PKDPeriodPrevSex!$AN$38:$AN$39</c:f>
              <c:numCache>
                <c:formatCode>General</c:formatCode>
                <c:ptCount val="2"/>
                <c:pt idx="0">
                  <c:v>87.5</c:v>
                </c:pt>
                <c:pt idx="1">
                  <c:v>90.7</c:v>
                </c:pt>
              </c:numCache>
            </c:numRef>
          </c:val>
          <c:extLst>
            <c:ext xmlns:c16="http://schemas.microsoft.com/office/drawing/2014/chart" uri="{C3380CC4-5D6E-409C-BE32-E72D297353CC}">
              <c16:uniqueId val="{00000000-07BB-4517-9274-116CBBD50515}"/>
            </c:ext>
          </c:extLst>
        </c:ser>
        <c:ser>
          <c:idx val="10"/>
          <c:order val="1"/>
          <c:tx>
            <c:strRef>
              <c:f>PKDPeriodPrevSex!$AO$29</c:f>
              <c:strCache>
                <c:ptCount val="1"/>
                <c:pt idx="0">
                  <c:v>2019-2021</c:v>
                </c:pt>
              </c:strCache>
            </c:strRef>
          </c:tx>
          <c:spPr>
            <a:solidFill>
              <a:schemeClr val="accent5">
                <a:lumMod val="60000"/>
              </a:schemeClr>
            </a:solidFill>
            <a:ln>
              <a:noFill/>
            </a:ln>
            <a:effectLst/>
          </c:spPr>
          <c:invertIfNegative val="0"/>
          <c:cat>
            <c:strRef>
              <c:f>PKDPeriodPrevSex!$AM$38:$AM$39</c:f>
              <c:strCache>
                <c:ptCount val="2"/>
                <c:pt idx="0">
                  <c:v>Female</c:v>
                </c:pt>
                <c:pt idx="1">
                  <c:v>Male</c:v>
                </c:pt>
              </c:strCache>
            </c:strRef>
          </c:cat>
          <c:val>
            <c:numRef>
              <c:f>PKDPeriodPrevSex!$AO$38:$AO$39</c:f>
              <c:numCache>
                <c:formatCode>General</c:formatCode>
                <c:ptCount val="2"/>
                <c:pt idx="0">
                  <c:v>85</c:v>
                </c:pt>
                <c:pt idx="1">
                  <c:v>83.4</c:v>
                </c:pt>
              </c:numCache>
            </c:numRef>
          </c:val>
          <c:extLst>
            <c:ext xmlns:c16="http://schemas.microsoft.com/office/drawing/2014/chart" uri="{C3380CC4-5D6E-409C-BE32-E72D297353CC}">
              <c16:uniqueId val="{00000001-07BB-4517-9274-116CBBD50515}"/>
            </c:ext>
          </c:extLst>
        </c:ser>
        <c:dLbls>
          <c:showLegendKey val="0"/>
          <c:showVal val="0"/>
          <c:showCatName val="0"/>
          <c:showSerName val="0"/>
          <c:showPercent val="0"/>
          <c:showBubbleSize val="0"/>
        </c:dLbls>
        <c:gapWidth val="150"/>
        <c:overlap val="-12"/>
        <c:axId val="1785061167"/>
        <c:axId val="1785060687"/>
        <c:extLst/>
      </c:barChart>
      <c:catAx>
        <c:axId val="178506116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2400" b="0" i="0" u="none" strike="noStrike" kern="1200" baseline="0">
                <a:solidFill>
                  <a:schemeClr val="tx1"/>
                </a:solidFill>
                <a:latin typeface="+mn-lt"/>
                <a:ea typeface="+mn-ea"/>
                <a:cs typeface="+mn-cs"/>
              </a:defRPr>
            </a:pPr>
            <a:endParaRPr lang="en-US"/>
          </a:p>
        </c:txPr>
        <c:crossAx val="1785060687"/>
        <c:crosses val="autoZero"/>
        <c:auto val="1"/>
        <c:lblAlgn val="ctr"/>
        <c:lblOffset val="100"/>
        <c:noMultiLvlLbl val="0"/>
      </c:catAx>
      <c:valAx>
        <c:axId val="1785060687"/>
        <c:scaling>
          <c:orientation val="minMax"/>
          <c:min val="0"/>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2400" b="0" i="0" u="none" strike="noStrike" kern="1200" baseline="0">
                    <a:solidFill>
                      <a:schemeClr val="tx1"/>
                    </a:solidFill>
                    <a:latin typeface="+mn-lt"/>
                    <a:ea typeface="+mn-ea"/>
                    <a:cs typeface="+mn-cs"/>
                  </a:defRPr>
                </a:pPr>
                <a:r>
                  <a:rPr lang="en-US"/>
                  <a:t>PKD Prevalence per 100,000</a:t>
                </a:r>
              </a:p>
            </c:rich>
          </c:tx>
          <c:overlay val="0"/>
          <c:spPr>
            <a:noFill/>
            <a:ln>
              <a:noFill/>
            </a:ln>
            <a:effectLst/>
          </c:spPr>
          <c:txPr>
            <a:bodyPr rot="-5400000" spcFirstLastPara="1" vertOverflow="ellipsis" vert="horz" wrap="square" anchor="ctr" anchorCtr="1"/>
            <a:lstStyle/>
            <a:p>
              <a:pPr>
                <a:defRPr sz="2400" b="0" i="0" u="none" strike="noStrike" kern="1200" baseline="0">
                  <a:solidFill>
                    <a:schemeClr val="tx1"/>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2400" b="0" i="0" u="none" strike="noStrike" kern="1200" baseline="0">
                <a:solidFill>
                  <a:schemeClr val="tx1"/>
                </a:solidFill>
                <a:latin typeface="+mn-lt"/>
                <a:ea typeface="+mn-ea"/>
                <a:cs typeface="+mn-cs"/>
              </a:defRPr>
            </a:pPr>
            <a:endParaRPr lang="en-US"/>
          </a:p>
        </c:txPr>
        <c:crossAx val="1785061167"/>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24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a:effectLst/>
  </c:spPr>
  <c:txPr>
    <a:bodyPr/>
    <a:lstStyle/>
    <a:p>
      <a:pPr>
        <a:defRPr sz="2400" b="0">
          <a:solidFill>
            <a:schemeClr val="tx1"/>
          </a:solidFill>
        </a:defRPr>
      </a:pPr>
      <a:endParaRPr lang="en-US"/>
    </a:p>
  </c:txPr>
  <c:externalData r:id="rId4">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barChart>
        <c:barDir val="col"/>
        <c:grouping val="clustered"/>
        <c:varyColors val="0"/>
        <c:ser>
          <c:idx val="0"/>
          <c:order val="0"/>
          <c:tx>
            <c:strRef>
              <c:f>PKDPeriodPrevRace!$K$1</c:f>
              <c:strCache>
                <c:ptCount val="1"/>
                <c:pt idx="0">
                  <c:v>2016-2018</c:v>
                </c:pt>
              </c:strCache>
            </c:strRef>
          </c:tx>
          <c:spPr>
            <a:solidFill>
              <a:schemeClr val="accent1"/>
            </a:solidFill>
            <a:ln>
              <a:noFill/>
            </a:ln>
            <a:effectLst/>
          </c:spPr>
          <c:invertIfNegative val="0"/>
          <c:cat>
            <c:strRef>
              <c:f>PKDPeriodPrevRace!$J$2:$J$7</c:f>
              <c:strCache>
                <c:ptCount val="6"/>
                <c:pt idx="0">
                  <c:v>Asian American/Pacific Islander</c:v>
                </c:pt>
                <c:pt idx="1">
                  <c:v>Black</c:v>
                </c:pt>
                <c:pt idx="2">
                  <c:v>Native American/Alaska Native</c:v>
                </c:pt>
                <c:pt idx="3">
                  <c:v>White</c:v>
                </c:pt>
                <c:pt idx="4">
                  <c:v>Other</c:v>
                </c:pt>
                <c:pt idx="5">
                  <c:v>Unknown/Missing</c:v>
                </c:pt>
              </c:strCache>
            </c:strRef>
          </c:cat>
          <c:val>
            <c:numRef>
              <c:f>PKDPeriodPrevRace!$K$2:$K$7</c:f>
              <c:numCache>
                <c:formatCode>General</c:formatCode>
                <c:ptCount val="6"/>
                <c:pt idx="0">
                  <c:v>47.64</c:v>
                </c:pt>
                <c:pt idx="1">
                  <c:v>73.569999999999993</c:v>
                </c:pt>
                <c:pt idx="2">
                  <c:v>49.78</c:v>
                </c:pt>
                <c:pt idx="3">
                  <c:v>53.05</c:v>
                </c:pt>
                <c:pt idx="4">
                  <c:v>64.48</c:v>
                </c:pt>
                <c:pt idx="5">
                  <c:v>62.79</c:v>
                </c:pt>
              </c:numCache>
            </c:numRef>
          </c:val>
          <c:extLst>
            <c:ext xmlns:c16="http://schemas.microsoft.com/office/drawing/2014/chart" uri="{C3380CC4-5D6E-409C-BE32-E72D297353CC}">
              <c16:uniqueId val="{00000000-840D-4FDE-BCC7-08A09E05F3CD}"/>
            </c:ext>
          </c:extLst>
        </c:ser>
        <c:ser>
          <c:idx val="1"/>
          <c:order val="1"/>
          <c:tx>
            <c:strRef>
              <c:f>PKDPeriodPrevRace!$L$1</c:f>
              <c:strCache>
                <c:ptCount val="1"/>
                <c:pt idx="0">
                  <c:v>2019-2021</c:v>
                </c:pt>
              </c:strCache>
            </c:strRef>
          </c:tx>
          <c:spPr>
            <a:solidFill>
              <a:schemeClr val="accent2"/>
            </a:solidFill>
            <a:ln>
              <a:noFill/>
            </a:ln>
            <a:effectLst/>
          </c:spPr>
          <c:invertIfNegative val="0"/>
          <c:cat>
            <c:strRef>
              <c:f>PKDPeriodPrevRace!$J$2:$J$7</c:f>
              <c:strCache>
                <c:ptCount val="6"/>
                <c:pt idx="0">
                  <c:v>Asian American/Pacific Islander</c:v>
                </c:pt>
                <c:pt idx="1">
                  <c:v>Black</c:v>
                </c:pt>
                <c:pt idx="2">
                  <c:v>Native American/Alaska Native</c:v>
                </c:pt>
                <c:pt idx="3">
                  <c:v>White</c:v>
                </c:pt>
                <c:pt idx="4">
                  <c:v>Other</c:v>
                </c:pt>
                <c:pt idx="5">
                  <c:v>Unknown/Missing</c:v>
                </c:pt>
              </c:strCache>
            </c:strRef>
          </c:cat>
          <c:val>
            <c:numRef>
              <c:f>PKDPeriodPrevRace!$L$2:$L$7</c:f>
              <c:numCache>
                <c:formatCode>General</c:formatCode>
                <c:ptCount val="6"/>
                <c:pt idx="0">
                  <c:v>43.93</c:v>
                </c:pt>
                <c:pt idx="1">
                  <c:v>72.400000000000006</c:v>
                </c:pt>
                <c:pt idx="2">
                  <c:v>41.45</c:v>
                </c:pt>
                <c:pt idx="3">
                  <c:v>50.3</c:v>
                </c:pt>
                <c:pt idx="4">
                  <c:v>58.42</c:v>
                </c:pt>
                <c:pt idx="5">
                  <c:v>53.8</c:v>
                </c:pt>
              </c:numCache>
            </c:numRef>
          </c:val>
          <c:extLst>
            <c:ext xmlns:c16="http://schemas.microsoft.com/office/drawing/2014/chart" uri="{C3380CC4-5D6E-409C-BE32-E72D297353CC}">
              <c16:uniqueId val="{00000001-840D-4FDE-BCC7-08A09E05F3CD}"/>
            </c:ext>
          </c:extLst>
        </c:ser>
        <c:dLbls>
          <c:showLegendKey val="0"/>
          <c:showVal val="0"/>
          <c:showCatName val="0"/>
          <c:showSerName val="0"/>
          <c:showPercent val="0"/>
          <c:showBubbleSize val="0"/>
        </c:dLbls>
        <c:gapWidth val="219"/>
        <c:overlap val="-27"/>
        <c:axId val="457444336"/>
        <c:axId val="457446416"/>
      </c:barChart>
      <c:catAx>
        <c:axId val="4574443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800" b="0" i="0" u="none" strike="noStrike" kern="1200" baseline="0">
                <a:solidFill>
                  <a:schemeClr val="tx1"/>
                </a:solidFill>
                <a:latin typeface="+mn-lt"/>
                <a:ea typeface="+mn-ea"/>
                <a:cs typeface="+mn-cs"/>
              </a:defRPr>
            </a:pPr>
            <a:endParaRPr lang="en-US"/>
          </a:p>
        </c:txPr>
        <c:crossAx val="457446416"/>
        <c:crosses val="autoZero"/>
        <c:auto val="1"/>
        <c:lblAlgn val="ctr"/>
        <c:lblOffset val="100"/>
        <c:noMultiLvlLbl val="0"/>
      </c:catAx>
      <c:valAx>
        <c:axId val="457446416"/>
        <c:scaling>
          <c:orientation val="minMax"/>
          <c:max val="140"/>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2000" b="0" i="0" u="none" strike="noStrike" kern="1200" baseline="0">
                    <a:solidFill>
                      <a:schemeClr val="tx1"/>
                    </a:solidFill>
                    <a:latin typeface="+mn-lt"/>
                    <a:ea typeface="+mn-ea"/>
                    <a:cs typeface="+mn-cs"/>
                  </a:defRPr>
                </a:pPr>
                <a:r>
                  <a:rPr lang="en-US" sz="2000" dirty="0"/>
                  <a:t>PKD Prevalence per 100,000</a:t>
                </a:r>
              </a:p>
            </c:rich>
          </c:tx>
          <c:overlay val="0"/>
          <c:spPr>
            <a:noFill/>
            <a:ln>
              <a:noFill/>
            </a:ln>
            <a:effectLst/>
          </c:spPr>
          <c:txPr>
            <a:bodyPr rot="-5400000" spcFirstLastPara="1" vertOverflow="ellipsis" vert="horz" wrap="square" anchor="ctr" anchorCtr="1"/>
            <a:lstStyle/>
            <a:p>
              <a:pPr>
                <a:defRPr sz="2000" b="0" i="0" u="none" strike="noStrike" kern="1200" baseline="0">
                  <a:solidFill>
                    <a:schemeClr val="tx1"/>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800" b="0" i="0" u="none" strike="noStrike" kern="1200" baseline="0">
                <a:solidFill>
                  <a:schemeClr val="tx1"/>
                </a:solidFill>
                <a:latin typeface="+mn-lt"/>
                <a:ea typeface="+mn-ea"/>
                <a:cs typeface="+mn-cs"/>
              </a:defRPr>
            </a:pPr>
            <a:endParaRPr lang="en-US"/>
          </a:p>
        </c:txPr>
        <c:crossAx val="45744433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20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800">
          <a:solidFill>
            <a:schemeClr val="tx1"/>
          </a:solidFill>
        </a:defRPr>
      </a:pPr>
      <a:endParaRPr lang="en-US"/>
    </a:p>
  </c:txPr>
  <c:externalData r:id="rId4">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barChart>
        <c:barDir val="col"/>
        <c:grouping val="clustered"/>
        <c:varyColors val="0"/>
        <c:ser>
          <c:idx val="0"/>
          <c:order val="0"/>
          <c:tx>
            <c:strRef>
              <c:f>PKDPeriodPrevRace!$K$1</c:f>
              <c:strCache>
                <c:ptCount val="1"/>
                <c:pt idx="0">
                  <c:v>2016-2018</c:v>
                </c:pt>
              </c:strCache>
            </c:strRef>
          </c:tx>
          <c:spPr>
            <a:solidFill>
              <a:schemeClr val="accent1"/>
            </a:solidFill>
            <a:ln>
              <a:noFill/>
            </a:ln>
            <a:effectLst/>
          </c:spPr>
          <c:invertIfNegative val="0"/>
          <c:cat>
            <c:strRef>
              <c:f>PKDPeriodPrevRace!$J$11:$J$16</c:f>
              <c:strCache>
                <c:ptCount val="6"/>
                <c:pt idx="0">
                  <c:v>Asian American/Pacific Islander</c:v>
                </c:pt>
                <c:pt idx="1">
                  <c:v>Black</c:v>
                </c:pt>
                <c:pt idx="2">
                  <c:v>Native American/Alaska Native</c:v>
                </c:pt>
                <c:pt idx="3">
                  <c:v>White</c:v>
                </c:pt>
                <c:pt idx="4">
                  <c:v>Other</c:v>
                </c:pt>
                <c:pt idx="5">
                  <c:v>Unknown/Missing</c:v>
                </c:pt>
              </c:strCache>
            </c:strRef>
          </c:cat>
          <c:val>
            <c:numRef>
              <c:f>PKDPeriodPrevRace!$K$11:$K$16</c:f>
              <c:numCache>
                <c:formatCode>General</c:formatCode>
                <c:ptCount val="6"/>
                <c:pt idx="0">
                  <c:v>73.2</c:v>
                </c:pt>
                <c:pt idx="1">
                  <c:v>129.80000000000001</c:v>
                </c:pt>
                <c:pt idx="2">
                  <c:v>56.6</c:v>
                </c:pt>
                <c:pt idx="3">
                  <c:v>82.9</c:v>
                </c:pt>
                <c:pt idx="4">
                  <c:v>88.9</c:v>
                </c:pt>
                <c:pt idx="5">
                  <c:v>86.5</c:v>
                </c:pt>
              </c:numCache>
            </c:numRef>
          </c:val>
          <c:extLst>
            <c:ext xmlns:c16="http://schemas.microsoft.com/office/drawing/2014/chart" uri="{C3380CC4-5D6E-409C-BE32-E72D297353CC}">
              <c16:uniqueId val="{00000000-D57F-449C-8D74-0CDE3605520E}"/>
            </c:ext>
          </c:extLst>
        </c:ser>
        <c:ser>
          <c:idx val="1"/>
          <c:order val="1"/>
          <c:tx>
            <c:strRef>
              <c:f>PKDPeriodPrevRace!$L$1</c:f>
              <c:strCache>
                <c:ptCount val="1"/>
                <c:pt idx="0">
                  <c:v>2019-2021</c:v>
                </c:pt>
              </c:strCache>
            </c:strRef>
          </c:tx>
          <c:spPr>
            <a:solidFill>
              <a:schemeClr val="accent2"/>
            </a:solidFill>
            <a:ln>
              <a:noFill/>
            </a:ln>
            <a:effectLst/>
          </c:spPr>
          <c:invertIfNegative val="0"/>
          <c:cat>
            <c:strRef>
              <c:f>PKDPeriodPrevRace!$J$11:$J$16</c:f>
              <c:strCache>
                <c:ptCount val="6"/>
                <c:pt idx="0">
                  <c:v>Asian American/Pacific Islander</c:v>
                </c:pt>
                <c:pt idx="1">
                  <c:v>Black</c:v>
                </c:pt>
                <c:pt idx="2">
                  <c:v>Native American/Alaska Native</c:v>
                </c:pt>
                <c:pt idx="3">
                  <c:v>White</c:v>
                </c:pt>
                <c:pt idx="4">
                  <c:v>Other</c:v>
                </c:pt>
                <c:pt idx="5">
                  <c:v>Unknown/Missing</c:v>
                </c:pt>
              </c:strCache>
            </c:strRef>
          </c:cat>
          <c:val>
            <c:numRef>
              <c:f>PKDPeriodPrevRace!$L$11:$L$16</c:f>
              <c:numCache>
                <c:formatCode>General</c:formatCode>
                <c:ptCount val="6"/>
                <c:pt idx="0">
                  <c:v>69.3</c:v>
                </c:pt>
                <c:pt idx="1">
                  <c:v>120.7</c:v>
                </c:pt>
                <c:pt idx="2">
                  <c:v>52.9</c:v>
                </c:pt>
                <c:pt idx="3">
                  <c:v>79.2</c:v>
                </c:pt>
                <c:pt idx="4">
                  <c:v>83.5</c:v>
                </c:pt>
                <c:pt idx="5">
                  <c:v>76.3</c:v>
                </c:pt>
              </c:numCache>
            </c:numRef>
          </c:val>
          <c:extLst>
            <c:ext xmlns:c16="http://schemas.microsoft.com/office/drawing/2014/chart" uri="{C3380CC4-5D6E-409C-BE32-E72D297353CC}">
              <c16:uniqueId val="{00000001-D57F-449C-8D74-0CDE3605520E}"/>
            </c:ext>
          </c:extLst>
        </c:ser>
        <c:dLbls>
          <c:showLegendKey val="0"/>
          <c:showVal val="0"/>
          <c:showCatName val="0"/>
          <c:showSerName val="0"/>
          <c:showPercent val="0"/>
          <c:showBubbleSize val="0"/>
        </c:dLbls>
        <c:gapWidth val="219"/>
        <c:overlap val="-27"/>
        <c:axId val="457444336"/>
        <c:axId val="457446416"/>
      </c:barChart>
      <c:catAx>
        <c:axId val="4574443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800" b="0" i="0" u="none" strike="noStrike" kern="1200" baseline="0">
                <a:solidFill>
                  <a:schemeClr val="tx1"/>
                </a:solidFill>
                <a:latin typeface="+mn-lt"/>
                <a:ea typeface="+mn-ea"/>
                <a:cs typeface="+mn-cs"/>
              </a:defRPr>
            </a:pPr>
            <a:endParaRPr lang="en-US"/>
          </a:p>
        </c:txPr>
        <c:crossAx val="457446416"/>
        <c:crosses val="autoZero"/>
        <c:auto val="1"/>
        <c:lblAlgn val="ctr"/>
        <c:lblOffset val="100"/>
        <c:noMultiLvlLbl val="0"/>
      </c:catAx>
      <c:valAx>
        <c:axId val="457446416"/>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2000" b="0" i="0" u="none" strike="noStrike" kern="1200" baseline="0">
                    <a:solidFill>
                      <a:schemeClr val="tx1"/>
                    </a:solidFill>
                    <a:latin typeface="+mn-lt"/>
                    <a:ea typeface="+mn-ea"/>
                    <a:cs typeface="+mn-cs"/>
                  </a:defRPr>
                </a:pPr>
                <a:r>
                  <a:rPr lang="en-US" sz="2000" dirty="0"/>
                  <a:t>PKD Prevalence per 100,000</a:t>
                </a:r>
              </a:p>
            </c:rich>
          </c:tx>
          <c:overlay val="0"/>
          <c:spPr>
            <a:noFill/>
            <a:ln>
              <a:noFill/>
            </a:ln>
            <a:effectLst/>
          </c:spPr>
          <c:txPr>
            <a:bodyPr rot="-5400000" spcFirstLastPara="1" vertOverflow="ellipsis" vert="horz" wrap="square" anchor="ctr" anchorCtr="1"/>
            <a:lstStyle/>
            <a:p>
              <a:pPr>
                <a:defRPr sz="2000" b="0" i="0" u="none" strike="noStrike" kern="1200" baseline="0">
                  <a:solidFill>
                    <a:schemeClr val="tx1"/>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800" b="0" i="0" u="none" strike="noStrike" kern="1200" baseline="0">
                <a:solidFill>
                  <a:schemeClr val="tx1"/>
                </a:solidFill>
                <a:latin typeface="+mn-lt"/>
                <a:ea typeface="+mn-ea"/>
                <a:cs typeface="+mn-cs"/>
              </a:defRPr>
            </a:pPr>
            <a:endParaRPr lang="en-US"/>
          </a:p>
        </c:txPr>
        <c:crossAx val="45744433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20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800">
          <a:solidFill>
            <a:schemeClr val="tx1"/>
          </a:solidFill>
        </a:defRPr>
      </a:pPr>
      <a:endParaRPr lang="en-US"/>
    </a:p>
  </c:txPr>
  <c:externalData r:id="rId4">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1B8449-2E43-4B34-AFB5-42CA0AD23BC4}"/>
              </a:ext>
            </a:extLst>
          </p:cNvPr>
          <p:cNvSpPr>
            <a:spLocks noGrp="1"/>
          </p:cNvSpPr>
          <p:nvPr>
            <p:ph type="ctrTitle"/>
          </p:nvPr>
        </p:nvSpPr>
        <p:spPr>
          <a:xfrm>
            <a:off x="426720" y="2178844"/>
            <a:ext cx="11338560" cy="1594369"/>
          </a:xfrm>
        </p:spPr>
        <p:txBody>
          <a:bodyPr anchor="b"/>
          <a:lstStyle>
            <a:lvl1pPr algn="ctr">
              <a:defRPr sz="4400" b="1"/>
            </a:lvl1pPr>
          </a:lstStyle>
          <a:p>
            <a:r>
              <a:rPr lang="en-US"/>
              <a:t>Click to edit Master title style</a:t>
            </a:r>
            <a:endParaRPr lang="en-US" dirty="0"/>
          </a:p>
        </p:txBody>
      </p:sp>
      <p:sp>
        <p:nvSpPr>
          <p:cNvPr id="3" name="Subtitle 2">
            <a:extLst>
              <a:ext uri="{FF2B5EF4-FFF2-40B4-BE49-F238E27FC236}">
                <a16:creationId xmlns:a16="http://schemas.microsoft.com/office/drawing/2014/main" id="{F866D807-1E0F-4F52-92E5-9827BB931C7D}"/>
              </a:ext>
            </a:extLst>
          </p:cNvPr>
          <p:cNvSpPr>
            <a:spLocks noGrp="1"/>
          </p:cNvSpPr>
          <p:nvPr>
            <p:ph type="subTitle" idx="1"/>
          </p:nvPr>
        </p:nvSpPr>
        <p:spPr>
          <a:xfrm>
            <a:off x="335280" y="3888828"/>
            <a:ext cx="11521440" cy="1881352"/>
          </a:xfrm>
        </p:spPr>
        <p:txBody>
          <a:bodyPr/>
          <a:lstStyle>
            <a:lvl1pPr marL="0" indent="0" algn="ctr">
              <a:buNone/>
              <a:defRPr sz="1800">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6770F046-36EC-4A13-89A5-0CC29AB4D81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1C4A129-0606-4903-A165-D0B38864ED64}"/>
              </a:ext>
            </a:extLst>
          </p:cNvPr>
          <p:cNvSpPr>
            <a:spLocks noGrp="1"/>
          </p:cNvSpPr>
          <p:nvPr>
            <p:ph type="sldNum" sz="quarter" idx="12"/>
          </p:nvPr>
        </p:nvSpPr>
        <p:spPr/>
        <p:txBody>
          <a:bodyPr/>
          <a:lstStyle/>
          <a:p>
            <a:fld id="{F8C051B4-D7E3-42F2-80BB-3A01ABB5C350}" type="slidenum">
              <a:rPr lang="en-US" smtClean="0"/>
              <a:t>‹#›</a:t>
            </a:fld>
            <a:endParaRPr lang="en-US"/>
          </a:p>
        </p:txBody>
      </p:sp>
      <p:pic>
        <p:nvPicPr>
          <p:cNvPr id="8" name="Picture 7" descr="A blue and white sign&#10;&#10;Description automatically generated">
            <a:extLst>
              <a:ext uri="{FF2B5EF4-FFF2-40B4-BE49-F238E27FC236}">
                <a16:creationId xmlns:a16="http://schemas.microsoft.com/office/drawing/2014/main" id="{EF8D5BE6-2B49-4430-B3CC-EC848085B2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25232" y="329025"/>
            <a:ext cx="7541536" cy="1828800"/>
          </a:xfrm>
          <a:prstGeom prst="rect">
            <a:avLst/>
          </a:prstGeom>
        </p:spPr>
      </p:pic>
    </p:spTree>
    <p:extLst>
      <p:ext uri="{BB962C8B-B14F-4D97-AF65-F5344CB8AC3E}">
        <p14:creationId xmlns:p14="http://schemas.microsoft.com/office/powerpoint/2010/main" val="32154329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D7F23F-F86B-41BA-A6AA-1A3F17EB387A}"/>
              </a:ext>
            </a:extLst>
          </p:cNvPr>
          <p:cNvSpPr>
            <a:spLocks noGrp="1"/>
          </p:cNvSpPr>
          <p:nvPr>
            <p:ph type="title"/>
          </p:nvPr>
        </p:nvSpPr>
        <p:spPr/>
        <p:txBody>
          <a:bodyPr/>
          <a:lstStyle>
            <a:lvl1pPr>
              <a:defRPr b="1"/>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1B79402-AB80-4C31-A14F-82C076FDEBC1}"/>
              </a:ext>
            </a:extLst>
          </p:cNvPr>
          <p:cNvSpPr>
            <a:spLocks noGrp="1"/>
          </p:cNvSpPr>
          <p:nvPr>
            <p:ph idx="1"/>
          </p:nvPr>
        </p:nvSpPr>
        <p:spPr>
          <a:xfrm>
            <a:off x="381000" y="1692937"/>
            <a:ext cx="11430000" cy="4572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6C6D2CB6-1D80-4081-86FB-B15DD03DA6FE}"/>
              </a:ext>
            </a:extLst>
          </p:cNvPr>
          <p:cNvSpPr>
            <a:spLocks noGrp="1"/>
          </p:cNvSpPr>
          <p:nvPr>
            <p:ph type="dt" sz="half" idx="10"/>
          </p:nvPr>
        </p:nvSpPr>
        <p:spPr/>
        <p:txBody>
          <a:bodyPr/>
          <a:lstStyle/>
          <a:p>
            <a:fld id="{63B88020-B7BD-4EF3-8055-6956E3859729}" type="datetimeFigureOut">
              <a:rPr lang="en-US" smtClean="0"/>
              <a:t>3/26/2026</a:t>
            </a:fld>
            <a:endParaRPr lang="en-US"/>
          </a:p>
        </p:txBody>
      </p:sp>
      <p:sp>
        <p:nvSpPr>
          <p:cNvPr id="5" name="Footer Placeholder 4">
            <a:extLst>
              <a:ext uri="{FF2B5EF4-FFF2-40B4-BE49-F238E27FC236}">
                <a16:creationId xmlns:a16="http://schemas.microsoft.com/office/drawing/2014/main" id="{13CCB740-D754-48D4-9589-4E1B5CCB6BE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58A1B60-B2EB-45FC-99A5-2CEE060FA1F5}"/>
              </a:ext>
            </a:extLst>
          </p:cNvPr>
          <p:cNvSpPr>
            <a:spLocks noGrp="1"/>
          </p:cNvSpPr>
          <p:nvPr>
            <p:ph type="sldNum" sz="quarter" idx="12"/>
          </p:nvPr>
        </p:nvSpPr>
        <p:spPr/>
        <p:txBody>
          <a:bodyPr/>
          <a:lstStyle/>
          <a:p>
            <a:fld id="{F8C051B4-D7E3-42F2-80BB-3A01ABB5C350}" type="slidenum">
              <a:rPr lang="en-US" smtClean="0"/>
              <a:t>‹#›</a:t>
            </a:fld>
            <a:endParaRPr lang="en-US"/>
          </a:p>
        </p:txBody>
      </p:sp>
      <p:pic>
        <p:nvPicPr>
          <p:cNvPr id="7" name="Picture 6" descr="A blue and white sign&#10;&#10;Description automatically generated">
            <a:extLst>
              <a:ext uri="{FF2B5EF4-FFF2-40B4-BE49-F238E27FC236}">
                <a16:creationId xmlns:a16="http://schemas.microsoft.com/office/drawing/2014/main" id="{CE5B4ECC-CA9A-4DD6-BBC4-5B5CA7B4199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8646" y="6082166"/>
            <a:ext cx="2639537" cy="640080"/>
          </a:xfrm>
          <a:prstGeom prst="rect">
            <a:avLst/>
          </a:prstGeom>
        </p:spPr>
      </p:pic>
    </p:spTree>
    <p:extLst>
      <p:ext uri="{BB962C8B-B14F-4D97-AF65-F5344CB8AC3E}">
        <p14:creationId xmlns:p14="http://schemas.microsoft.com/office/powerpoint/2010/main" val="17922060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E294DA-8682-47BA-801B-4A312533F171}"/>
              </a:ext>
            </a:extLst>
          </p:cNvPr>
          <p:cNvSpPr>
            <a:spLocks noGrp="1"/>
          </p:cNvSpPr>
          <p:nvPr>
            <p:ph type="title"/>
          </p:nvPr>
        </p:nvSpPr>
        <p:spPr>
          <a:xfrm>
            <a:off x="831850" y="1709738"/>
            <a:ext cx="10515600" cy="2852737"/>
          </a:xfrm>
        </p:spPr>
        <p:txBody>
          <a:bodyPr anchor="b"/>
          <a:lstStyle>
            <a:lvl1pPr>
              <a:defRPr sz="4400" b="1"/>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1C786CDE-F4D9-4130-9F65-C19EC77EE47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37EDE1F-53E5-4C5C-B1DC-D69BEDE4F8EB}"/>
              </a:ext>
            </a:extLst>
          </p:cNvPr>
          <p:cNvSpPr>
            <a:spLocks noGrp="1"/>
          </p:cNvSpPr>
          <p:nvPr>
            <p:ph type="dt" sz="half" idx="10"/>
          </p:nvPr>
        </p:nvSpPr>
        <p:spPr/>
        <p:txBody>
          <a:bodyPr/>
          <a:lstStyle/>
          <a:p>
            <a:fld id="{63B88020-B7BD-4EF3-8055-6956E3859729}" type="datetimeFigureOut">
              <a:rPr lang="en-US" smtClean="0"/>
              <a:t>3/26/2026</a:t>
            </a:fld>
            <a:endParaRPr lang="en-US"/>
          </a:p>
        </p:txBody>
      </p:sp>
      <p:sp>
        <p:nvSpPr>
          <p:cNvPr id="5" name="Footer Placeholder 4">
            <a:extLst>
              <a:ext uri="{FF2B5EF4-FFF2-40B4-BE49-F238E27FC236}">
                <a16:creationId xmlns:a16="http://schemas.microsoft.com/office/drawing/2014/main" id="{71F7E355-DA7E-4665-99AA-D633110898C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DBF42E0-1332-4ADF-BB40-D707772FEF90}"/>
              </a:ext>
            </a:extLst>
          </p:cNvPr>
          <p:cNvSpPr>
            <a:spLocks noGrp="1"/>
          </p:cNvSpPr>
          <p:nvPr>
            <p:ph type="sldNum" sz="quarter" idx="12"/>
          </p:nvPr>
        </p:nvSpPr>
        <p:spPr/>
        <p:txBody>
          <a:bodyPr/>
          <a:lstStyle/>
          <a:p>
            <a:fld id="{F8C051B4-D7E3-42F2-80BB-3A01ABB5C350}" type="slidenum">
              <a:rPr lang="en-US" smtClean="0"/>
              <a:t>‹#›</a:t>
            </a:fld>
            <a:endParaRPr lang="en-US"/>
          </a:p>
        </p:txBody>
      </p:sp>
      <p:pic>
        <p:nvPicPr>
          <p:cNvPr id="7" name="Picture 6" descr="A blue and white sign&#10;&#10;Description automatically generated">
            <a:extLst>
              <a:ext uri="{FF2B5EF4-FFF2-40B4-BE49-F238E27FC236}">
                <a16:creationId xmlns:a16="http://schemas.microsoft.com/office/drawing/2014/main" id="{021B1473-E230-4424-88C9-096E878C3A6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25232" y="329025"/>
            <a:ext cx="7541536" cy="1828800"/>
          </a:xfrm>
          <a:prstGeom prst="rect">
            <a:avLst/>
          </a:prstGeom>
        </p:spPr>
      </p:pic>
    </p:spTree>
    <p:extLst>
      <p:ext uri="{BB962C8B-B14F-4D97-AF65-F5344CB8AC3E}">
        <p14:creationId xmlns:p14="http://schemas.microsoft.com/office/powerpoint/2010/main" val="25285726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6B8B7E-E383-41B8-83DC-BCBAEFF2AF0F}"/>
              </a:ext>
            </a:extLst>
          </p:cNvPr>
          <p:cNvSpPr>
            <a:spLocks noGrp="1"/>
          </p:cNvSpPr>
          <p:nvPr>
            <p:ph type="title"/>
          </p:nvPr>
        </p:nvSpPr>
        <p:spPr/>
        <p:txBody>
          <a:bodyPr/>
          <a:lstStyle>
            <a:lvl1pPr>
              <a:defRPr b="1"/>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4334E0F6-218D-4666-93AB-CC5CB0352AA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1BB6129-B622-4C6C-9627-E2D34A72A10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E2E2F8A-DDB4-40D8-BC9A-9F8C601A10D7}"/>
              </a:ext>
            </a:extLst>
          </p:cNvPr>
          <p:cNvSpPr>
            <a:spLocks noGrp="1"/>
          </p:cNvSpPr>
          <p:nvPr>
            <p:ph type="dt" sz="half" idx="10"/>
          </p:nvPr>
        </p:nvSpPr>
        <p:spPr/>
        <p:txBody>
          <a:bodyPr/>
          <a:lstStyle/>
          <a:p>
            <a:fld id="{63B88020-B7BD-4EF3-8055-6956E3859729}" type="datetimeFigureOut">
              <a:rPr lang="en-US" smtClean="0"/>
              <a:t>3/26/2026</a:t>
            </a:fld>
            <a:endParaRPr lang="en-US"/>
          </a:p>
        </p:txBody>
      </p:sp>
      <p:sp>
        <p:nvSpPr>
          <p:cNvPr id="6" name="Footer Placeholder 5">
            <a:extLst>
              <a:ext uri="{FF2B5EF4-FFF2-40B4-BE49-F238E27FC236}">
                <a16:creationId xmlns:a16="http://schemas.microsoft.com/office/drawing/2014/main" id="{96ED8514-39E9-463F-9D6D-BA2F1E4B878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D5628B1-4B31-46D1-9943-288C2CFAA2D4}"/>
              </a:ext>
            </a:extLst>
          </p:cNvPr>
          <p:cNvSpPr>
            <a:spLocks noGrp="1"/>
          </p:cNvSpPr>
          <p:nvPr>
            <p:ph type="sldNum" sz="quarter" idx="12"/>
          </p:nvPr>
        </p:nvSpPr>
        <p:spPr/>
        <p:txBody>
          <a:bodyPr/>
          <a:lstStyle/>
          <a:p>
            <a:fld id="{F8C051B4-D7E3-42F2-80BB-3A01ABB5C350}" type="slidenum">
              <a:rPr lang="en-US" smtClean="0"/>
              <a:t>‹#›</a:t>
            </a:fld>
            <a:endParaRPr lang="en-US"/>
          </a:p>
        </p:txBody>
      </p:sp>
      <p:pic>
        <p:nvPicPr>
          <p:cNvPr id="8" name="Picture 7" descr="A blue and white sign&#10;&#10;Description automatically generated">
            <a:extLst>
              <a:ext uri="{FF2B5EF4-FFF2-40B4-BE49-F238E27FC236}">
                <a16:creationId xmlns:a16="http://schemas.microsoft.com/office/drawing/2014/main" id="{8EDFA2D4-658B-4CFA-90B4-6D3C81B1951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8646" y="6082166"/>
            <a:ext cx="2639537" cy="640080"/>
          </a:xfrm>
          <a:prstGeom prst="rect">
            <a:avLst/>
          </a:prstGeom>
        </p:spPr>
      </p:pic>
    </p:spTree>
    <p:extLst>
      <p:ext uri="{BB962C8B-B14F-4D97-AF65-F5344CB8AC3E}">
        <p14:creationId xmlns:p14="http://schemas.microsoft.com/office/powerpoint/2010/main" val="21640473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55F42C-D912-40D5-B069-2EBDDB21FDB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D4FE388-458A-4BFC-8B5B-E2338FA75A0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4E71131-2939-4333-BE32-6B971E6D912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7D687D6-AE10-483D-8497-199549CC3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EB0C9B6-845A-427D-8890-7FF14752BDD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E56D4DF-7BF9-4656-9E74-1978BF3C3BF5}"/>
              </a:ext>
            </a:extLst>
          </p:cNvPr>
          <p:cNvSpPr>
            <a:spLocks noGrp="1"/>
          </p:cNvSpPr>
          <p:nvPr>
            <p:ph type="dt" sz="half" idx="10"/>
          </p:nvPr>
        </p:nvSpPr>
        <p:spPr/>
        <p:txBody>
          <a:bodyPr/>
          <a:lstStyle/>
          <a:p>
            <a:fld id="{63B88020-B7BD-4EF3-8055-6956E3859729}" type="datetimeFigureOut">
              <a:rPr lang="en-US" smtClean="0"/>
              <a:t>3/26/2026</a:t>
            </a:fld>
            <a:endParaRPr lang="en-US"/>
          </a:p>
        </p:txBody>
      </p:sp>
      <p:sp>
        <p:nvSpPr>
          <p:cNvPr id="8" name="Footer Placeholder 7">
            <a:extLst>
              <a:ext uri="{FF2B5EF4-FFF2-40B4-BE49-F238E27FC236}">
                <a16:creationId xmlns:a16="http://schemas.microsoft.com/office/drawing/2014/main" id="{AF118974-B101-4E89-B490-F9C18CF5737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C7DF8C8-6B1A-46AB-B0B9-0B1486618107}"/>
              </a:ext>
            </a:extLst>
          </p:cNvPr>
          <p:cNvSpPr>
            <a:spLocks noGrp="1"/>
          </p:cNvSpPr>
          <p:nvPr>
            <p:ph type="sldNum" sz="quarter" idx="12"/>
          </p:nvPr>
        </p:nvSpPr>
        <p:spPr/>
        <p:txBody>
          <a:bodyPr/>
          <a:lstStyle/>
          <a:p>
            <a:fld id="{F8C051B4-D7E3-42F2-80BB-3A01ABB5C350}" type="slidenum">
              <a:rPr lang="en-US" smtClean="0"/>
              <a:t>‹#›</a:t>
            </a:fld>
            <a:endParaRPr lang="en-US"/>
          </a:p>
        </p:txBody>
      </p:sp>
      <p:pic>
        <p:nvPicPr>
          <p:cNvPr id="10" name="Picture 9" descr="A blue and white sign&#10;&#10;Description automatically generated">
            <a:extLst>
              <a:ext uri="{FF2B5EF4-FFF2-40B4-BE49-F238E27FC236}">
                <a16:creationId xmlns:a16="http://schemas.microsoft.com/office/drawing/2014/main" id="{288D87A5-8AAA-4E59-8F47-23DB04B752B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8646" y="6082166"/>
            <a:ext cx="2639537" cy="640080"/>
          </a:xfrm>
          <a:prstGeom prst="rect">
            <a:avLst/>
          </a:prstGeom>
        </p:spPr>
      </p:pic>
    </p:spTree>
    <p:extLst>
      <p:ext uri="{BB962C8B-B14F-4D97-AF65-F5344CB8AC3E}">
        <p14:creationId xmlns:p14="http://schemas.microsoft.com/office/powerpoint/2010/main" val="21022855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3592C9-40CD-4BC2-AA2D-942CC7600572}"/>
              </a:ext>
            </a:extLst>
          </p:cNvPr>
          <p:cNvSpPr>
            <a:spLocks noGrp="1"/>
          </p:cNvSpPr>
          <p:nvPr>
            <p:ph type="title"/>
          </p:nvPr>
        </p:nvSpPr>
        <p:spPr/>
        <p:txBody>
          <a:bodyPr/>
          <a:lstStyle>
            <a:lvl1pPr>
              <a:defRPr b="1"/>
            </a:lvl1p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7DC8478D-ABC5-4F57-99D5-D5C201F52D50}"/>
              </a:ext>
            </a:extLst>
          </p:cNvPr>
          <p:cNvSpPr>
            <a:spLocks noGrp="1"/>
          </p:cNvSpPr>
          <p:nvPr>
            <p:ph type="dt" sz="half" idx="10"/>
          </p:nvPr>
        </p:nvSpPr>
        <p:spPr/>
        <p:txBody>
          <a:bodyPr/>
          <a:lstStyle/>
          <a:p>
            <a:fld id="{63B88020-B7BD-4EF3-8055-6956E3859729}" type="datetimeFigureOut">
              <a:rPr lang="en-US" smtClean="0"/>
              <a:t>3/26/2026</a:t>
            </a:fld>
            <a:endParaRPr lang="en-US"/>
          </a:p>
        </p:txBody>
      </p:sp>
      <p:sp>
        <p:nvSpPr>
          <p:cNvPr id="4" name="Footer Placeholder 3">
            <a:extLst>
              <a:ext uri="{FF2B5EF4-FFF2-40B4-BE49-F238E27FC236}">
                <a16:creationId xmlns:a16="http://schemas.microsoft.com/office/drawing/2014/main" id="{1D8C8747-5D3F-46B5-985C-DAC1E17CE0C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50AA2AB-2FF6-44C7-A235-F093DF30CDB6}"/>
              </a:ext>
            </a:extLst>
          </p:cNvPr>
          <p:cNvSpPr>
            <a:spLocks noGrp="1"/>
          </p:cNvSpPr>
          <p:nvPr>
            <p:ph type="sldNum" sz="quarter" idx="12"/>
          </p:nvPr>
        </p:nvSpPr>
        <p:spPr/>
        <p:txBody>
          <a:bodyPr/>
          <a:lstStyle/>
          <a:p>
            <a:fld id="{F8C051B4-D7E3-42F2-80BB-3A01ABB5C350}" type="slidenum">
              <a:rPr lang="en-US" smtClean="0"/>
              <a:t>‹#›</a:t>
            </a:fld>
            <a:endParaRPr lang="en-US"/>
          </a:p>
        </p:txBody>
      </p:sp>
      <p:pic>
        <p:nvPicPr>
          <p:cNvPr id="6" name="Picture 5" descr="A blue and white sign&#10;&#10;Description automatically generated">
            <a:extLst>
              <a:ext uri="{FF2B5EF4-FFF2-40B4-BE49-F238E27FC236}">
                <a16:creationId xmlns:a16="http://schemas.microsoft.com/office/drawing/2014/main" id="{F220FB18-732D-4555-9511-BE496C6298E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8646" y="6082166"/>
            <a:ext cx="2639537" cy="640080"/>
          </a:xfrm>
          <a:prstGeom prst="rect">
            <a:avLst/>
          </a:prstGeom>
        </p:spPr>
      </p:pic>
    </p:spTree>
    <p:extLst>
      <p:ext uri="{BB962C8B-B14F-4D97-AF65-F5344CB8AC3E}">
        <p14:creationId xmlns:p14="http://schemas.microsoft.com/office/powerpoint/2010/main" val="8212003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A6F6823-A8E4-41B5-AABF-7E50AB944B96}"/>
              </a:ext>
            </a:extLst>
          </p:cNvPr>
          <p:cNvSpPr>
            <a:spLocks noGrp="1"/>
          </p:cNvSpPr>
          <p:nvPr>
            <p:ph type="dt" sz="half" idx="10"/>
          </p:nvPr>
        </p:nvSpPr>
        <p:spPr/>
        <p:txBody>
          <a:bodyPr/>
          <a:lstStyle/>
          <a:p>
            <a:fld id="{63B88020-B7BD-4EF3-8055-6956E3859729}" type="datetimeFigureOut">
              <a:rPr lang="en-US" smtClean="0"/>
              <a:t>3/26/2026</a:t>
            </a:fld>
            <a:endParaRPr lang="en-US"/>
          </a:p>
        </p:txBody>
      </p:sp>
      <p:sp>
        <p:nvSpPr>
          <p:cNvPr id="3" name="Footer Placeholder 2">
            <a:extLst>
              <a:ext uri="{FF2B5EF4-FFF2-40B4-BE49-F238E27FC236}">
                <a16:creationId xmlns:a16="http://schemas.microsoft.com/office/drawing/2014/main" id="{F2E33D15-14C9-4533-A0B2-E17FCF5BA5D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9E63C01-7C52-4C05-B87A-E55AEC070E05}"/>
              </a:ext>
            </a:extLst>
          </p:cNvPr>
          <p:cNvSpPr>
            <a:spLocks noGrp="1"/>
          </p:cNvSpPr>
          <p:nvPr>
            <p:ph type="sldNum" sz="quarter" idx="12"/>
          </p:nvPr>
        </p:nvSpPr>
        <p:spPr/>
        <p:txBody>
          <a:bodyPr/>
          <a:lstStyle/>
          <a:p>
            <a:fld id="{F8C051B4-D7E3-42F2-80BB-3A01ABB5C350}" type="slidenum">
              <a:rPr lang="en-US" smtClean="0"/>
              <a:t>‹#›</a:t>
            </a:fld>
            <a:endParaRPr lang="en-US"/>
          </a:p>
        </p:txBody>
      </p:sp>
      <p:pic>
        <p:nvPicPr>
          <p:cNvPr id="5" name="Picture 4" descr="A blue and white sign&#10;&#10;Description automatically generated">
            <a:extLst>
              <a:ext uri="{FF2B5EF4-FFF2-40B4-BE49-F238E27FC236}">
                <a16:creationId xmlns:a16="http://schemas.microsoft.com/office/drawing/2014/main" id="{1800F7B6-564D-454C-8D78-AAFB76F65D9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8646" y="6082166"/>
            <a:ext cx="2639537" cy="640080"/>
          </a:xfrm>
          <a:prstGeom prst="rect">
            <a:avLst/>
          </a:prstGeom>
        </p:spPr>
      </p:pic>
    </p:spTree>
    <p:extLst>
      <p:ext uri="{BB962C8B-B14F-4D97-AF65-F5344CB8AC3E}">
        <p14:creationId xmlns:p14="http://schemas.microsoft.com/office/powerpoint/2010/main" val="13293698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9A31D2-9A00-45DB-A47F-9F571777F24B}"/>
              </a:ext>
            </a:extLst>
          </p:cNvPr>
          <p:cNvSpPr>
            <a:spLocks noGrp="1"/>
          </p:cNvSpPr>
          <p:nvPr>
            <p:ph type="title"/>
          </p:nvPr>
        </p:nvSpPr>
        <p:spPr>
          <a:xfrm>
            <a:off x="839788" y="457200"/>
            <a:ext cx="3932237" cy="1600200"/>
          </a:xfrm>
        </p:spPr>
        <p:txBody>
          <a:bodyPr anchor="b"/>
          <a:lstStyle>
            <a:lvl1pPr>
              <a:defRPr sz="3200" b="1"/>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FBAAFDC-A042-4571-8E47-321A4016EE4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DDD1982-1467-44BE-898D-FDE749B7429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6D64EBC-62D2-4411-B172-EB0CAA250DF6}"/>
              </a:ext>
            </a:extLst>
          </p:cNvPr>
          <p:cNvSpPr>
            <a:spLocks noGrp="1"/>
          </p:cNvSpPr>
          <p:nvPr>
            <p:ph type="dt" sz="half" idx="10"/>
          </p:nvPr>
        </p:nvSpPr>
        <p:spPr/>
        <p:txBody>
          <a:bodyPr/>
          <a:lstStyle/>
          <a:p>
            <a:fld id="{63B88020-B7BD-4EF3-8055-6956E3859729}" type="datetimeFigureOut">
              <a:rPr lang="en-US" smtClean="0"/>
              <a:t>3/26/2026</a:t>
            </a:fld>
            <a:endParaRPr lang="en-US"/>
          </a:p>
        </p:txBody>
      </p:sp>
      <p:sp>
        <p:nvSpPr>
          <p:cNvPr id="6" name="Footer Placeholder 5">
            <a:extLst>
              <a:ext uri="{FF2B5EF4-FFF2-40B4-BE49-F238E27FC236}">
                <a16:creationId xmlns:a16="http://schemas.microsoft.com/office/drawing/2014/main" id="{BBD270BC-E6DC-49B9-94D8-2DFC8079D70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B201F3D-733C-4F46-80D5-9CEB970541BA}"/>
              </a:ext>
            </a:extLst>
          </p:cNvPr>
          <p:cNvSpPr>
            <a:spLocks noGrp="1"/>
          </p:cNvSpPr>
          <p:nvPr>
            <p:ph type="sldNum" sz="quarter" idx="12"/>
          </p:nvPr>
        </p:nvSpPr>
        <p:spPr/>
        <p:txBody>
          <a:bodyPr/>
          <a:lstStyle/>
          <a:p>
            <a:fld id="{F8C051B4-D7E3-42F2-80BB-3A01ABB5C350}" type="slidenum">
              <a:rPr lang="en-US" smtClean="0"/>
              <a:t>‹#›</a:t>
            </a:fld>
            <a:endParaRPr lang="en-US"/>
          </a:p>
        </p:txBody>
      </p:sp>
      <p:pic>
        <p:nvPicPr>
          <p:cNvPr id="8" name="Picture 7" descr="A blue and white sign&#10;&#10;Description automatically generated">
            <a:extLst>
              <a:ext uri="{FF2B5EF4-FFF2-40B4-BE49-F238E27FC236}">
                <a16:creationId xmlns:a16="http://schemas.microsoft.com/office/drawing/2014/main" id="{8AAFF090-4748-4CEB-82FE-B8DC75C44B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8646" y="6082166"/>
            <a:ext cx="2639537" cy="640080"/>
          </a:xfrm>
          <a:prstGeom prst="rect">
            <a:avLst/>
          </a:prstGeom>
        </p:spPr>
      </p:pic>
    </p:spTree>
    <p:extLst>
      <p:ext uri="{BB962C8B-B14F-4D97-AF65-F5344CB8AC3E}">
        <p14:creationId xmlns:p14="http://schemas.microsoft.com/office/powerpoint/2010/main" val="24377289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CE1E9C-B474-4962-83D4-0F95B2D059E2}"/>
              </a:ext>
            </a:extLst>
          </p:cNvPr>
          <p:cNvSpPr>
            <a:spLocks noGrp="1"/>
          </p:cNvSpPr>
          <p:nvPr>
            <p:ph type="title"/>
          </p:nvPr>
        </p:nvSpPr>
        <p:spPr>
          <a:xfrm>
            <a:off x="839788" y="457200"/>
            <a:ext cx="3932237" cy="1600200"/>
          </a:xfrm>
        </p:spPr>
        <p:txBody>
          <a:bodyPr anchor="b"/>
          <a:lstStyle>
            <a:lvl1pPr>
              <a:defRPr sz="3200" b="1"/>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64891AEC-7DE2-4B8B-BF1B-C9E9B2488DC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D628899-8ED1-47C9-90C3-9AB19FF89C6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AF948AA-B4CB-40C1-989C-1976A66839CC}"/>
              </a:ext>
            </a:extLst>
          </p:cNvPr>
          <p:cNvSpPr>
            <a:spLocks noGrp="1"/>
          </p:cNvSpPr>
          <p:nvPr>
            <p:ph type="dt" sz="half" idx="10"/>
          </p:nvPr>
        </p:nvSpPr>
        <p:spPr/>
        <p:txBody>
          <a:bodyPr/>
          <a:lstStyle/>
          <a:p>
            <a:fld id="{63B88020-B7BD-4EF3-8055-6956E3859729}" type="datetimeFigureOut">
              <a:rPr lang="en-US" smtClean="0"/>
              <a:t>3/26/2026</a:t>
            </a:fld>
            <a:endParaRPr lang="en-US"/>
          </a:p>
        </p:txBody>
      </p:sp>
      <p:sp>
        <p:nvSpPr>
          <p:cNvPr id="6" name="Footer Placeholder 5">
            <a:extLst>
              <a:ext uri="{FF2B5EF4-FFF2-40B4-BE49-F238E27FC236}">
                <a16:creationId xmlns:a16="http://schemas.microsoft.com/office/drawing/2014/main" id="{38FE994E-4C08-4134-AA8F-7F0FB57B4DB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5B27BB6-3A58-4F48-9C34-230B6476BC5B}"/>
              </a:ext>
            </a:extLst>
          </p:cNvPr>
          <p:cNvSpPr>
            <a:spLocks noGrp="1"/>
          </p:cNvSpPr>
          <p:nvPr>
            <p:ph type="sldNum" sz="quarter" idx="12"/>
          </p:nvPr>
        </p:nvSpPr>
        <p:spPr/>
        <p:txBody>
          <a:bodyPr/>
          <a:lstStyle/>
          <a:p>
            <a:fld id="{F8C051B4-D7E3-42F2-80BB-3A01ABB5C350}" type="slidenum">
              <a:rPr lang="en-US" smtClean="0"/>
              <a:t>‹#›</a:t>
            </a:fld>
            <a:endParaRPr lang="en-US"/>
          </a:p>
        </p:txBody>
      </p:sp>
      <p:pic>
        <p:nvPicPr>
          <p:cNvPr id="8" name="Picture 7" descr="A blue and white sign&#10;&#10;Description automatically generated">
            <a:extLst>
              <a:ext uri="{FF2B5EF4-FFF2-40B4-BE49-F238E27FC236}">
                <a16:creationId xmlns:a16="http://schemas.microsoft.com/office/drawing/2014/main" id="{6551F537-C48C-4D91-AF2C-B8593944862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8646" y="6082166"/>
            <a:ext cx="2639537" cy="640080"/>
          </a:xfrm>
          <a:prstGeom prst="rect">
            <a:avLst/>
          </a:prstGeom>
        </p:spPr>
      </p:pic>
    </p:spTree>
    <p:extLst>
      <p:ext uri="{BB962C8B-B14F-4D97-AF65-F5344CB8AC3E}">
        <p14:creationId xmlns:p14="http://schemas.microsoft.com/office/powerpoint/2010/main" val="18044196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EFE83A-2FF1-4212-A7D8-F2547F72354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3DF2CD3-4A3B-4BB5-A8C6-93515C840FF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8E1338-8E14-4E12-8514-B8F7581CAC2B}"/>
              </a:ext>
            </a:extLst>
          </p:cNvPr>
          <p:cNvSpPr>
            <a:spLocks noGrp="1"/>
          </p:cNvSpPr>
          <p:nvPr>
            <p:ph type="dt" sz="half" idx="10"/>
          </p:nvPr>
        </p:nvSpPr>
        <p:spPr/>
        <p:txBody>
          <a:bodyPr/>
          <a:lstStyle/>
          <a:p>
            <a:fld id="{63B88020-B7BD-4EF3-8055-6956E3859729}" type="datetimeFigureOut">
              <a:rPr lang="en-US" smtClean="0"/>
              <a:t>3/26/2026</a:t>
            </a:fld>
            <a:endParaRPr lang="en-US"/>
          </a:p>
        </p:txBody>
      </p:sp>
      <p:sp>
        <p:nvSpPr>
          <p:cNvPr id="5" name="Footer Placeholder 4">
            <a:extLst>
              <a:ext uri="{FF2B5EF4-FFF2-40B4-BE49-F238E27FC236}">
                <a16:creationId xmlns:a16="http://schemas.microsoft.com/office/drawing/2014/main" id="{F5344247-AED8-4BE5-97FF-55E5D290029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163D25E-9B75-4BDF-BE71-685AF58A3FFA}"/>
              </a:ext>
            </a:extLst>
          </p:cNvPr>
          <p:cNvSpPr>
            <a:spLocks noGrp="1"/>
          </p:cNvSpPr>
          <p:nvPr>
            <p:ph type="sldNum" sz="quarter" idx="12"/>
          </p:nvPr>
        </p:nvSpPr>
        <p:spPr/>
        <p:txBody>
          <a:bodyPr/>
          <a:lstStyle/>
          <a:p>
            <a:fld id="{F8C051B4-D7E3-42F2-80BB-3A01ABB5C350}" type="slidenum">
              <a:rPr lang="en-US" smtClean="0"/>
              <a:t>‹#›</a:t>
            </a:fld>
            <a:endParaRPr lang="en-US"/>
          </a:p>
        </p:txBody>
      </p:sp>
    </p:spTree>
    <p:extLst>
      <p:ext uri="{BB962C8B-B14F-4D97-AF65-F5344CB8AC3E}">
        <p14:creationId xmlns:p14="http://schemas.microsoft.com/office/powerpoint/2010/main" val="8843728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A555AC4-0A12-4AF2-BD32-F89BA4E329F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38311FD-96A5-4F2E-9CC1-A1537DF2F7B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5343FE6-D7D9-42A7-A93F-97596BFC81E6}"/>
              </a:ext>
            </a:extLst>
          </p:cNvPr>
          <p:cNvSpPr>
            <a:spLocks noGrp="1"/>
          </p:cNvSpPr>
          <p:nvPr>
            <p:ph type="dt" sz="half" idx="10"/>
          </p:nvPr>
        </p:nvSpPr>
        <p:spPr/>
        <p:txBody>
          <a:bodyPr/>
          <a:lstStyle/>
          <a:p>
            <a:fld id="{63B88020-B7BD-4EF3-8055-6956E3859729}" type="datetimeFigureOut">
              <a:rPr lang="en-US" smtClean="0"/>
              <a:t>3/26/2026</a:t>
            </a:fld>
            <a:endParaRPr lang="en-US"/>
          </a:p>
        </p:txBody>
      </p:sp>
      <p:sp>
        <p:nvSpPr>
          <p:cNvPr id="5" name="Footer Placeholder 4">
            <a:extLst>
              <a:ext uri="{FF2B5EF4-FFF2-40B4-BE49-F238E27FC236}">
                <a16:creationId xmlns:a16="http://schemas.microsoft.com/office/drawing/2014/main" id="{1F5A1973-370D-4668-BF90-3DBF1A43DC8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465534F-0704-4F83-B361-02989C4F3A05}"/>
              </a:ext>
            </a:extLst>
          </p:cNvPr>
          <p:cNvSpPr>
            <a:spLocks noGrp="1"/>
          </p:cNvSpPr>
          <p:nvPr>
            <p:ph type="sldNum" sz="quarter" idx="12"/>
          </p:nvPr>
        </p:nvSpPr>
        <p:spPr/>
        <p:txBody>
          <a:bodyPr/>
          <a:lstStyle/>
          <a:p>
            <a:fld id="{F8C051B4-D7E3-42F2-80BB-3A01ABB5C350}" type="slidenum">
              <a:rPr lang="en-US" smtClean="0"/>
              <a:t>‹#›</a:t>
            </a:fld>
            <a:endParaRPr lang="en-US"/>
          </a:p>
        </p:txBody>
      </p:sp>
    </p:spTree>
    <p:extLst>
      <p:ext uri="{BB962C8B-B14F-4D97-AF65-F5344CB8AC3E}">
        <p14:creationId xmlns:p14="http://schemas.microsoft.com/office/powerpoint/2010/main" val="29962589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E6A2EFD-5BC8-486D-AC05-C88192EE073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D28D6EF7-BE2E-44A6-A579-2EB131557AA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43E8898-A5C2-4AD9-9375-B6EEEF87461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B88020-B7BD-4EF3-8055-6956E3859729}" type="datetimeFigureOut">
              <a:rPr lang="en-US" smtClean="0"/>
              <a:t>3/26/2026</a:t>
            </a:fld>
            <a:endParaRPr lang="en-US"/>
          </a:p>
        </p:txBody>
      </p:sp>
      <p:sp>
        <p:nvSpPr>
          <p:cNvPr id="5" name="Footer Placeholder 4">
            <a:extLst>
              <a:ext uri="{FF2B5EF4-FFF2-40B4-BE49-F238E27FC236}">
                <a16:creationId xmlns:a16="http://schemas.microsoft.com/office/drawing/2014/main" id="{7FAFB22A-4D3A-4BD5-9047-B2647995E7F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786F5A4-D87B-4D75-B420-FEC8927543F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8C051B4-D7E3-42F2-80BB-3A01ABB5C350}" type="slidenum">
              <a:rPr lang="en-US" smtClean="0"/>
              <a:t>‹#›</a:t>
            </a:fld>
            <a:endParaRPr lang="en-US"/>
          </a:p>
        </p:txBody>
      </p:sp>
    </p:spTree>
    <p:extLst>
      <p:ext uri="{BB962C8B-B14F-4D97-AF65-F5344CB8AC3E}">
        <p14:creationId xmlns:p14="http://schemas.microsoft.com/office/powerpoint/2010/main" val="204983181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chart" Target="../charts/chart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51B5-64C5-4F90-B95B-DB9610D848BB}"/>
              </a:ext>
            </a:extLst>
          </p:cNvPr>
          <p:cNvSpPr>
            <a:spLocks noGrp="1"/>
          </p:cNvSpPr>
          <p:nvPr>
            <p:ph type="ctrTitle"/>
          </p:nvPr>
        </p:nvSpPr>
        <p:spPr/>
        <p:txBody>
          <a:bodyPr/>
          <a:lstStyle/>
          <a:p>
            <a:r>
              <a:rPr lang="en-US" dirty="0"/>
              <a:t>Trends in Prevalence of Polycystic Kidney Disease in the Military Health System </a:t>
            </a:r>
          </a:p>
        </p:txBody>
      </p:sp>
      <p:sp>
        <p:nvSpPr>
          <p:cNvPr id="3" name="Subtitle 2">
            <a:extLst>
              <a:ext uri="{FF2B5EF4-FFF2-40B4-BE49-F238E27FC236}">
                <a16:creationId xmlns:a16="http://schemas.microsoft.com/office/drawing/2014/main" id="{8CCFB09A-9C8A-4176-AC7B-4AE5BD11C414}"/>
              </a:ext>
            </a:extLst>
          </p:cNvPr>
          <p:cNvSpPr>
            <a:spLocks noGrp="1"/>
          </p:cNvSpPr>
          <p:nvPr>
            <p:ph type="subTitle" idx="1"/>
          </p:nvPr>
        </p:nvSpPr>
        <p:spPr/>
        <p:txBody>
          <a:bodyPr>
            <a:normAutofit fontScale="92500" lnSpcReduction="10000"/>
          </a:bodyPr>
          <a:lstStyle/>
          <a:p>
            <a:pPr algn="l"/>
            <a:r>
              <a:rPr lang="en-US" dirty="0"/>
              <a:t>The crude prevalence of Military Health System (MHS) beneficiaries with PKD ranged from 58 per 100,000 beneficiaries in 2016–2018 to 54 per 100,000 beneficiaries in 2019–2021. Prevalence of PKD was highest among adults aged ≥70 years for both time periods but higher for 2016–2018. Crude prevalence was highest among females. Crude and age-adjusted prevalence was highest among Black adults. Across all sex and race and ethnicity groups, prevalence was highest for 2016–2018. </a:t>
            </a:r>
          </a:p>
          <a:p>
            <a:pPr algn="l"/>
            <a:endParaRPr lang="en-US" dirty="0"/>
          </a:p>
          <a:p>
            <a:pPr algn="l"/>
            <a:r>
              <a:rPr lang="en-US" b="1" dirty="0"/>
              <a:t>Data Source: </a:t>
            </a:r>
            <a:r>
              <a:rPr lang="en-US" dirty="0"/>
              <a:t>DoD-MHS</a:t>
            </a:r>
            <a:endParaRPr lang="en-US" b="1" dirty="0"/>
          </a:p>
          <a:p>
            <a:pPr algn="l"/>
            <a:endParaRPr lang="en-US" dirty="0"/>
          </a:p>
          <a:p>
            <a:pPr algn="l"/>
            <a:endParaRPr lang="en-US" dirty="0"/>
          </a:p>
        </p:txBody>
      </p:sp>
    </p:spTree>
    <p:extLst>
      <p:ext uri="{BB962C8B-B14F-4D97-AF65-F5344CB8AC3E}">
        <p14:creationId xmlns:p14="http://schemas.microsoft.com/office/powerpoint/2010/main" val="24156817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E221B9-E432-4A8A-BBBA-41A3A2B936F8}"/>
              </a:ext>
            </a:extLst>
          </p:cNvPr>
          <p:cNvSpPr>
            <a:spLocks noGrp="1"/>
          </p:cNvSpPr>
          <p:nvPr>
            <p:ph type="title"/>
          </p:nvPr>
        </p:nvSpPr>
        <p:spPr>
          <a:xfrm>
            <a:off x="838200" y="365125"/>
            <a:ext cx="10515600" cy="1325563"/>
          </a:xfrm>
        </p:spPr>
        <p:txBody>
          <a:bodyPr anchor="ctr">
            <a:normAutofit/>
          </a:bodyPr>
          <a:lstStyle/>
          <a:p>
            <a:r>
              <a:rPr lang="en-US" dirty="0"/>
              <a:t>Trends in Prevalence of Polycystic Kidney Disease in the Military Health System, Overall</a:t>
            </a:r>
          </a:p>
        </p:txBody>
      </p:sp>
      <p:graphicFrame>
        <p:nvGraphicFramePr>
          <p:cNvPr id="7" name="Content Placeholder 6">
            <a:extLst>
              <a:ext uri="{FF2B5EF4-FFF2-40B4-BE49-F238E27FC236}">
                <a16:creationId xmlns:a16="http://schemas.microsoft.com/office/drawing/2014/main" id="{462F4FE5-BDFD-422A-9A0C-AFF99A98EC10}"/>
              </a:ext>
            </a:extLst>
          </p:cNvPr>
          <p:cNvGraphicFramePr>
            <a:graphicFrameLocks noGrp="1"/>
          </p:cNvGraphicFramePr>
          <p:nvPr>
            <p:ph idx="1"/>
            <p:extLst>
              <p:ext uri="{D42A27DB-BD31-4B8C-83A1-F6EECF244321}">
                <p14:modId xmlns:p14="http://schemas.microsoft.com/office/powerpoint/2010/main" val="1601575484"/>
              </p:ext>
            </p:extLst>
          </p:nvPr>
        </p:nvGraphicFramePr>
        <p:xfrm>
          <a:off x="381000" y="1690688"/>
          <a:ext cx="11430000" cy="4572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0816278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E221B9-E432-4A8A-BBBA-41A3A2B936F8}"/>
              </a:ext>
            </a:extLst>
          </p:cNvPr>
          <p:cNvSpPr>
            <a:spLocks noGrp="1"/>
          </p:cNvSpPr>
          <p:nvPr>
            <p:ph type="title"/>
          </p:nvPr>
        </p:nvSpPr>
        <p:spPr>
          <a:xfrm>
            <a:off x="838200" y="365125"/>
            <a:ext cx="10515600" cy="1325563"/>
          </a:xfrm>
        </p:spPr>
        <p:txBody>
          <a:bodyPr anchor="ctr">
            <a:normAutofit fontScale="90000"/>
          </a:bodyPr>
          <a:lstStyle/>
          <a:p>
            <a:r>
              <a:rPr lang="en-US" sz="4100" dirty="0"/>
              <a:t>Trends in Prevalence of Polycystic Kidney Disease in the Military Health System, Overall, Age Standardized</a:t>
            </a:r>
          </a:p>
        </p:txBody>
      </p:sp>
      <p:graphicFrame>
        <p:nvGraphicFramePr>
          <p:cNvPr id="6" name="Chart 5">
            <a:extLst>
              <a:ext uri="{FF2B5EF4-FFF2-40B4-BE49-F238E27FC236}">
                <a16:creationId xmlns:a16="http://schemas.microsoft.com/office/drawing/2014/main" id="{50716387-83BB-4B51-A9A2-0CDB31401C74}"/>
              </a:ext>
            </a:extLst>
          </p:cNvPr>
          <p:cNvGraphicFramePr>
            <a:graphicFrameLocks/>
          </p:cNvGraphicFramePr>
          <p:nvPr>
            <p:extLst>
              <p:ext uri="{D42A27DB-BD31-4B8C-83A1-F6EECF244321}">
                <p14:modId xmlns:p14="http://schemas.microsoft.com/office/powerpoint/2010/main" val="1816954422"/>
              </p:ext>
            </p:extLst>
          </p:nvPr>
        </p:nvGraphicFramePr>
        <p:xfrm>
          <a:off x="381000" y="1692937"/>
          <a:ext cx="11430000" cy="4572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2668127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E221B9-E432-4A8A-BBBA-41A3A2B936F8}"/>
              </a:ext>
            </a:extLst>
          </p:cNvPr>
          <p:cNvSpPr>
            <a:spLocks noGrp="1"/>
          </p:cNvSpPr>
          <p:nvPr>
            <p:ph type="title"/>
          </p:nvPr>
        </p:nvSpPr>
        <p:spPr>
          <a:xfrm>
            <a:off x="838200" y="365125"/>
            <a:ext cx="10515600" cy="1325563"/>
          </a:xfrm>
        </p:spPr>
        <p:txBody>
          <a:bodyPr anchor="ctr">
            <a:normAutofit/>
          </a:bodyPr>
          <a:lstStyle/>
          <a:p>
            <a:r>
              <a:rPr lang="en-US" sz="4100" dirty="0"/>
              <a:t>Trends in Prevalence of Polycystic Kidney Disease in the Military Health System, by Age</a:t>
            </a:r>
          </a:p>
        </p:txBody>
      </p:sp>
      <p:graphicFrame>
        <p:nvGraphicFramePr>
          <p:cNvPr id="5" name="Chart 4">
            <a:extLst>
              <a:ext uri="{FF2B5EF4-FFF2-40B4-BE49-F238E27FC236}">
                <a16:creationId xmlns:a16="http://schemas.microsoft.com/office/drawing/2014/main" id="{E03099AA-6A35-4F01-ACED-FAEF261E3EEB}"/>
              </a:ext>
            </a:extLst>
          </p:cNvPr>
          <p:cNvGraphicFramePr>
            <a:graphicFrameLocks/>
          </p:cNvGraphicFramePr>
          <p:nvPr>
            <p:extLst>
              <p:ext uri="{D42A27DB-BD31-4B8C-83A1-F6EECF244321}">
                <p14:modId xmlns:p14="http://schemas.microsoft.com/office/powerpoint/2010/main" val="1970676532"/>
              </p:ext>
            </p:extLst>
          </p:nvPr>
        </p:nvGraphicFramePr>
        <p:xfrm>
          <a:off x="381000" y="1692937"/>
          <a:ext cx="11430000" cy="4572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5320132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E221B9-E432-4A8A-BBBA-41A3A2B936F8}"/>
              </a:ext>
            </a:extLst>
          </p:cNvPr>
          <p:cNvSpPr>
            <a:spLocks noGrp="1"/>
          </p:cNvSpPr>
          <p:nvPr>
            <p:ph type="title"/>
          </p:nvPr>
        </p:nvSpPr>
        <p:spPr>
          <a:xfrm>
            <a:off x="838200" y="365125"/>
            <a:ext cx="11172290" cy="1325563"/>
          </a:xfrm>
        </p:spPr>
        <p:txBody>
          <a:bodyPr anchor="ctr">
            <a:normAutofit/>
          </a:bodyPr>
          <a:lstStyle/>
          <a:p>
            <a:r>
              <a:rPr lang="en-US" dirty="0"/>
              <a:t>Trends in Prevalence of Polycystic Kidney Disease in the Military Health System by Sex, Crude</a:t>
            </a:r>
          </a:p>
        </p:txBody>
      </p:sp>
      <p:graphicFrame>
        <p:nvGraphicFramePr>
          <p:cNvPr id="4" name="Chart 3">
            <a:extLst>
              <a:ext uri="{FF2B5EF4-FFF2-40B4-BE49-F238E27FC236}">
                <a16:creationId xmlns:a16="http://schemas.microsoft.com/office/drawing/2014/main" id="{F78E5499-0677-4C1D-8DAA-61464B5FA576}"/>
              </a:ext>
            </a:extLst>
          </p:cNvPr>
          <p:cNvGraphicFramePr>
            <a:graphicFrameLocks/>
          </p:cNvGraphicFramePr>
          <p:nvPr>
            <p:extLst>
              <p:ext uri="{D42A27DB-BD31-4B8C-83A1-F6EECF244321}">
                <p14:modId xmlns:p14="http://schemas.microsoft.com/office/powerpoint/2010/main" val="1983041798"/>
              </p:ext>
            </p:extLst>
          </p:nvPr>
        </p:nvGraphicFramePr>
        <p:xfrm>
          <a:off x="381000" y="1692937"/>
          <a:ext cx="11430000" cy="4572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9720943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E221B9-E432-4A8A-BBBA-41A3A2B936F8}"/>
              </a:ext>
            </a:extLst>
          </p:cNvPr>
          <p:cNvSpPr>
            <a:spLocks noGrp="1"/>
          </p:cNvSpPr>
          <p:nvPr>
            <p:ph type="title"/>
          </p:nvPr>
        </p:nvSpPr>
        <p:spPr>
          <a:xfrm>
            <a:off x="838200" y="365125"/>
            <a:ext cx="10972800" cy="1325563"/>
          </a:xfrm>
        </p:spPr>
        <p:txBody>
          <a:bodyPr anchor="ctr">
            <a:noAutofit/>
          </a:bodyPr>
          <a:lstStyle/>
          <a:p>
            <a:r>
              <a:rPr lang="en-US" sz="4000" dirty="0"/>
              <a:t>Trends in Prevalence of Polycystic Kidney Disease in the Military Health System by Sex, Age Standardized</a:t>
            </a:r>
          </a:p>
        </p:txBody>
      </p:sp>
      <p:graphicFrame>
        <p:nvGraphicFramePr>
          <p:cNvPr id="7" name="Chart 6">
            <a:extLst>
              <a:ext uri="{FF2B5EF4-FFF2-40B4-BE49-F238E27FC236}">
                <a16:creationId xmlns:a16="http://schemas.microsoft.com/office/drawing/2014/main" id="{A4248078-D1C0-4C11-9BFB-DB421BD54C9B}"/>
              </a:ext>
            </a:extLst>
          </p:cNvPr>
          <p:cNvGraphicFramePr>
            <a:graphicFrameLocks/>
          </p:cNvGraphicFramePr>
          <p:nvPr>
            <p:extLst>
              <p:ext uri="{D42A27DB-BD31-4B8C-83A1-F6EECF244321}">
                <p14:modId xmlns:p14="http://schemas.microsoft.com/office/powerpoint/2010/main" val="452000460"/>
              </p:ext>
            </p:extLst>
          </p:nvPr>
        </p:nvGraphicFramePr>
        <p:xfrm>
          <a:off x="381000" y="1692937"/>
          <a:ext cx="11430000" cy="4572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6866670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E221B9-E432-4A8A-BBBA-41A3A2B936F8}"/>
              </a:ext>
            </a:extLst>
          </p:cNvPr>
          <p:cNvSpPr>
            <a:spLocks noGrp="1"/>
          </p:cNvSpPr>
          <p:nvPr>
            <p:ph type="title"/>
          </p:nvPr>
        </p:nvSpPr>
        <p:spPr>
          <a:xfrm>
            <a:off x="838200" y="365125"/>
            <a:ext cx="10515600" cy="1325563"/>
          </a:xfrm>
        </p:spPr>
        <p:txBody>
          <a:bodyPr anchor="ctr">
            <a:normAutofit/>
          </a:bodyPr>
          <a:lstStyle/>
          <a:p>
            <a:r>
              <a:rPr lang="en-US" sz="3700"/>
              <a:t>Trends in Prevalence of Polycystic Kidney Disease in the Military Health System by Race/Ethnicity, Crude</a:t>
            </a:r>
          </a:p>
        </p:txBody>
      </p:sp>
      <p:graphicFrame>
        <p:nvGraphicFramePr>
          <p:cNvPr id="6" name="Chart 5">
            <a:extLst>
              <a:ext uri="{FF2B5EF4-FFF2-40B4-BE49-F238E27FC236}">
                <a16:creationId xmlns:a16="http://schemas.microsoft.com/office/drawing/2014/main" id="{95960FA6-7609-4ECF-AF29-DAC38522074A}"/>
              </a:ext>
            </a:extLst>
          </p:cNvPr>
          <p:cNvGraphicFramePr>
            <a:graphicFrameLocks/>
          </p:cNvGraphicFramePr>
          <p:nvPr>
            <p:extLst>
              <p:ext uri="{D42A27DB-BD31-4B8C-83A1-F6EECF244321}">
                <p14:modId xmlns:p14="http://schemas.microsoft.com/office/powerpoint/2010/main" val="1161175626"/>
              </p:ext>
            </p:extLst>
          </p:nvPr>
        </p:nvGraphicFramePr>
        <p:xfrm>
          <a:off x="381000" y="1692937"/>
          <a:ext cx="11430000" cy="4572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0076301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E221B9-E432-4A8A-BBBA-41A3A2B936F8}"/>
              </a:ext>
            </a:extLst>
          </p:cNvPr>
          <p:cNvSpPr>
            <a:spLocks noGrp="1"/>
          </p:cNvSpPr>
          <p:nvPr>
            <p:ph type="title"/>
          </p:nvPr>
        </p:nvSpPr>
        <p:spPr>
          <a:xfrm>
            <a:off x="838200" y="365125"/>
            <a:ext cx="10515600" cy="1325563"/>
          </a:xfrm>
        </p:spPr>
        <p:txBody>
          <a:bodyPr anchor="ctr">
            <a:normAutofit/>
          </a:bodyPr>
          <a:lstStyle/>
          <a:p>
            <a:r>
              <a:rPr lang="en-US" sz="3700"/>
              <a:t>Trends in Prevalence of Polycystic Kidney Disease in the Military Health System by Race/Ethnicity, Crude</a:t>
            </a:r>
          </a:p>
        </p:txBody>
      </p:sp>
      <p:graphicFrame>
        <p:nvGraphicFramePr>
          <p:cNvPr id="5" name="Chart 4">
            <a:extLst>
              <a:ext uri="{FF2B5EF4-FFF2-40B4-BE49-F238E27FC236}">
                <a16:creationId xmlns:a16="http://schemas.microsoft.com/office/drawing/2014/main" id="{20F4EC1C-7FA5-4C86-AFC0-D77F9FC25E7A}"/>
              </a:ext>
            </a:extLst>
          </p:cNvPr>
          <p:cNvGraphicFramePr>
            <a:graphicFrameLocks/>
          </p:cNvGraphicFramePr>
          <p:nvPr>
            <p:extLst>
              <p:ext uri="{D42A27DB-BD31-4B8C-83A1-F6EECF244321}">
                <p14:modId xmlns:p14="http://schemas.microsoft.com/office/powerpoint/2010/main" val="124914545"/>
              </p:ext>
            </p:extLst>
          </p:nvPr>
        </p:nvGraphicFramePr>
        <p:xfrm>
          <a:off x="381000" y="1692937"/>
          <a:ext cx="11430000" cy="4572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410401957"/>
      </p:ext>
    </p:extLst>
  </p:cSld>
  <p:clrMapOvr>
    <a:masterClrMapping/>
  </p:clrMapOvr>
</p:sld>
</file>

<file path=ppt/theme/theme1.xml><?xml version="1.0" encoding="utf-8"?>
<a:theme xmlns:a="http://schemas.openxmlformats.org/drawingml/2006/main" name="KDSS indicator downloads templat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PT template for KDSS indicator downloads" id="{5C6D22D6-B8C2-4CC9-8270-3716F03D486C}" vid="{6854CA39-71F8-4600-8AEC-7156B3C3DB8D}"/>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docProps/app.xml><?xml version="1.0" encoding="utf-8"?>
<Properties xmlns="http://schemas.openxmlformats.org/officeDocument/2006/extended-properties" xmlns:vt="http://schemas.openxmlformats.org/officeDocument/2006/docPropsVTypes">
  <TotalTime>49</TotalTime>
  <Words>242</Words>
  <Application>Microsoft Office PowerPoint</Application>
  <PresentationFormat>Widescreen</PresentationFormat>
  <Paragraphs>19</Paragraphs>
  <Slides>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Arial</vt:lpstr>
      <vt:lpstr>Calibri</vt:lpstr>
      <vt:lpstr>Calibri Light</vt:lpstr>
      <vt:lpstr>Open Sans</vt:lpstr>
      <vt:lpstr>KDSS indicator downloads template</vt:lpstr>
      <vt:lpstr>Trends in Prevalence of Polycystic Kidney Disease in the Military Health System </vt:lpstr>
      <vt:lpstr>Trends in Prevalence of Polycystic Kidney Disease in the Military Health System, Overall</vt:lpstr>
      <vt:lpstr>Trends in Prevalence of Polycystic Kidney Disease in the Military Health System, Overall, Age Standardized</vt:lpstr>
      <vt:lpstr>Trends in Prevalence of Polycystic Kidney Disease in the Military Health System, by Age</vt:lpstr>
      <vt:lpstr>Trends in Prevalence of Polycystic Kidney Disease in the Military Health System by Sex, Crude</vt:lpstr>
      <vt:lpstr>Trends in Prevalence of Polycystic Kidney Disease in the Military Health System by Sex, Age Standardized</vt:lpstr>
      <vt:lpstr>Trends in Prevalence of Polycystic Kidney Disease in the Military Health System by Race/Ethnicity, Crude</vt:lpstr>
      <vt:lpstr>Trends in Prevalence of Polycystic Kidney Disease in the Military Health System by Race/Ethnicity, Crude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Trends in Prevalence of Polycystic Kidney Disease in the Military Health System</dc:title>
  <dc:creator>Licon, Ana Laura</dc:creator>
  <cp:lastModifiedBy>Jun Park-Lee</cp:lastModifiedBy>
  <cp:revision>1</cp:revision>
  <dcterms:created xsi:type="dcterms:W3CDTF">2025-11-26T15:48:25Z</dcterms:created>
  <dcterms:modified xsi:type="dcterms:W3CDTF">2026-03-26T16:26:37Z</dcterms:modified>
</cp:coreProperties>
</file>