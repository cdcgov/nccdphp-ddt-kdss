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1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Override2.xml" ContentType="application/vnd.openxmlformats-officedocument.themeOverrid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theme/themeOverride3.xml" ContentType="application/vnd.openxmlformats-officedocument.themeOverrid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theme/themeOverride4.xml" ContentType="application/vnd.openxmlformats-officedocument.themeOverrid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theme/themeOverride5.xml" ContentType="application/vnd.openxmlformats-officedocument.themeOverrid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60" r:id="rId3"/>
    <p:sldId id="261" r:id="rId4"/>
    <p:sldId id="257" r:id="rId5"/>
    <p:sldId id="265" r:id="rId6"/>
    <p:sldId id="266" r:id="rId7"/>
    <p:sldId id="262" r:id="rId8"/>
    <p:sldId id="264" r:id="rId9"/>
    <p:sldId id="263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86E5C01-79D6-4C00-B85F-455552D05FD2}" v="10" dt="2025-10-17T20:44:14.290"/>
    <p1510:client id="{B8FF97DB-82B8-4FF4-A98F-995759DBCEF1}" v="12" dt="2025-10-17T19:39:07.299"/>
    <p1510:client id="{DCB07449-C7DF-4DB7-B43A-320A2FCCA54F}" v="40" dt="2025-10-17T19:58:00.10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974" autoAdjust="0"/>
  </p:normalViewPr>
  <p:slideViewPr>
    <p:cSldViewPr snapToGrid="0">
      <p:cViewPr varScale="1">
        <p:scale>
          <a:sx n="104" d="100"/>
          <a:sy n="104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jorie Biel" userId="1754441059_tp_dropbox_plus" providerId="OAuth2" clId="{DCB07449-C7DF-4DB7-B43A-320A2FCCA54F}"/>
    <pc:docChg chg="modSld">
      <pc:chgData name="Marjorie Biel" userId="1754441059_tp_dropbox_plus" providerId="OAuth2" clId="{DCB07449-C7DF-4DB7-B43A-320A2FCCA54F}" dt="2025-10-17T19:58:00.100" v="38" actId="255"/>
      <pc:docMkLst>
        <pc:docMk/>
      </pc:docMkLst>
      <pc:sldChg chg="addSp delSp modSp">
        <pc:chgData name="Marjorie Biel" userId="1754441059_tp_dropbox_plus" providerId="OAuth2" clId="{DCB07449-C7DF-4DB7-B43A-320A2FCCA54F}" dt="2025-10-17T19:54:49.572" v="29"/>
        <pc:sldMkLst>
          <pc:docMk/>
          <pc:sldMk cId="3456890435" sldId="257"/>
        </pc:sldMkLst>
        <pc:spChg chg="mod">
          <ac:chgData name="Marjorie Biel" userId="1754441059_tp_dropbox_plus" providerId="OAuth2" clId="{DCB07449-C7DF-4DB7-B43A-320A2FCCA54F}" dt="2025-10-17T19:54:49.572" v="29"/>
          <ac:spMkLst>
            <pc:docMk/>
            <pc:sldMk cId="3456890435" sldId="257"/>
            <ac:spMk id="2" creationId="{16EB64D9-18CA-1BE8-6278-30BF98AAC538}"/>
          </ac:spMkLst>
        </pc:spChg>
        <pc:spChg chg="del">
          <ac:chgData name="Marjorie Biel" userId="1754441059_tp_dropbox_plus" providerId="OAuth2" clId="{DCB07449-C7DF-4DB7-B43A-320A2FCCA54F}" dt="2025-10-17T19:45:18.997" v="11"/>
          <ac:spMkLst>
            <pc:docMk/>
            <pc:sldMk cId="3456890435" sldId="257"/>
            <ac:spMk id="4" creationId="{741EB141-94DE-DB1F-3579-583B155FFDDD}"/>
          </ac:spMkLst>
        </pc:spChg>
        <pc:graphicFrameChg chg="add mod">
          <ac:chgData name="Marjorie Biel" userId="1754441059_tp_dropbox_plus" providerId="OAuth2" clId="{DCB07449-C7DF-4DB7-B43A-320A2FCCA54F}" dt="2025-10-17T19:45:23.523" v="13" actId="207"/>
          <ac:graphicFrameMkLst>
            <pc:docMk/>
            <pc:sldMk cId="3456890435" sldId="257"/>
            <ac:graphicFrameMk id="5" creationId="{DE1E5DC9-6B2A-E0D0-79B5-28C30326874D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5:26.754" v="35"/>
        <pc:sldMkLst>
          <pc:docMk/>
          <pc:sldMk cId="3328073885" sldId="259"/>
        </pc:sldMkLst>
        <pc:spChg chg="mod">
          <ac:chgData name="Marjorie Biel" userId="1754441059_tp_dropbox_plus" providerId="OAuth2" clId="{DCB07449-C7DF-4DB7-B43A-320A2FCCA54F}" dt="2025-10-17T19:55:26.754" v="35"/>
          <ac:spMkLst>
            <pc:docMk/>
            <pc:sldMk cId="3328073885" sldId="259"/>
            <ac:spMk id="2" creationId="{88C86ECC-8356-BE3E-18DE-DF709DA06F02}"/>
          </ac:spMkLst>
        </pc:spChg>
        <pc:spChg chg="del">
          <ac:chgData name="Marjorie Biel" userId="1754441059_tp_dropbox_plus" providerId="OAuth2" clId="{DCB07449-C7DF-4DB7-B43A-320A2FCCA54F}" dt="2025-10-17T19:53:37.805" v="24"/>
          <ac:spMkLst>
            <pc:docMk/>
            <pc:sldMk cId="3328073885" sldId="259"/>
            <ac:spMk id="4" creationId="{121CDFCB-1842-29D2-F33D-D3607D55AC5D}"/>
          </ac:spMkLst>
        </pc:spChg>
        <pc:graphicFrameChg chg="add mod">
          <ac:chgData name="Marjorie Biel" userId="1754441059_tp_dropbox_plus" providerId="OAuth2" clId="{DCB07449-C7DF-4DB7-B43A-320A2FCCA54F}" dt="2025-10-17T19:54:03.290" v="26" actId="207"/>
          <ac:graphicFrameMkLst>
            <pc:docMk/>
            <pc:sldMk cId="3328073885" sldId="259"/>
            <ac:graphicFrameMk id="5" creationId="{8F9472B9-A58F-BFEF-0177-3496EF150C2E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44:09.101" v="10"/>
        <pc:sldMkLst>
          <pc:docMk/>
          <pc:sldMk cId="2130395085" sldId="260"/>
        </pc:sldMkLst>
        <pc:spChg chg="del">
          <ac:chgData name="Marjorie Biel" userId="1754441059_tp_dropbox_plus" providerId="OAuth2" clId="{DCB07449-C7DF-4DB7-B43A-320A2FCCA54F}" dt="2025-10-17T19:42:25.701" v="0"/>
          <ac:spMkLst>
            <pc:docMk/>
            <pc:sldMk cId="2130395085" sldId="260"/>
            <ac:spMk id="4" creationId="{F808383F-996E-64A9-87B4-17BE644BBCE1}"/>
          </ac:spMkLst>
        </pc:spChg>
        <pc:spChg chg="del">
          <ac:chgData name="Marjorie Biel" userId="1754441059_tp_dropbox_plus" providerId="OAuth2" clId="{DCB07449-C7DF-4DB7-B43A-320A2FCCA54F}" dt="2025-10-17T19:43:57.431" v="7"/>
          <ac:spMkLst>
            <pc:docMk/>
            <pc:sldMk cId="2130395085" sldId="260"/>
            <ac:spMk id="8" creationId="{4E3B04CA-81BD-1D11-BA0B-9393451BDA2E}"/>
          </ac:spMkLst>
        </pc:spChg>
        <pc:graphicFrameChg chg="add mod">
          <ac:chgData name="Marjorie Biel" userId="1754441059_tp_dropbox_plus" providerId="OAuth2" clId="{DCB07449-C7DF-4DB7-B43A-320A2FCCA54F}" dt="2025-10-17T19:42:39.766" v="2" actId="207"/>
          <ac:graphicFrameMkLst>
            <pc:docMk/>
            <pc:sldMk cId="2130395085" sldId="260"/>
            <ac:graphicFrameMk id="6" creationId="{60EBDF24-2B43-AAAD-4F29-CACC4A4AE5E2}"/>
          </ac:graphicFrameMkLst>
        </pc:graphicFrameChg>
        <pc:graphicFrameChg chg="add mod">
          <ac:chgData name="Marjorie Biel" userId="1754441059_tp_dropbox_plus" providerId="OAuth2" clId="{DCB07449-C7DF-4DB7-B43A-320A2FCCA54F}" dt="2025-10-17T19:44:09.101" v="10"/>
          <ac:graphicFrameMkLst>
            <pc:docMk/>
            <pc:sldMk cId="2130395085" sldId="260"/>
            <ac:graphicFrameMk id="9" creationId="{79805F00-1108-1461-3611-7C61EE8DC0CC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4:35.854" v="28"/>
        <pc:sldMkLst>
          <pc:docMk/>
          <pc:sldMk cId="3481581774" sldId="261"/>
        </pc:sldMkLst>
        <pc:spChg chg="mod">
          <ac:chgData name="Marjorie Biel" userId="1754441059_tp_dropbox_plus" providerId="OAuth2" clId="{DCB07449-C7DF-4DB7-B43A-320A2FCCA54F}" dt="2025-10-17T19:54:35.854" v="28"/>
          <ac:spMkLst>
            <pc:docMk/>
            <pc:sldMk cId="3481581774" sldId="261"/>
            <ac:spMk id="2" creationId="{21606DC9-27BF-56F5-858F-661F83AC5010}"/>
          </ac:spMkLst>
        </pc:spChg>
        <pc:spChg chg="del">
          <ac:chgData name="Marjorie Biel" userId="1754441059_tp_dropbox_plus" providerId="OAuth2" clId="{DCB07449-C7DF-4DB7-B43A-320A2FCCA54F}" dt="2025-10-17T19:43:10.331" v="4"/>
          <ac:spMkLst>
            <pc:docMk/>
            <pc:sldMk cId="3481581774" sldId="261"/>
            <ac:spMk id="5" creationId="{E4C8C4FC-2E6C-D02E-DEB0-7DD5B74C3466}"/>
          </ac:spMkLst>
        </pc:spChg>
        <pc:graphicFrameChg chg="add mod">
          <ac:chgData name="Marjorie Biel" userId="1754441059_tp_dropbox_plus" providerId="OAuth2" clId="{DCB07449-C7DF-4DB7-B43A-320A2FCCA54F}" dt="2025-10-17T19:43:01.600" v="3"/>
          <ac:graphicFrameMkLst>
            <pc:docMk/>
            <pc:sldMk cId="3481581774" sldId="261"/>
            <ac:graphicFrameMk id="3" creationId="{8184E11A-3BE8-F6D2-53B0-246262607D8F}"/>
          </ac:graphicFrameMkLst>
        </pc:graphicFrameChg>
        <pc:graphicFrameChg chg="add mod">
          <ac:chgData name="Marjorie Biel" userId="1754441059_tp_dropbox_plus" providerId="OAuth2" clId="{DCB07449-C7DF-4DB7-B43A-320A2FCCA54F}" dt="2025-10-17T19:43:18.189" v="6"/>
          <ac:graphicFrameMkLst>
            <pc:docMk/>
            <pc:sldMk cId="3481581774" sldId="261"/>
            <ac:graphicFrameMk id="7" creationId="{BC80C3A3-EEAF-4A07-A0DE-A99EAA14FEC9}"/>
          </ac:graphicFrameMkLst>
        </pc:graphicFrameChg>
      </pc:sldChg>
      <pc:sldChg chg="modSp">
        <pc:chgData name="Marjorie Biel" userId="1754441059_tp_dropbox_plus" providerId="OAuth2" clId="{DCB07449-C7DF-4DB7-B43A-320A2FCCA54F}" dt="2025-10-17T19:55:10.784" v="32"/>
        <pc:sldMkLst>
          <pc:docMk/>
          <pc:sldMk cId="2899031744" sldId="262"/>
        </pc:sldMkLst>
        <pc:spChg chg="mod">
          <ac:chgData name="Marjorie Biel" userId="1754441059_tp_dropbox_plus" providerId="OAuth2" clId="{DCB07449-C7DF-4DB7-B43A-320A2FCCA54F}" dt="2025-10-17T19:55:10.784" v="32"/>
          <ac:spMkLst>
            <pc:docMk/>
            <pc:sldMk cId="2899031744" sldId="262"/>
            <ac:spMk id="2" creationId="{981FE52F-24A9-E406-60D9-204CB41F2C2F}"/>
          </ac:spMkLst>
        </pc:spChg>
      </pc:sldChg>
      <pc:sldChg chg="addSp delSp modSp">
        <pc:chgData name="Marjorie Biel" userId="1754441059_tp_dropbox_plus" providerId="OAuth2" clId="{DCB07449-C7DF-4DB7-B43A-320A2FCCA54F}" dt="2025-10-17T19:55:20.304" v="34"/>
        <pc:sldMkLst>
          <pc:docMk/>
          <pc:sldMk cId="3796952798" sldId="263"/>
        </pc:sldMkLst>
        <pc:spChg chg="mod">
          <ac:chgData name="Marjorie Biel" userId="1754441059_tp_dropbox_plus" providerId="OAuth2" clId="{DCB07449-C7DF-4DB7-B43A-320A2FCCA54F}" dt="2025-10-17T19:55:20.304" v="34"/>
          <ac:spMkLst>
            <pc:docMk/>
            <pc:sldMk cId="3796952798" sldId="263"/>
            <ac:spMk id="2" creationId="{8873E7D1-8A9E-F5B8-28D7-38C40829D4EF}"/>
          </ac:spMkLst>
        </pc:spChg>
        <pc:spChg chg="del">
          <ac:chgData name="Marjorie Biel" userId="1754441059_tp_dropbox_plus" providerId="OAuth2" clId="{DCB07449-C7DF-4DB7-B43A-320A2FCCA54F}" dt="2025-10-17T19:51:11.094" v="20"/>
          <ac:spMkLst>
            <pc:docMk/>
            <pc:sldMk cId="3796952798" sldId="263"/>
            <ac:spMk id="4" creationId="{DAA8BED6-F567-3190-6059-4ABD2696396E}"/>
          </ac:spMkLst>
        </pc:spChg>
        <pc:graphicFrameChg chg="add mod">
          <ac:chgData name="Marjorie Biel" userId="1754441059_tp_dropbox_plus" providerId="OAuth2" clId="{DCB07449-C7DF-4DB7-B43A-320A2FCCA54F}" dt="2025-10-17T19:54:12.714" v="27" actId="255"/>
          <ac:graphicFrameMkLst>
            <pc:docMk/>
            <pc:sldMk cId="3796952798" sldId="263"/>
            <ac:graphicFrameMk id="5" creationId="{6C720C82-87D2-109A-8D5D-A859119BB2EB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8:00.100" v="38" actId="255"/>
        <pc:sldMkLst>
          <pc:docMk/>
          <pc:sldMk cId="2924031880" sldId="264"/>
        </pc:sldMkLst>
        <pc:spChg chg="mod">
          <ac:chgData name="Marjorie Biel" userId="1754441059_tp_dropbox_plus" providerId="OAuth2" clId="{DCB07449-C7DF-4DB7-B43A-320A2FCCA54F}" dt="2025-10-17T19:55:15.932" v="33"/>
          <ac:spMkLst>
            <pc:docMk/>
            <pc:sldMk cId="2924031880" sldId="264"/>
            <ac:spMk id="2" creationId="{0E7113B2-A808-B641-796C-17E68BAC7A86}"/>
          </ac:spMkLst>
        </pc:spChg>
        <pc:spChg chg="del">
          <ac:chgData name="Marjorie Biel" userId="1754441059_tp_dropbox_plus" providerId="OAuth2" clId="{DCB07449-C7DF-4DB7-B43A-320A2FCCA54F}" dt="2025-10-17T19:57:55.810" v="36"/>
          <ac:spMkLst>
            <pc:docMk/>
            <pc:sldMk cId="2924031880" sldId="264"/>
            <ac:spMk id="4" creationId="{7D4F8295-8BB4-929B-68FD-B53CC8746F03}"/>
          </ac:spMkLst>
        </pc:spChg>
        <pc:graphicFrameChg chg="add mod">
          <ac:chgData name="Marjorie Biel" userId="1754441059_tp_dropbox_plus" providerId="OAuth2" clId="{DCB07449-C7DF-4DB7-B43A-320A2FCCA54F}" dt="2025-10-17T19:58:00.100" v="38" actId="255"/>
          <ac:graphicFrameMkLst>
            <pc:docMk/>
            <pc:sldMk cId="2924031880" sldId="264"/>
            <ac:graphicFrameMk id="6" creationId="{5A41E525-A323-F1A9-B86B-83199D56DEF9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4:59.699" v="30"/>
        <pc:sldMkLst>
          <pc:docMk/>
          <pc:sldMk cId="1756743347" sldId="265"/>
        </pc:sldMkLst>
        <pc:spChg chg="mod">
          <ac:chgData name="Marjorie Biel" userId="1754441059_tp_dropbox_plus" providerId="OAuth2" clId="{DCB07449-C7DF-4DB7-B43A-320A2FCCA54F}" dt="2025-10-17T19:54:59.699" v="30"/>
          <ac:spMkLst>
            <pc:docMk/>
            <pc:sldMk cId="1756743347" sldId="265"/>
            <ac:spMk id="2" creationId="{B1B7EE9E-F195-6165-92F7-0F8C6A235A34}"/>
          </ac:spMkLst>
        </pc:spChg>
        <pc:spChg chg="del">
          <ac:chgData name="Marjorie Biel" userId="1754441059_tp_dropbox_plus" providerId="OAuth2" clId="{DCB07449-C7DF-4DB7-B43A-320A2FCCA54F}" dt="2025-10-17T19:46:00.945" v="14"/>
          <ac:spMkLst>
            <pc:docMk/>
            <pc:sldMk cId="1756743347" sldId="265"/>
            <ac:spMk id="4" creationId="{B75F1643-53A6-D737-E4F4-68B0CBBB6545}"/>
          </ac:spMkLst>
        </pc:spChg>
        <pc:graphicFrameChg chg="add mod">
          <ac:chgData name="Marjorie Biel" userId="1754441059_tp_dropbox_plus" providerId="OAuth2" clId="{DCB07449-C7DF-4DB7-B43A-320A2FCCA54F}" dt="2025-10-17T19:46:06.585" v="16" actId="207"/>
          <ac:graphicFrameMkLst>
            <pc:docMk/>
            <pc:sldMk cId="1756743347" sldId="265"/>
            <ac:graphicFrameMk id="5" creationId="{9BED47DE-FC7F-3221-5B2B-CDD114CBB7AA}"/>
          </ac:graphicFrameMkLst>
        </pc:graphicFrameChg>
      </pc:sldChg>
      <pc:sldChg chg="addSp delSp modSp">
        <pc:chgData name="Marjorie Biel" userId="1754441059_tp_dropbox_plus" providerId="OAuth2" clId="{DCB07449-C7DF-4DB7-B43A-320A2FCCA54F}" dt="2025-10-17T19:55:05.259" v="31"/>
        <pc:sldMkLst>
          <pc:docMk/>
          <pc:sldMk cId="1558743291" sldId="266"/>
        </pc:sldMkLst>
        <pc:spChg chg="mod">
          <ac:chgData name="Marjorie Biel" userId="1754441059_tp_dropbox_plus" providerId="OAuth2" clId="{DCB07449-C7DF-4DB7-B43A-320A2FCCA54F}" dt="2025-10-17T19:55:05.259" v="31"/>
          <ac:spMkLst>
            <pc:docMk/>
            <pc:sldMk cId="1558743291" sldId="266"/>
            <ac:spMk id="2" creationId="{E7DB3076-1C04-4477-55D8-F1C8F69C8BE9}"/>
          </ac:spMkLst>
        </pc:spChg>
        <pc:spChg chg="del">
          <ac:chgData name="Marjorie Biel" userId="1754441059_tp_dropbox_plus" providerId="OAuth2" clId="{DCB07449-C7DF-4DB7-B43A-320A2FCCA54F}" dt="2025-10-17T19:47:06.320" v="17"/>
          <ac:spMkLst>
            <pc:docMk/>
            <pc:sldMk cId="1558743291" sldId="266"/>
            <ac:spMk id="4" creationId="{3C630B97-7689-F68B-419C-1E9F149CCECE}"/>
          </ac:spMkLst>
        </pc:spChg>
        <pc:graphicFrameChg chg="add mod">
          <ac:chgData name="Marjorie Biel" userId="1754441059_tp_dropbox_plus" providerId="OAuth2" clId="{DCB07449-C7DF-4DB7-B43A-320A2FCCA54F}" dt="2025-10-17T19:47:17.112" v="19" actId="207"/>
          <ac:graphicFrameMkLst>
            <pc:docMk/>
            <pc:sldMk cId="1558743291" sldId="266"/>
            <ac:graphicFrameMk id="5" creationId="{08B1FD14-0D49-DEF6-51B6-5A0FB291F733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4.xml"/><Relationship Id="rId1" Type="http://schemas.microsoft.com/office/2011/relationships/chartStyle" Target="style4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5.xml"/><Relationship Id="rId1" Type="http://schemas.microsoft.com/office/2011/relationships/chartStyle" Target="style5.xml"/><Relationship Id="rId4" Type="http://schemas.openxmlformats.org/officeDocument/2006/relationships/oleObject" Target="file:///C:\Users\alexkime\University%20of%20Michigan%20Dropbox\Alex%20Kime\CDC%20(2022-%20)\Website%20Redesign\2025%20Releases\Clearance%20Docs\Batch%203\KDSS%20Medications%20Output%20v2025-06-25%20with%20Age%20Standardization%20and%20Figures.xlsx" TargetMode="Externa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6.xml"/><Relationship Id="rId1" Type="http://schemas.microsoft.com/office/2011/relationships/chartStyle" Target="style6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5.xml"/><Relationship Id="rId2" Type="http://schemas.microsoft.com/office/2011/relationships/chartColorStyle" Target="colors7.xml"/><Relationship Id="rId1" Type="http://schemas.microsoft.com/office/2011/relationships/chartStyle" Target="style7.xml"/><Relationship Id="rId4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2025%20Releases\Clearance%20Docs\Batch%203\KDSS%20Medications%20Output%20v2025-06-25%20with%20Age%20Standardization%20and%20Figures.xlsx" TargetMode="External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DM-CKD by OVERALL'!$C$35</c:f>
              <c:strCache>
                <c:ptCount val="1"/>
                <c:pt idx="0">
                  <c:v>% ACEI/ARB Use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OVERALL'!$D$34:$K$34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OVERALL'!$D$35:$K$35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24-4C7F-A22A-B101EB38EBC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17550335"/>
        <c:axId val="1217547839"/>
      </c:lineChart>
      <c:catAx>
        <c:axId val="12175503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47839"/>
        <c:crosses val="autoZero"/>
        <c:auto val="1"/>
        <c:lblAlgn val="ctr"/>
        <c:lblOffset val="100"/>
        <c:noMultiLvlLbl val="0"/>
      </c:catAx>
      <c:valAx>
        <c:axId val="1217547839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503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'ACEI-ARB DM-CKD by OVERALL'!$C$41</c:f>
              <c:strCache>
                <c:ptCount val="1"/>
                <c:pt idx="0">
                  <c:v>% ACEI/ARB Use</c:v>
                </c:pt>
              </c:strCache>
            </c:strRef>
          </c:tx>
          <c:spPr>
            <a:ln w="44450" cap="rnd">
              <a:solidFill>
                <a:schemeClr val="tx1">
                  <a:alpha val="98000"/>
                </a:schemeClr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OVERALL'!$D$40:$K$40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OVERALL'!$D$41:$K$41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428-486B-B5B7-F66809F4164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17581535"/>
        <c:axId val="1217521631"/>
      </c:lineChart>
      <c:catAx>
        <c:axId val="12175815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21631"/>
        <c:crosses val="autoZero"/>
        <c:auto val="1"/>
        <c:lblAlgn val="ctr"/>
        <c:lblOffset val="100"/>
        <c:noMultiLvlLbl val="0"/>
      </c:catAx>
      <c:valAx>
        <c:axId val="1217521631"/>
        <c:scaling>
          <c:orientation val="minMax"/>
          <c:max val="9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</a:t>
                </a:r>
                <a:r>
                  <a:rPr lang="en-US" baseline="0" dirty="0"/>
                  <a:t> Use (%)</a:t>
                </a:r>
                <a:endParaRPr lang="en-US" dirty="0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1758153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4"/>
          <c:order val="0"/>
          <c:tx>
            <c:strRef>
              <c:f>'ACEI-ARB DM-CKD by Age'!$B$59</c:f>
              <c:strCache>
                <c:ptCount val="1"/>
                <c:pt idx="0">
                  <c:v>18-29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Age'!$C$59:$J$59</c:f>
              <c:numCache>
                <c:formatCode>General</c:formatCode>
                <c:ptCount val="8"/>
                <c:pt idx="0">
                  <c:v>34.53</c:v>
                </c:pt>
                <c:pt idx="1">
                  <c:v>34.36</c:v>
                </c:pt>
                <c:pt idx="2">
                  <c:v>31.65</c:v>
                </c:pt>
                <c:pt idx="3">
                  <c:v>33.76</c:v>
                </c:pt>
                <c:pt idx="4">
                  <c:v>30.85</c:v>
                </c:pt>
                <c:pt idx="5">
                  <c:v>29.9</c:v>
                </c:pt>
                <c:pt idx="6">
                  <c:v>31.2</c:v>
                </c:pt>
                <c:pt idx="7">
                  <c:v>31.1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02-4C96-A831-B43AC50D4A6B}"/>
            </c:ext>
          </c:extLst>
        </c:ser>
        <c:ser>
          <c:idx val="2"/>
          <c:order val="1"/>
          <c:tx>
            <c:strRef>
              <c:f>'ACEI-ARB DM-CKD by Age'!$B$60</c:f>
              <c:strCache>
                <c:ptCount val="1"/>
                <c:pt idx="0">
                  <c:v>30-39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Age'!$C$60:$J$60</c:f>
              <c:numCache>
                <c:formatCode>General</c:formatCode>
                <c:ptCount val="8"/>
                <c:pt idx="0">
                  <c:v>59.27</c:v>
                </c:pt>
                <c:pt idx="1">
                  <c:v>55.54</c:v>
                </c:pt>
                <c:pt idx="2">
                  <c:v>53.98</c:v>
                </c:pt>
                <c:pt idx="3">
                  <c:v>53.69</c:v>
                </c:pt>
                <c:pt idx="4">
                  <c:v>51.49</c:v>
                </c:pt>
                <c:pt idx="5">
                  <c:v>51.19</c:v>
                </c:pt>
                <c:pt idx="6">
                  <c:v>51.02</c:v>
                </c:pt>
                <c:pt idx="7">
                  <c:v>49.45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02-4C96-A831-B43AC50D4A6B}"/>
            </c:ext>
          </c:extLst>
        </c:ser>
        <c:ser>
          <c:idx val="1"/>
          <c:order val="2"/>
          <c:tx>
            <c:strRef>
              <c:f>'ACEI-ARB DM-CKD by Age'!$B$61</c:f>
              <c:strCache>
                <c:ptCount val="1"/>
                <c:pt idx="0">
                  <c:v>40-49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Age'!$C$61:$J$61</c:f>
              <c:numCache>
                <c:formatCode>General</c:formatCode>
                <c:ptCount val="8"/>
                <c:pt idx="0">
                  <c:v>73.010000000000005</c:v>
                </c:pt>
                <c:pt idx="1">
                  <c:v>72.58</c:v>
                </c:pt>
                <c:pt idx="2">
                  <c:v>71.92</c:v>
                </c:pt>
                <c:pt idx="3">
                  <c:v>69.5</c:v>
                </c:pt>
                <c:pt idx="4">
                  <c:v>68.05</c:v>
                </c:pt>
                <c:pt idx="5">
                  <c:v>66.91</c:v>
                </c:pt>
                <c:pt idx="6">
                  <c:v>66.849999999999994</c:v>
                </c:pt>
                <c:pt idx="7">
                  <c:v>67.23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02-4C96-A831-B43AC50D4A6B}"/>
            </c:ext>
          </c:extLst>
        </c:ser>
        <c:ser>
          <c:idx val="3"/>
          <c:order val="3"/>
          <c:tx>
            <c:strRef>
              <c:f>'ACEI-ARB DM-CKD by Age'!$B$62</c:f>
              <c:strCache>
                <c:ptCount val="1"/>
                <c:pt idx="0">
                  <c:v>50-59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Age'!$C$62:$J$62</c:f>
              <c:numCache>
                <c:formatCode>General</c:formatCode>
                <c:ptCount val="8"/>
                <c:pt idx="0">
                  <c:v>81.069999999999993</c:v>
                </c:pt>
                <c:pt idx="1">
                  <c:v>79.459999999999994</c:v>
                </c:pt>
                <c:pt idx="2">
                  <c:v>78.72</c:v>
                </c:pt>
                <c:pt idx="3">
                  <c:v>77.260000000000005</c:v>
                </c:pt>
                <c:pt idx="4">
                  <c:v>75.42</c:v>
                </c:pt>
                <c:pt idx="5">
                  <c:v>75.180000000000007</c:v>
                </c:pt>
                <c:pt idx="6">
                  <c:v>75.180000000000007</c:v>
                </c:pt>
                <c:pt idx="7">
                  <c:v>73.930000000000007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02-4C96-A831-B43AC50D4A6B}"/>
            </c:ext>
          </c:extLst>
        </c:ser>
        <c:ser>
          <c:idx val="5"/>
          <c:order val="4"/>
          <c:tx>
            <c:strRef>
              <c:f>'ACEI-ARB DM-CKD by Age'!$B$63</c:f>
              <c:strCache>
                <c:ptCount val="1"/>
                <c:pt idx="0">
                  <c:v>60-69 years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Age'!$C$63:$J$63</c:f>
              <c:numCache>
                <c:formatCode>General</c:formatCode>
                <c:ptCount val="8"/>
                <c:pt idx="0">
                  <c:v>84.14</c:v>
                </c:pt>
                <c:pt idx="1">
                  <c:v>82.98</c:v>
                </c:pt>
                <c:pt idx="2">
                  <c:v>82.56</c:v>
                </c:pt>
                <c:pt idx="3">
                  <c:v>81.319999999999993</c:v>
                </c:pt>
                <c:pt idx="4">
                  <c:v>80.58</c:v>
                </c:pt>
                <c:pt idx="5">
                  <c:v>79.78</c:v>
                </c:pt>
                <c:pt idx="6">
                  <c:v>79.45</c:v>
                </c:pt>
                <c:pt idx="7">
                  <c:v>79.180000000000007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02-4C96-A831-B43AC50D4A6B}"/>
            </c:ext>
          </c:extLst>
        </c:ser>
        <c:ser>
          <c:idx val="6"/>
          <c:order val="5"/>
          <c:tx>
            <c:strRef>
              <c:f>'ACEI-ARB DM-CKD by Age'!$B$64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chemeClr val="accent1">
                  <a:lumMod val="60000"/>
                </a:schemeClr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>
                  <a:lumMod val="60000"/>
                </a:schemeClr>
              </a:solidFill>
              <a:ln w="9525">
                <a:solidFill>
                  <a:schemeClr val="accent1">
                    <a:lumMod val="60000"/>
                  </a:schemeClr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Age'!$C$64:$J$64</c:f>
              <c:numCache>
                <c:formatCode>General</c:formatCode>
                <c:ptCount val="8"/>
                <c:pt idx="0">
                  <c:v>80.12</c:v>
                </c:pt>
                <c:pt idx="1">
                  <c:v>79.319999999999993</c:v>
                </c:pt>
                <c:pt idx="2">
                  <c:v>79.040000000000006</c:v>
                </c:pt>
                <c:pt idx="3">
                  <c:v>78.44</c:v>
                </c:pt>
                <c:pt idx="4">
                  <c:v>77.75</c:v>
                </c:pt>
                <c:pt idx="5">
                  <c:v>77.28</c:v>
                </c:pt>
                <c:pt idx="6">
                  <c:v>77.959999999999994</c:v>
                </c:pt>
                <c:pt idx="7">
                  <c:v>78.22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02-4C96-A831-B43AC50D4A6B}"/>
            </c:ext>
          </c:extLst>
        </c:ser>
        <c:ser>
          <c:idx val="0"/>
          <c:order val="6"/>
          <c:tx>
            <c:strRef>
              <c:f>'ACEI-ARB DM-CKD by Age'!$B$58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Age'!$C$57:$J$57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Age'!$C$58:$J$58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902-4C96-A831-B43AC50D4A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0211041119860019"/>
          <c:y val="0.79304418197725279"/>
          <c:w val="0.8780013998250219"/>
          <c:h val="0.1708447069116360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Sex'!$B$46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Sex'!$C$46:$J$46</c:f>
              <c:numCache>
                <c:formatCode>General</c:formatCode>
                <c:ptCount val="8"/>
                <c:pt idx="0">
                  <c:v>82.28</c:v>
                </c:pt>
                <c:pt idx="1">
                  <c:v>80.73</c:v>
                </c:pt>
                <c:pt idx="2">
                  <c:v>80.09</c:v>
                </c:pt>
                <c:pt idx="3">
                  <c:v>78.83</c:v>
                </c:pt>
                <c:pt idx="4">
                  <c:v>77.849999999999994</c:v>
                </c:pt>
                <c:pt idx="5">
                  <c:v>77.489999999999995</c:v>
                </c:pt>
                <c:pt idx="6">
                  <c:v>77.709999999999994</c:v>
                </c:pt>
                <c:pt idx="7">
                  <c:v>77.13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861-4469-95F6-C7AD2EC971BB}"/>
            </c:ext>
          </c:extLst>
        </c:ser>
        <c:ser>
          <c:idx val="4"/>
          <c:order val="1"/>
          <c:tx>
            <c:strRef>
              <c:f>'ACEI-ARB DM-CKD by Sex'!$B$45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Sex'!$C$45:$J$45</c:f>
              <c:numCache>
                <c:formatCode>General</c:formatCode>
                <c:ptCount val="8"/>
                <c:pt idx="0">
                  <c:v>78.19</c:v>
                </c:pt>
                <c:pt idx="1">
                  <c:v>77.55</c:v>
                </c:pt>
                <c:pt idx="2">
                  <c:v>77.180000000000007</c:v>
                </c:pt>
                <c:pt idx="3">
                  <c:v>76.2</c:v>
                </c:pt>
                <c:pt idx="4">
                  <c:v>75</c:v>
                </c:pt>
                <c:pt idx="5">
                  <c:v>74.400000000000006</c:v>
                </c:pt>
                <c:pt idx="6">
                  <c:v>74.56</c:v>
                </c:pt>
                <c:pt idx="7">
                  <c:v>74.87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861-4469-95F6-C7AD2EC971BB}"/>
            </c:ext>
          </c:extLst>
        </c:ser>
        <c:ser>
          <c:idx val="0"/>
          <c:order val="2"/>
          <c:tx>
            <c:strRef>
              <c:f>'ACEI-ARB DM-CKD by Sex'!$B$44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Sex'!$C$43:$J$43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Sex'!$C$44:$J$44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861-4469-95F6-C7AD2EC971B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lineChart>
        <c:grouping val="standard"/>
        <c:varyColors val="0"/>
        <c:ser>
          <c:idx val="2"/>
          <c:order val="0"/>
          <c:tx>
            <c:strRef>
              <c:f>'ACEI-ARB DM-CKD by Sex'!$B$57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Sex'!$C$57:$J$57</c:f>
              <c:numCache>
                <c:formatCode>0.00</c:formatCode>
                <c:ptCount val="8"/>
                <c:pt idx="0">
                  <c:v>75.122399999999999</c:v>
                </c:pt>
                <c:pt idx="1">
                  <c:v>72.219499999999996</c:v>
                </c:pt>
                <c:pt idx="2">
                  <c:v>70.9452</c:v>
                </c:pt>
                <c:pt idx="3">
                  <c:v>69.775199999999998</c:v>
                </c:pt>
                <c:pt idx="4">
                  <c:v>68.278700000000001</c:v>
                </c:pt>
                <c:pt idx="5">
                  <c:v>68.322599999999994</c:v>
                </c:pt>
                <c:pt idx="6">
                  <c:v>68.677300000000002</c:v>
                </c:pt>
                <c:pt idx="7">
                  <c:v>67.797899999999998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A4D-48E4-A694-4A63A6507414}"/>
            </c:ext>
          </c:extLst>
        </c:ser>
        <c:ser>
          <c:idx val="4"/>
          <c:order val="1"/>
          <c:tx>
            <c:strRef>
              <c:f>'ACEI-ARB DM-CKD by Sex'!$B$56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Sex'!$C$56:$J$56</c:f>
              <c:numCache>
                <c:formatCode>0.00</c:formatCode>
                <c:ptCount val="8"/>
                <c:pt idx="0">
                  <c:v>66.120900000000006</c:v>
                </c:pt>
                <c:pt idx="1">
                  <c:v>65.172499999999999</c:v>
                </c:pt>
                <c:pt idx="2">
                  <c:v>64.332700000000003</c:v>
                </c:pt>
                <c:pt idx="3">
                  <c:v>63.990099999999998</c:v>
                </c:pt>
                <c:pt idx="4">
                  <c:v>61.934399999999997</c:v>
                </c:pt>
                <c:pt idx="5">
                  <c:v>61.351599999999998</c:v>
                </c:pt>
                <c:pt idx="6">
                  <c:v>61.5443</c:v>
                </c:pt>
                <c:pt idx="7">
                  <c:v>61.199199999999998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A4D-48E4-A694-4A63A6507414}"/>
            </c:ext>
          </c:extLst>
        </c:ser>
        <c:ser>
          <c:idx val="0"/>
          <c:order val="2"/>
          <c:tx>
            <c:strRef>
              <c:f>'ACEI-ARB DM-CKD by Sex'!$B$55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Sex'!$C$54:$J$54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Sex'!$C$55:$J$55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A4D-48E4-A694-4A63A650741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algn="ctr" rtl="0"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algn="ctr" rtl="0"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506027996500437"/>
          <c:y val="5.457633420822397E-2"/>
          <c:w val="0.87271749781277341"/>
          <c:h val="0.59671128608923885"/>
        </c:manualLayout>
      </c:layout>
      <c:lineChart>
        <c:grouping val="standard"/>
        <c:varyColors val="0"/>
        <c:ser>
          <c:idx val="3"/>
          <c:order val="0"/>
          <c:tx>
            <c:strRef>
              <c:f>'ACEI-ARB DM-CKD by Race'!$B$69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Race'!$C$69:$J$69</c:f>
              <c:numCache>
                <c:formatCode>General</c:formatCode>
                <c:ptCount val="8"/>
                <c:pt idx="0">
                  <c:v>81.290000000000006</c:v>
                </c:pt>
                <c:pt idx="1">
                  <c:v>79.63</c:v>
                </c:pt>
                <c:pt idx="2">
                  <c:v>79.45</c:v>
                </c:pt>
                <c:pt idx="3">
                  <c:v>78.14</c:v>
                </c:pt>
                <c:pt idx="4">
                  <c:v>77.06</c:v>
                </c:pt>
                <c:pt idx="5">
                  <c:v>76.75</c:v>
                </c:pt>
                <c:pt idx="6">
                  <c:v>76.52</c:v>
                </c:pt>
                <c:pt idx="7">
                  <c:v>75.739999999999995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906-41F3-947A-594F7CC32F6B}"/>
            </c:ext>
          </c:extLst>
        </c:ser>
        <c:ser>
          <c:idx val="2"/>
          <c:order val="1"/>
          <c:tx>
            <c:strRef>
              <c:f>'ACEI-ARB DM-CKD by Race'!$B$67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Race'!$C$67:$J$67</c:f>
              <c:numCache>
                <c:formatCode>General</c:formatCode>
                <c:ptCount val="8"/>
                <c:pt idx="0">
                  <c:v>81.569999999999993</c:v>
                </c:pt>
                <c:pt idx="1">
                  <c:v>80.77</c:v>
                </c:pt>
                <c:pt idx="2">
                  <c:v>79.73</c:v>
                </c:pt>
                <c:pt idx="3">
                  <c:v>77.92</c:v>
                </c:pt>
                <c:pt idx="4">
                  <c:v>76.569999999999993</c:v>
                </c:pt>
                <c:pt idx="5">
                  <c:v>75.64</c:v>
                </c:pt>
                <c:pt idx="6">
                  <c:v>75.900000000000006</c:v>
                </c:pt>
                <c:pt idx="7">
                  <c:v>76.58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906-41F3-947A-594F7CC32F6B}"/>
            </c:ext>
          </c:extLst>
        </c:ser>
        <c:ser>
          <c:idx val="4"/>
          <c:order val="2"/>
          <c:tx>
            <c:strRef>
              <c:f>'ACEI-ARB DM-CKD by Race'!$B$66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Race'!$C$66:$J$66</c:f>
              <c:numCache>
                <c:formatCode>General</c:formatCode>
                <c:ptCount val="8"/>
                <c:pt idx="0">
                  <c:v>84.46</c:v>
                </c:pt>
                <c:pt idx="1">
                  <c:v>83.82</c:v>
                </c:pt>
                <c:pt idx="2">
                  <c:v>83.09</c:v>
                </c:pt>
                <c:pt idx="3">
                  <c:v>82.97</c:v>
                </c:pt>
                <c:pt idx="4">
                  <c:v>81.2</c:v>
                </c:pt>
                <c:pt idx="5">
                  <c:v>81.27</c:v>
                </c:pt>
                <c:pt idx="6">
                  <c:v>81.33</c:v>
                </c:pt>
                <c:pt idx="7">
                  <c:v>80.59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906-41F3-947A-594F7CC32F6B}"/>
            </c:ext>
          </c:extLst>
        </c:ser>
        <c:ser>
          <c:idx val="1"/>
          <c:order val="3"/>
          <c:tx>
            <c:strRef>
              <c:f>'ACEI-ARB DM-CKD by Race'!$B$68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Race'!$C$68:$J$68</c:f>
              <c:numCache>
                <c:formatCode>General</c:formatCode>
                <c:ptCount val="8"/>
                <c:pt idx="0">
                  <c:v>76.989999999999995</c:v>
                </c:pt>
                <c:pt idx="1">
                  <c:v>78.89</c:v>
                </c:pt>
                <c:pt idx="2">
                  <c:v>78.7</c:v>
                </c:pt>
                <c:pt idx="3">
                  <c:v>75.23</c:v>
                </c:pt>
                <c:pt idx="4">
                  <c:v>75.239999999999995</c:v>
                </c:pt>
                <c:pt idx="5">
                  <c:v>76.42</c:v>
                </c:pt>
                <c:pt idx="6">
                  <c:v>77.38</c:v>
                </c:pt>
                <c:pt idx="7">
                  <c:v>75.59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906-41F3-947A-594F7CC32F6B}"/>
            </c:ext>
          </c:extLst>
        </c:ser>
        <c:ser>
          <c:idx val="5"/>
          <c:order val="4"/>
          <c:tx>
            <c:strRef>
              <c:f>'ACEI-ARB DM-CKD by Race'!$B$70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Race'!$C$70:$J$70</c:f>
              <c:numCache>
                <c:formatCode>General</c:formatCode>
                <c:ptCount val="8"/>
                <c:pt idx="0">
                  <c:v>81.19</c:v>
                </c:pt>
                <c:pt idx="1">
                  <c:v>79.75</c:v>
                </c:pt>
                <c:pt idx="2">
                  <c:v>79.37</c:v>
                </c:pt>
                <c:pt idx="3">
                  <c:v>77.33</c:v>
                </c:pt>
                <c:pt idx="4">
                  <c:v>79.150000000000006</c:v>
                </c:pt>
                <c:pt idx="5">
                  <c:v>76.790000000000006</c:v>
                </c:pt>
                <c:pt idx="6">
                  <c:v>78.64</c:v>
                </c:pt>
                <c:pt idx="7">
                  <c:v>78.86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2906-41F3-947A-594F7CC32F6B}"/>
            </c:ext>
          </c:extLst>
        </c:ser>
        <c:ser>
          <c:idx val="0"/>
          <c:order val="5"/>
          <c:tx>
            <c:strRef>
              <c:f>'ACEI-ARB DM-CKD by Race'!$B$65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Race'!$C$64:$J$64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Race'!$C$65:$J$65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2906-41F3-947A-594F7CC32F6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2169728783902021E-4"/>
          <c:y val="0.76247725284339463"/>
          <c:w val="0.99804549431321088"/>
          <c:h val="0.2208560804899387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1506027996500437"/>
          <c:y val="5.457633420822397E-2"/>
          <c:w val="0.87271749781277341"/>
          <c:h val="0.59115573053368331"/>
        </c:manualLayout>
      </c:layout>
      <c:lineChart>
        <c:grouping val="standard"/>
        <c:varyColors val="0"/>
        <c:ser>
          <c:idx val="3"/>
          <c:order val="0"/>
          <c:tx>
            <c:strRef>
              <c:f>'ACEI-ARB DM-CKD by Race'!$B$81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Race'!$C$81:$J$81</c:f>
              <c:numCache>
                <c:formatCode>0.00</c:formatCode>
                <c:ptCount val="8"/>
                <c:pt idx="0">
                  <c:v>69.952399999999997</c:v>
                </c:pt>
                <c:pt idx="1">
                  <c:v>66.956199999999995</c:v>
                </c:pt>
                <c:pt idx="2">
                  <c:v>67.647099999999995</c:v>
                </c:pt>
                <c:pt idx="3">
                  <c:v>67.456000000000003</c:v>
                </c:pt>
                <c:pt idx="4">
                  <c:v>64.3245</c:v>
                </c:pt>
                <c:pt idx="5">
                  <c:v>64.559700000000007</c:v>
                </c:pt>
                <c:pt idx="6">
                  <c:v>63.687199999999997</c:v>
                </c:pt>
                <c:pt idx="7">
                  <c:v>61.824300000000001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772-4FBF-BB09-8583C4201241}"/>
            </c:ext>
          </c:extLst>
        </c:ser>
        <c:ser>
          <c:idx val="2"/>
          <c:order val="1"/>
          <c:tx>
            <c:strRef>
              <c:f>'ACEI-ARB DM-CKD by Race'!$B$79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Race'!$C$79:$J$79</c:f>
              <c:numCache>
                <c:formatCode>0.00</c:formatCode>
                <c:ptCount val="8"/>
                <c:pt idx="0">
                  <c:v>74.400599999999997</c:v>
                </c:pt>
                <c:pt idx="1">
                  <c:v>72.138999999999996</c:v>
                </c:pt>
                <c:pt idx="2">
                  <c:v>70.912999999999997</c:v>
                </c:pt>
                <c:pt idx="3">
                  <c:v>68.2303</c:v>
                </c:pt>
                <c:pt idx="4">
                  <c:v>65.436000000000007</c:v>
                </c:pt>
                <c:pt idx="5">
                  <c:v>65.505600000000001</c:v>
                </c:pt>
                <c:pt idx="6">
                  <c:v>65.090599999999995</c:v>
                </c:pt>
                <c:pt idx="7">
                  <c:v>66.027000000000001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772-4FBF-BB09-8583C4201241}"/>
            </c:ext>
          </c:extLst>
        </c:ser>
        <c:ser>
          <c:idx val="4"/>
          <c:order val="2"/>
          <c:tx>
            <c:strRef>
              <c:f>'ACEI-ARB DM-CKD by Race'!$B$78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Race'!$C$78:$J$78</c:f>
              <c:numCache>
                <c:formatCode>0.00</c:formatCode>
                <c:ptCount val="8"/>
                <c:pt idx="0">
                  <c:v>75.635599999999997</c:v>
                </c:pt>
                <c:pt idx="1">
                  <c:v>74.506600000000006</c:v>
                </c:pt>
                <c:pt idx="2">
                  <c:v>72.968900000000005</c:v>
                </c:pt>
                <c:pt idx="3">
                  <c:v>74.441699999999997</c:v>
                </c:pt>
                <c:pt idx="4">
                  <c:v>72.0488</c:v>
                </c:pt>
                <c:pt idx="5">
                  <c:v>71.778300000000002</c:v>
                </c:pt>
                <c:pt idx="6">
                  <c:v>70.253100000000003</c:v>
                </c:pt>
                <c:pt idx="7">
                  <c:v>70.968400000000003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772-4FBF-BB09-8583C4201241}"/>
            </c:ext>
          </c:extLst>
        </c:ser>
        <c:ser>
          <c:idx val="1"/>
          <c:order val="3"/>
          <c:tx>
            <c:strRef>
              <c:f>'ACEI-ARB DM-CKD by Race'!$B$80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Race'!$C$80:$J$80</c:f>
              <c:numCache>
                <c:formatCode>0.00</c:formatCode>
                <c:ptCount val="8"/>
                <c:pt idx="0">
                  <c:v>67.406599999999997</c:v>
                </c:pt>
                <c:pt idx="1">
                  <c:v>70.3964</c:v>
                </c:pt>
                <c:pt idx="2">
                  <c:v>70.825699999999998</c:v>
                </c:pt>
                <c:pt idx="3">
                  <c:v>67.105699999999999</c:v>
                </c:pt>
                <c:pt idx="4">
                  <c:v>65.942800000000005</c:v>
                </c:pt>
                <c:pt idx="5">
                  <c:v>63.511200000000002</c:v>
                </c:pt>
                <c:pt idx="6">
                  <c:v>64.953299999999999</c:v>
                </c:pt>
                <c:pt idx="7">
                  <c:v>62.256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772-4FBF-BB09-8583C4201241}"/>
            </c:ext>
          </c:extLst>
        </c:ser>
        <c:ser>
          <c:idx val="5"/>
          <c:order val="4"/>
          <c:tx>
            <c:strRef>
              <c:f>'ACEI-ARB DM-CKD by Race'!$B$82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Race'!$C$82:$J$82</c:f>
              <c:numCache>
                <c:formatCode>0.00</c:formatCode>
                <c:ptCount val="8"/>
                <c:pt idx="0">
                  <c:v>71.818399999999997</c:v>
                </c:pt>
                <c:pt idx="1">
                  <c:v>67.949399999999997</c:v>
                </c:pt>
                <c:pt idx="2">
                  <c:v>64.894599999999997</c:v>
                </c:pt>
                <c:pt idx="3">
                  <c:v>65.577799999999996</c:v>
                </c:pt>
                <c:pt idx="4">
                  <c:v>68.418000000000006</c:v>
                </c:pt>
                <c:pt idx="5">
                  <c:v>68.002700000000004</c:v>
                </c:pt>
                <c:pt idx="6">
                  <c:v>73.660200000000003</c:v>
                </c:pt>
                <c:pt idx="7">
                  <c:v>69.757599999999996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E772-4FBF-BB09-8583C4201241}"/>
            </c:ext>
          </c:extLst>
        </c:ser>
        <c:ser>
          <c:idx val="0"/>
          <c:order val="5"/>
          <c:tx>
            <c:strRef>
              <c:f>'ACEI-ARB DM-CKD by Race'!$B$77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Race'!$C$76:$J$76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Race'!$C$77:$J$77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E772-4FBF-BB09-8583C42012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24696704"/>
        <c:axId val="1024697664"/>
      </c:lineChart>
      <c:catAx>
        <c:axId val="1024696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7664"/>
        <c:crosses val="autoZero"/>
        <c:auto val="1"/>
        <c:lblAlgn val="ctr"/>
        <c:lblOffset val="100"/>
        <c:noMultiLvlLbl val="0"/>
      </c:catAx>
      <c:valAx>
        <c:axId val="1024697664"/>
        <c:scaling>
          <c:orientation val="minMax"/>
          <c:max val="10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0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  <a:prstDash val="sysDash"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246967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4.2169728783902021E-4"/>
          <c:y val="0.75136614173228344"/>
          <c:w val="0.99804549431321088"/>
          <c:h val="0.2319671916010498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/>
  </c:chart>
  <c:spPr>
    <a:noFill/>
    <a:ln>
      <a:noFill/>
    </a:ln>
    <a:effectLst/>
  </c:spPr>
  <c:txPr>
    <a:bodyPr/>
    <a:lstStyle/>
    <a:p>
      <a:pPr>
        <a:defRPr sz="2000">
          <a:solidFill>
            <a:schemeClr val="tx1"/>
          </a:solidFill>
        </a:defRPr>
      </a:pPr>
      <a:endParaRPr lang="en-US"/>
    </a:p>
  </c:txPr>
  <c:externalData r:id="rId4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DM-CKD by CKD Stage'!$B$62</c:f>
              <c:strCache>
                <c:ptCount val="1"/>
                <c:pt idx="0">
                  <c:v>CKD Stage 1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Stage'!$C$62:$J$62</c:f>
              <c:numCache>
                <c:formatCode>General</c:formatCode>
                <c:ptCount val="8"/>
                <c:pt idx="0">
                  <c:v>77.290000000000006</c:v>
                </c:pt>
                <c:pt idx="1">
                  <c:v>75.72</c:v>
                </c:pt>
                <c:pt idx="2">
                  <c:v>75.290000000000006</c:v>
                </c:pt>
                <c:pt idx="3">
                  <c:v>74.28</c:v>
                </c:pt>
                <c:pt idx="4">
                  <c:v>73.59</c:v>
                </c:pt>
                <c:pt idx="5">
                  <c:v>73.33</c:v>
                </c:pt>
                <c:pt idx="6">
                  <c:v>72.790000000000006</c:v>
                </c:pt>
                <c:pt idx="7">
                  <c:v>73.099999999999994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F65-4883-8DAB-9C9EE54AFBAB}"/>
            </c:ext>
          </c:extLst>
        </c:ser>
        <c:ser>
          <c:idx val="2"/>
          <c:order val="1"/>
          <c:tx>
            <c:strRef>
              <c:f>'ACEI-ARB DM-CKD by CKD Stage'!$B$63</c:f>
              <c:strCache>
                <c:ptCount val="1"/>
                <c:pt idx="0">
                  <c:v>CKD Stage 2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Stage'!$C$63:$J$63</c:f>
              <c:numCache>
                <c:formatCode>General</c:formatCode>
                <c:ptCount val="8"/>
                <c:pt idx="0">
                  <c:v>83.98</c:v>
                </c:pt>
                <c:pt idx="1">
                  <c:v>82.25</c:v>
                </c:pt>
                <c:pt idx="2">
                  <c:v>81.78</c:v>
                </c:pt>
                <c:pt idx="3">
                  <c:v>80.599999999999994</c:v>
                </c:pt>
                <c:pt idx="4">
                  <c:v>79.3</c:v>
                </c:pt>
                <c:pt idx="5">
                  <c:v>78.63</c:v>
                </c:pt>
                <c:pt idx="6">
                  <c:v>79.459999999999994</c:v>
                </c:pt>
                <c:pt idx="7">
                  <c:v>78.739999999999995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F65-4883-8DAB-9C9EE54AFBAB}"/>
            </c:ext>
          </c:extLst>
        </c:ser>
        <c:ser>
          <c:idx val="3"/>
          <c:order val="2"/>
          <c:tx>
            <c:strRef>
              <c:f>'ACEI-ARB DM-CKD by CKD Stage'!$B$64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Stage'!$C$64:$J$64</c:f>
              <c:numCache>
                <c:formatCode>General</c:formatCode>
                <c:ptCount val="8"/>
                <c:pt idx="0">
                  <c:v>83.01</c:v>
                </c:pt>
                <c:pt idx="1">
                  <c:v>82.18</c:v>
                </c:pt>
                <c:pt idx="2">
                  <c:v>81.7</c:v>
                </c:pt>
                <c:pt idx="3">
                  <c:v>80.680000000000007</c:v>
                </c:pt>
                <c:pt idx="4">
                  <c:v>79.680000000000007</c:v>
                </c:pt>
                <c:pt idx="5">
                  <c:v>79.36</c:v>
                </c:pt>
                <c:pt idx="6">
                  <c:v>79.89</c:v>
                </c:pt>
                <c:pt idx="7">
                  <c:v>80.260000000000005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F65-4883-8DAB-9C9EE54AFBAB}"/>
            </c:ext>
          </c:extLst>
        </c:ser>
        <c:ser>
          <c:idx val="4"/>
          <c:order val="3"/>
          <c:tx>
            <c:strRef>
              <c:f>'ACEI-ARB DM-CKD by CKD Stage'!$B$65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Stage'!$C$65:$J$65</c:f>
              <c:numCache>
                <c:formatCode>General</c:formatCode>
                <c:ptCount val="8"/>
                <c:pt idx="0">
                  <c:v>72.47</c:v>
                </c:pt>
                <c:pt idx="1">
                  <c:v>72.91</c:v>
                </c:pt>
                <c:pt idx="2">
                  <c:v>72.010000000000005</c:v>
                </c:pt>
                <c:pt idx="3">
                  <c:v>72.78</c:v>
                </c:pt>
                <c:pt idx="4">
                  <c:v>74.41</c:v>
                </c:pt>
                <c:pt idx="5">
                  <c:v>72.819999999999993</c:v>
                </c:pt>
                <c:pt idx="6">
                  <c:v>72.95</c:v>
                </c:pt>
                <c:pt idx="7">
                  <c:v>74.72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F65-4883-8DAB-9C9EE54AFBAB}"/>
            </c:ext>
          </c:extLst>
        </c:ser>
        <c:ser>
          <c:idx val="5"/>
          <c:order val="4"/>
          <c:tx>
            <c:strRef>
              <c:f>'ACEI-ARB DM-CKD by CKD Stage'!$B$66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Stage'!$C$66:$J$66</c:f>
              <c:numCache>
                <c:formatCode>General</c:formatCode>
                <c:ptCount val="8"/>
                <c:pt idx="0">
                  <c:v>57.79</c:v>
                </c:pt>
                <c:pt idx="1">
                  <c:v>54.48</c:v>
                </c:pt>
                <c:pt idx="2">
                  <c:v>50.91</c:v>
                </c:pt>
                <c:pt idx="3">
                  <c:v>49.02</c:v>
                </c:pt>
                <c:pt idx="4">
                  <c:v>53.1</c:v>
                </c:pt>
                <c:pt idx="5">
                  <c:v>51.08</c:v>
                </c:pt>
                <c:pt idx="6">
                  <c:v>50.56</c:v>
                </c:pt>
                <c:pt idx="7">
                  <c:v>53.31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4F65-4883-8DAB-9C9EE54AFBAB}"/>
            </c:ext>
          </c:extLst>
        </c:ser>
        <c:ser>
          <c:idx val="0"/>
          <c:order val="5"/>
          <c:tx>
            <c:strRef>
              <c:f>'ACEI-ARB DM-CKD by CKD Stage'!$B$61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CKD Stage'!$D$1:$K$1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Stage'!$C$61:$J$61</c:f>
              <c:numCache>
                <c:formatCode>General</c:formatCode>
                <c:ptCount val="8"/>
                <c:pt idx="0">
                  <c:v>80.400000000000006</c:v>
                </c:pt>
                <c:pt idx="1">
                  <c:v>79.260000000000005</c:v>
                </c:pt>
                <c:pt idx="2">
                  <c:v>78.75</c:v>
                </c:pt>
                <c:pt idx="3">
                  <c:v>77.62</c:v>
                </c:pt>
                <c:pt idx="4">
                  <c:v>76.540000000000006</c:v>
                </c:pt>
                <c:pt idx="5">
                  <c:v>76.05</c:v>
                </c:pt>
                <c:pt idx="6">
                  <c:v>76.239999999999995</c:v>
                </c:pt>
                <c:pt idx="7">
                  <c:v>76.05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4F65-4883-8DAB-9C9EE54AFB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21459343"/>
        <c:axId val="421457679"/>
      </c:lineChart>
      <c:catAx>
        <c:axId val="421459343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1457679"/>
        <c:crosses val="autoZero"/>
        <c:auto val="1"/>
        <c:lblAlgn val="ctr"/>
        <c:lblOffset val="100"/>
        <c:noMultiLvlLbl val="0"/>
      </c:catAx>
      <c:valAx>
        <c:axId val="421457679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1459343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99737532808396E-2"/>
          <c:y val="0.79304418197725279"/>
          <c:w val="0.97344496937882752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1"/>
          <c:order val="0"/>
          <c:tx>
            <c:strRef>
              <c:f>'ACEI-ARB DM-CKD by CKD Stage'!$B$75</c:f>
              <c:strCache>
                <c:ptCount val="1"/>
                <c:pt idx="0">
                  <c:v>CKD Stage 1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Stage'!$C$75:$J$75</c:f>
              <c:numCache>
                <c:formatCode>0.00</c:formatCode>
                <c:ptCount val="8"/>
                <c:pt idx="0">
                  <c:v>68.886399999999995</c:v>
                </c:pt>
                <c:pt idx="1">
                  <c:v>66.7179</c:v>
                </c:pt>
                <c:pt idx="2">
                  <c:v>66.490899999999996</c:v>
                </c:pt>
                <c:pt idx="3">
                  <c:v>66.118499999999997</c:v>
                </c:pt>
                <c:pt idx="4">
                  <c:v>65.143699999999995</c:v>
                </c:pt>
                <c:pt idx="5">
                  <c:v>64.191299999999998</c:v>
                </c:pt>
                <c:pt idx="6">
                  <c:v>63.402299999999997</c:v>
                </c:pt>
                <c:pt idx="7">
                  <c:v>63.693199999999997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F16-4A53-A1DB-E7919E9530D7}"/>
            </c:ext>
          </c:extLst>
        </c:ser>
        <c:ser>
          <c:idx val="2"/>
          <c:order val="1"/>
          <c:tx>
            <c:strRef>
              <c:f>'ACEI-ARB DM-CKD by CKD Stage'!$B$76</c:f>
              <c:strCache>
                <c:ptCount val="1"/>
                <c:pt idx="0">
                  <c:v>CKD Stage 2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Stage'!$C$76:$J$76</c:f>
              <c:numCache>
                <c:formatCode>0.00</c:formatCode>
                <c:ptCount val="8"/>
                <c:pt idx="0">
                  <c:v>76.710499999999996</c:v>
                </c:pt>
                <c:pt idx="1">
                  <c:v>73.511099999999999</c:v>
                </c:pt>
                <c:pt idx="2">
                  <c:v>70.487399999999994</c:v>
                </c:pt>
                <c:pt idx="3">
                  <c:v>70.143100000000004</c:v>
                </c:pt>
                <c:pt idx="4">
                  <c:v>66.848399999999998</c:v>
                </c:pt>
                <c:pt idx="5">
                  <c:v>66.452200000000005</c:v>
                </c:pt>
                <c:pt idx="6">
                  <c:v>68.446600000000004</c:v>
                </c:pt>
                <c:pt idx="7">
                  <c:v>68.997299999999996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F16-4A53-A1DB-E7919E9530D7}"/>
            </c:ext>
          </c:extLst>
        </c:ser>
        <c:ser>
          <c:idx val="3"/>
          <c:order val="2"/>
          <c:tx>
            <c:strRef>
              <c:f>'ACEI-ARB DM-CKD by CKD Stage'!$B$77</c:f>
              <c:strCache>
                <c:ptCount val="1"/>
                <c:pt idx="0">
                  <c:v>CKD Stage 3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Stage'!$C$77:$J$77</c:f>
              <c:numCache>
                <c:formatCode>0.00</c:formatCode>
                <c:ptCount val="8"/>
                <c:pt idx="0">
                  <c:v>77.137600000000006</c:v>
                </c:pt>
                <c:pt idx="1">
                  <c:v>78.492599999999996</c:v>
                </c:pt>
                <c:pt idx="2">
                  <c:v>75.301500000000004</c:v>
                </c:pt>
                <c:pt idx="3">
                  <c:v>69.372600000000006</c:v>
                </c:pt>
                <c:pt idx="4">
                  <c:v>68.475499999999997</c:v>
                </c:pt>
                <c:pt idx="5">
                  <c:v>69.045000000000002</c:v>
                </c:pt>
                <c:pt idx="6">
                  <c:v>70.282600000000002</c:v>
                </c:pt>
                <c:pt idx="7">
                  <c:v>74.488200000000006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F16-4A53-A1DB-E7919E9530D7}"/>
            </c:ext>
          </c:extLst>
        </c:ser>
        <c:ser>
          <c:idx val="4"/>
          <c:order val="3"/>
          <c:tx>
            <c:strRef>
              <c:f>'ACEI-ARB DM-CKD by CKD Stage'!$B$78</c:f>
              <c:strCache>
                <c:ptCount val="1"/>
                <c:pt idx="0">
                  <c:v>CKD Stage 4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Stage'!$C$78:$J$78</c:f>
              <c:numCache>
                <c:formatCode>0.00</c:formatCode>
                <c:ptCount val="8"/>
                <c:pt idx="0">
                  <c:v>75.707300000000004</c:v>
                </c:pt>
                <c:pt idx="1">
                  <c:v>79.6554</c:v>
                </c:pt>
                <c:pt idx="2">
                  <c:v>70.047600000000003</c:v>
                </c:pt>
                <c:pt idx="3">
                  <c:v>69.629499999999993</c:v>
                </c:pt>
                <c:pt idx="4">
                  <c:v>72.641400000000004</c:v>
                </c:pt>
                <c:pt idx="5">
                  <c:v>75.875299999999996</c:v>
                </c:pt>
                <c:pt idx="6">
                  <c:v>72.080699999999993</c:v>
                </c:pt>
                <c:pt idx="7">
                  <c:v>73.722899999999996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F16-4A53-A1DB-E7919E9530D7}"/>
            </c:ext>
          </c:extLst>
        </c:ser>
        <c:ser>
          <c:idx val="5"/>
          <c:order val="4"/>
          <c:tx>
            <c:strRef>
              <c:f>'ACEI-ARB DM-CKD by CKD Stage'!$B$79</c:f>
              <c:strCache>
                <c:ptCount val="1"/>
                <c:pt idx="0">
                  <c:v>CKD Stage 5</c:v>
                </c:pt>
              </c:strCache>
            </c:strRef>
          </c:tx>
          <c:spPr>
            <a:ln w="44450" cap="rnd">
              <a:solidFill>
                <a:schemeClr val="accent6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Stage'!$C$79:$J$79</c:f>
              <c:numCache>
                <c:formatCode>0.00</c:formatCode>
                <c:ptCount val="8"/>
                <c:pt idx="0">
                  <c:v>38.776400000000002</c:v>
                </c:pt>
                <c:pt idx="1">
                  <c:v>57.459099999999999</c:v>
                </c:pt>
                <c:pt idx="2">
                  <c:v>67.891400000000004</c:v>
                </c:pt>
                <c:pt idx="3">
                  <c:v>30.880500000000001</c:v>
                </c:pt>
                <c:pt idx="4">
                  <c:v>58.078299999999999</c:v>
                </c:pt>
                <c:pt idx="5">
                  <c:v>30.095400000000001</c:v>
                </c:pt>
                <c:pt idx="6">
                  <c:v>57.666499999999999</c:v>
                </c:pt>
                <c:pt idx="7">
                  <c:v>76.998400000000004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F16-4A53-A1DB-E7919E9530D7}"/>
            </c:ext>
          </c:extLst>
        </c:ser>
        <c:ser>
          <c:idx val="0"/>
          <c:order val="5"/>
          <c:tx>
            <c:strRef>
              <c:f>'ACEI-ARB DM-CKD by CKD Stage'!$B$74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strRef>
              <c:f>'ACEI-ARB DM-CKD by CKD Stage'!$C$73:$J$73</c:f>
              <c:strCache>
                <c:ptCount val="8"/>
                <c:pt idx="0">
                  <c:v>2016</c:v>
                </c:pt>
                <c:pt idx="1">
                  <c:v>2017</c:v>
                </c:pt>
                <c:pt idx="2">
                  <c:v>2018</c:v>
                </c:pt>
                <c:pt idx="3">
                  <c:v>2019</c:v>
                </c:pt>
                <c:pt idx="4">
                  <c:v>2020</c:v>
                </c:pt>
                <c:pt idx="5">
                  <c:v>2021</c:v>
                </c:pt>
                <c:pt idx="6">
                  <c:v>2022</c:v>
                </c:pt>
                <c:pt idx="7">
                  <c:v>2023</c:v>
                </c:pt>
              </c:strCache>
            </c:strRef>
          </c:cat>
          <c:val>
            <c:numRef>
              <c:f>'ACEI-ARB DM-CKD by CKD Stage'!$C$74:$J$74</c:f>
              <c:numCache>
                <c:formatCode>General</c:formatCode>
                <c:ptCount val="8"/>
                <c:pt idx="0">
                  <c:v>69.679999999999993</c:v>
                </c:pt>
                <c:pt idx="1">
                  <c:v>68</c:v>
                </c:pt>
                <c:pt idx="2">
                  <c:v>66.83</c:v>
                </c:pt>
                <c:pt idx="3">
                  <c:v>66.25</c:v>
                </c:pt>
                <c:pt idx="4">
                  <c:v>64.44</c:v>
                </c:pt>
                <c:pt idx="5">
                  <c:v>64.08</c:v>
                </c:pt>
                <c:pt idx="6">
                  <c:v>64.33</c:v>
                </c:pt>
                <c:pt idx="7">
                  <c:v>63.64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CF16-4A53-A1DB-E7919E9530D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81522015"/>
        <c:axId val="681524927"/>
      </c:lineChart>
      <c:catAx>
        <c:axId val="68152201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1524927"/>
        <c:crosses val="autoZero"/>
        <c:auto val="1"/>
        <c:lblAlgn val="ctr"/>
        <c:lblOffset val="100"/>
        <c:noMultiLvlLbl val="0"/>
      </c:catAx>
      <c:valAx>
        <c:axId val="68152492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 err="1"/>
                  <a:t>ACEi</a:t>
                </a:r>
                <a:r>
                  <a:rPr lang="en-US" dirty="0"/>
                  <a:t>/ARB Use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8152201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499737532808396E-2"/>
          <c:y val="0.79304418197725279"/>
          <c:w val="0.97900052493438305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AF73B43-6A56-473B-AE2D-AB20CDBDB644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51298-0F74-47A6-ACB4-982F1431AF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28187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293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9051298-0F74-47A6-ACB4-982F1431AFC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0028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353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40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22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036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4104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235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673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10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91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617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88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0713D3-AB50-4A09-8DB2-7F26C27F2607}" type="datetimeFigureOut">
              <a:rPr lang="en-US" smtClean="0"/>
              <a:t>4/23/2026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ED55EF-3866-48AB-848E-88CF6369B2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22353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0D1C1-F57F-8F26-3A27-C1F4D5FA7F0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Diabetes Mellitus with CKD in the Military Health System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42F7F9-7593-8346-0823-514C387C6E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Autofit/>
          </a:bodyPr>
          <a:lstStyle/>
          <a:p>
            <a:pPr algn="l"/>
            <a:r>
              <a:rPr lang="en-US" sz="2000" dirty="0">
                <a:latin typeface="+mn-lt"/>
              </a:rPr>
              <a:t>Angiotensin-converting enzyme inhibitor (</a:t>
            </a:r>
            <a:r>
              <a:rPr lang="en-US" sz="2000" dirty="0" err="1">
                <a:latin typeface="+mn-lt"/>
              </a:rPr>
              <a:t>ACEi</a:t>
            </a:r>
            <a:r>
              <a:rPr lang="en-US" sz="2000" dirty="0">
                <a:latin typeface="+mn-lt"/>
              </a:rPr>
              <a:t>) or angiotensin receptor blocker (ARB) use among Military Health System (MHS) beneficiaries with types 1 and 2 diabetes mellitus and chronic kidney disease (CKD) decreased from 69.7% to 63.6% (age-standardized) between 2016 and 2023. Use was generally higher during the period among adults aged over 60 years (crude); males (age-standardized); adults who self-identified as Asian American/Pacific Islander (age-standardized); and those with CKD stage 1 (age-standardized).</a:t>
            </a:r>
          </a:p>
          <a:p>
            <a:pPr algn="l"/>
            <a:endParaRPr lang="en-US" sz="2000" b="1" dirty="0">
              <a:latin typeface="+mn-lt"/>
            </a:endParaRPr>
          </a:p>
          <a:p>
            <a:pPr algn="l"/>
            <a:r>
              <a:rPr lang="en-US" sz="2000" b="1" dirty="0">
                <a:latin typeface="+mn-lt"/>
              </a:rPr>
              <a:t>Data Source: </a:t>
            </a:r>
            <a:r>
              <a:rPr lang="en-US" sz="2000" dirty="0">
                <a:latin typeface="+mn-lt"/>
              </a:rPr>
              <a:t>MHS  </a:t>
            </a:r>
          </a:p>
        </p:txBody>
      </p:sp>
    </p:spTree>
    <p:extLst>
      <p:ext uri="{BB962C8B-B14F-4D97-AF65-F5344CB8AC3E}">
        <p14:creationId xmlns:p14="http://schemas.microsoft.com/office/powerpoint/2010/main" val="3654360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92BA6-A320-D4DA-CE84-AEFB2A061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94C1-505E-1214-3F64-1430150DFB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6E58DA4E-5255-4EC3-BD00-D80D2EFEEC4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0133633"/>
              </p:ext>
            </p:extLst>
          </p:nvPr>
        </p:nvGraphicFramePr>
        <p:xfrm>
          <a:off x="381000" y="159768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303950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DDE9-091A-2256-4628-0C0C109CD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06DC9-27BF-56F5-858F-661F83AC5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1DF4414-5ADE-4182-8704-77C3A5707E6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18845843"/>
              </p:ext>
            </p:extLst>
          </p:nvPr>
        </p:nvGraphicFramePr>
        <p:xfrm>
          <a:off x="381000" y="15786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81581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B64D9-18CA-1BE8-6278-30BF98AAC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CKD, by Age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C0F0C6A1-923D-EEDD-7879-ADBB6092D1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6514353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456890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16056-D43D-597F-909A-2E982B3CD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7EE9E-F195-6165-92F7-0F8C6A235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Sex, Crude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2E0F4EB3-B386-0D90-C65B-1CCA96AD871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97613931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756743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F8EDE2-CFFE-91BD-B483-A089B3CF7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B3076-1C04-4477-55D8-F1C8F69C8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Sex, Age Standardized</a:t>
            </a: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EC8FBFE1-913D-AD96-B2E8-32A2C1CAB9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4505856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587432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BBDCC-65CF-EB63-A1C3-7EA4617012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FE52F-24A9-E406-60D9-204CB41F2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Race, Crude</a:t>
            </a: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9E500B5D-E27D-AEB4-3100-897AF08653B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31942718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990317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FD452-72D4-19BA-6283-0A2C8EA26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113B2-A808-B641-796C-17E68BAC7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Race, </a:t>
            </a:r>
            <a:br>
              <a:rPr lang="en-US" dirty="0"/>
            </a:br>
            <a:r>
              <a:rPr lang="en-US" dirty="0"/>
              <a:t>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06A861E8-7DDB-9533-315E-4B22E740DA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7197385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9240318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165BE-B201-E5A6-FFA9-3911B0B50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E7D1-8A9E-F5B8-28D7-38C40829D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CKD Stage, Crude</a:t>
            </a:r>
          </a:p>
        </p:txBody>
      </p:sp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2018BFF9-F8E2-4F33-A211-DBEF9E3818F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1750670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7969527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E7B71-1466-A029-C71C-9848DD28C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86ECC-8356-BE3E-18DE-DF709DA06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 err="1"/>
              <a:t>ACEi</a:t>
            </a:r>
            <a:r>
              <a:rPr lang="en-US" dirty="0"/>
              <a:t>/ARB Use in DM with CKD by CKD Stage,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6B68B2F7-0204-4B68-B563-9BAC1C2651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04128926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28073885"/>
      </p:ext>
    </p:extLst>
  </p:cSld>
  <p:clrMapOvr>
    <a:masterClrMapping/>
  </p:clrMapOvr>
</p:sld>
</file>

<file path=ppt/theme/theme1.xml><?xml version="1.0" encoding="utf-8"?>
<a:theme xmlns:a="http://schemas.openxmlformats.org/drawingml/2006/main" name="PPT template for KDSS indicator download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267</Words>
  <Application>Microsoft Office PowerPoint</Application>
  <PresentationFormat>Widescreen</PresentationFormat>
  <Paragraphs>24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Arial</vt:lpstr>
      <vt:lpstr>Calibri</vt:lpstr>
      <vt:lpstr>Calibri Light</vt:lpstr>
      <vt:lpstr>Open Sans</vt:lpstr>
      <vt:lpstr>PPT template for KDSS indicator downloads</vt:lpstr>
      <vt:lpstr>ACEi/ARB Use in Diabetes Mellitus with CKD in the Military Health System </vt:lpstr>
      <vt:lpstr>ACEi/ARB Use in DM with CKD, Crude</vt:lpstr>
      <vt:lpstr>ACEi/ARB Use in DM with CKD, Age Standardized</vt:lpstr>
      <vt:lpstr>ACEi/ARB Use in DM with CKD, by Age</vt:lpstr>
      <vt:lpstr>ACEi/ARB Use in DM with CKD by Sex, Crude</vt:lpstr>
      <vt:lpstr>ACEi/ARB Use in DM with CKD by Sex, Age Standardized</vt:lpstr>
      <vt:lpstr>ACEi/ARB Use in DM with CKD by Race, Crude</vt:lpstr>
      <vt:lpstr>ACEi/ARB Use in DM with CKD by Race,  Age Standardized</vt:lpstr>
      <vt:lpstr>ACEi/ARB Use in DM with CKD by CKD Stage, Crude</vt:lpstr>
      <vt:lpstr>ACEi/ARB Use in DM with CKD by CKD Stage,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ACEi/ARB use in Diabetes Mellitus With Chronic Kidney Disease in the Military Health System </dc:title>
  <dc:creator>Licon, Ana Laura</dc:creator>
  <cp:lastModifiedBy>Licon, Ana Laura</cp:lastModifiedBy>
  <cp:revision>6</cp:revision>
  <dcterms:created xsi:type="dcterms:W3CDTF">2025-11-17T17:14:04Z</dcterms:created>
  <dcterms:modified xsi:type="dcterms:W3CDTF">2026-04-23T17:20:00Z</dcterms:modified>
</cp:coreProperties>
</file>