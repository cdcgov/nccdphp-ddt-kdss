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7" r:id="rId2"/>
    <p:sldId id="319" r:id="rId3"/>
    <p:sldId id="308" r:id="rId4"/>
    <p:sldId id="320" r:id="rId5"/>
    <p:sldId id="310" r:id="rId6"/>
    <p:sldId id="311" r:id="rId7"/>
    <p:sldId id="313" r:id="rId8"/>
    <p:sldId id="318" r:id="rId9"/>
    <p:sldId id="3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731202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icon\University%20of%20Michigan%20Dropbox\Ana%20Laura%20Licon\KECC\CDC%20(2022-%20)\Website%20Redesign\2025%20Releases\Clearance%20Docs\Batch%201\Awareness_newdata_081325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'By CKD groups'!$J$23</c:f>
              <c:strCache>
                <c:ptCount val="1"/>
                <c:pt idx="0">
                  <c:v>Overall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CKD groups'!$K$24:$K$28</c:f>
                <c:numCache>
                  <c:formatCode>General</c:formatCode>
                  <c:ptCount val="5"/>
                  <c:pt idx="0">
                    <c:v>1.3688350000000002E-2</c:v>
                  </c:pt>
                  <c:pt idx="1">
                    <c:v>1.6857130000000012E-2</c:v>
                  </c:pt>
                  <c:pt idx="2">
                    <c:v>1.8701470000000012E-2</c:v>
                  </c:pt>
                  <c:pt idx="3">
                    <c:v>1.8459939999999994E-2</c:v>
                  </c:pt>
                  <c:pt idx="4">
                    <c:v>1.9241010000000003E-2</c:v>
                  </c:pt>
                </c:numCache>
              </c:numRef>
            </c:plus>
            <c:minus>
              <c:numRef>
                <c:f>'By CKD groups'!$L$24:$L$28</c:f>
                <c:numCache>
                  <c:formatCode>General</c:formatCode>
                  <c:ptCount val="5"/>
                  <c:pt idx="0">
                    <c:v>1.3688560000000002E-2</c:v>
                  </c:pt>
                  <c:pt idx="1">
                    <c:v>1.6857819999999996E-2</c:v>
                  </c:pt>
                  <c:pt idx="2">
                    <c:v>1.870202E-2</c:v>
                  </c:pt>
                  <c:pt idx="3">
                    <c:v>1.845999999999999E-2</c:v>
                  </c:pt>
                  <c:pt idx="4">
                    <c:v>1.9241090000000002E-2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CKD groups'!$C$24:$C$28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CKD groups'!$J$24:$J$28</c:f>
              <c:numCache>
                <c:formatCode>0.000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1E-4D90-BC9A-A16B52999052}"/>
            </c:ext>
          </c:extLst>
        </c:ser>
        <c:ser>
          <c:idx val="3"/>
          <c:order val="1"/>
          <c:tx>
            <c:strRef>
              <c:f>'By CKD groups'!$M$23</c:f>
              <c:strCache>
                <c:ptCount val="1"/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CKD groups'!$N$24:$N$28</c:f>
                <c:numCache>
                  <c:formatCode>General</c:formatCode>
                  <c:ptCount val="5"/>
                </c:numCache>
              </c:numRef>
            </c:plus>
            <c:minus>
              <c:numRef>
                <c:f>'By CKD groups'!$O$24:$O$28</c:f>
                <c:numCache>
                  <c:formatCode>General</c:formatCode>
                  <c:ptCount val="5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CKD groups'!$C$24:$C$28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CKD groups'!$M$24:$M$28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1E-4D90-BC9A-A16B52999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'By CKD groups'!$D$23</c:f>
              <c:strCache>
                <c:ptCount val="1"/>
                <c:pt idx="0">
                  <c:v>Stages 1-2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CKD groups'!$E$24:$E$28</c:f>
                <c:numCache>
                  <c:formatCode>General</c:formatCode>
                  <c:ptCount val="5"/>
                  <c:pt idx="0">
                    <c:v>1.2777070000000001E-2</c:v>
                  </c:pt>
                  <c:pt idx="1">
                    <c:v>1.5881470000000002E-2</c:v>
                  </c:pt>
                  <c:pt idx="2">
                    <c:v>1.477593E-2</c:v>
                  </c:pt>
                  <c:pt idx="3">
                    <c:v>1.9319030000000001E-2</c:v>
                  </c:pt>
                  <c:pt idx="4">
                    <c:v>1.228477E-2</c:v>
                  </c:pt>
                </c:numCache>
              </c:numRef>
            </c:plus>
            <c:minus>
              <c:numRef>
                <c:f>'By CKD groups'!$F$24:$F$28</c:f>
                <c:numCache>
                  <c:formatCode>General</c:formatCode>
                  <c:ptCount val="5"/>
                  <c:pt idx="0">
                    <c:v>1.2777249999999997E-2</c:v>
                  </c:pt>
                  <c:pt idx="1">
                    <c:v>1.5881860000000001E-2</c:v>
                  </c:pt>
                  <c:pt idx="2">
                    <c:v>1.4776349999999997E-2</c:v>
                  </c:pt>
                  <c:pt idx="3">
                    <c:v>1.9318059999999998E-2</c:v>
                  </c:pt>
                  <c:pt idx="4">
                    <c:v>1.228402E-2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CKD groups'!$C$24:$C$28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CKD groups'!$D$24:$D$28</c:f>
              <c:numCache>
                <c:formatCode>0.000</c:formatCode>
                <c:ptCount val="5"/>
                <c:pt idx="0">
                  <c:v>3.5077999999999998E-2</c:v>
                </c:pt>
                <c:pt idx="1">
                  <c:v>4.0969999999999999E-2</c:v>
                </c:pt>
                <c:pt idx="2">
                  <c:v>3.9913999999999998E-2</c:v>
                </c:pt>
                <c:pt idx="3">
                  <c:v>4.2418999999999998E-2</c:v>
                </c:pt>
                <c:pt idx="4">
                  <c:v>4.9808999999999999E-2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69-47FE-9953-91CE62D68E84}"/>
            </c:ext>
          </c:extLst>
        </c:ser>
        <c:ser>
          <c:idx val="1"/>
          <c:order val="1"/>
          <c:tx>
            <c:strRef>
              <c:f>'By CKD groups'!$G$23</c:f>
              <c:strCache>
                <c:ptCount val="1"/>
                <c:pt idx="0">
                  <c:v>Stages 3-5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CKD groups'!$H$24:$H$28</c:f>
                <c:numCache>
                  <c:formatCode>General</c:formatCode>
                  <c:ptCount val="5"/>
                  <c:pt idx="0">
                    <c:v>2.870412E-2</c:v>
                  </c:pt>
                  <c:pt idx="1">
                    <c:v>3.3095170000000007E-2</c:v>
                  </c:pt>
                  <c:pt idx="2">
                    <c:v>3.6480249999999992E-2</c:v>
                  </c:pt>
                  <c:pt idx="3">
                    <c:v>3.6327630000000027E-2</c:v>
                  </c:pt>
                  <c:pt idx="4">
                    <c:v>3.8441449999999988E-2</c:v>
                  </c:pt>
                </c:numCache>
              </c:numRef>
            </c:plus>
            <c:minus>
              <c:numRef>
                <c:f>'By CKD groups'!$I$24:$I$28</c:f>
                <c:numCache>
                  <c:formatCode>General</c:formatCode>
                  <c:ptCount val="5"/>
                  <c:pt idx="0">
                    <c:v>2.8703950000000006E-2</c:v>
                  </c:pt>
                  <c:pt idx="1">
                    <c:v>3.3094360000000003E-2</c:v>
                  </c:pt>
                  <c:pt idx="2">
                    <c:v>3.6481180000000002E-2</c:v>
                  </c:pt>
                  <c:pt idx="3">
                    <c:v>3.6328030000000011E-2</c:v>
                  </c:pt>
                  <c:pt idx="4">
                    <c:v>3.844193999999998E-2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CKD groups'!$G$24:$G$28</c:f>
              <c:numCache>
                <c:formatCode>0.000</c:formatCode>
                <c:ptCount val="5"/>
                <c:pt idx="0">
                  <c:v>0.157023</c:v>
                </c:pt>
                <c:pt idx="1">
                  <c:v>0.142928</c:v>
                </c:pt>
                <c:pt idx="2">
                  <c:v>0.156198</c:v>
                </c:pt>
                <c:pt idx="3">
                  <c:v>0.222496</c:v>
                </c:pt>
                <c:pt idx="4">
                  <c:v>0.25981599999999999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69-47FE-9953-91CE62D68E84}"/>
            </c:ext>
          </c:extLst>
        </c:ser>
        <c:ser>
          <c:idx val="2"/>
          <c:order val="2"/>
          <c:tx>
            <c:strRef>
              <c:f>'By CKD groups'!$J$23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CKD groups'!$K$24:$K$28</c:f>
                <c:numCache>
                  <c:formatCode>General</c:formatCode>
                  <c:ptCount val="5"/>
                  <c:pt idx="0">
                    <c:v>1.3688350000000002E-2</c:v>
                  </c:pt>
                  <c:pt idx="1">
                    <c:v>1.6857130000000012E-2</c:v>
                  </c:pt>
                  <c:pt idx="2">
                    <c:v>1.8701470000000012E-2</c:v>
                  </c:pt>
                  <c:pt idx="3">
                    <c:v>1.8459939999999994E-2</c:v>
                  </c:pt>
                  <c:pt idx="4">
                    <c:v>1.9241010000000003E-2</c:v>
                  </c:pt>
                </c:numCache>
              </c:numRef>
            </c:plus>
            <c:minus>
              <c:numRef>
                <c:f>'By CKD groups'!$L$24:$L$28</c:f>
                <c:numCache>
                  <c:formatCode>General</c:formatCode>
                  <c:ptCount val="5"/>
                  <c:pt idx="0">
                    <c:v>1.3688560000000002E-2</c:v>
                  </c:pt>
                  <c:pt idx="1">
                    <c:v>1.6857819999999996E-2</c:v>
                  </c:pt>
                  <c:pt idx="2">
                    <c:v>1.870202E-2</c:v>
                  </c:pt>
                  <c:pt idx="3">
                    <c:v>1.845999999999999E-2</c:v>
                  </c:pt>
                  <c:pt idx="4">
                    <c:v>1.9241090000000002E-2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CKD groups'!$J$24:$J$28</c:f>
              <c:numCache>
                <c:formatCode>0.000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69-47FE-9953-91CE62D68E84}"/>
            </c:ext>
          </c:extLst>
        </c:ser>
        <c:ser>
          <c:idx val="3"/>
          <c:order val="3"/>
          <c:tx>
            <c:strRef>
              <c:f>'By CKD groups'!$M$23</c:f>
              <c:strCache>
                <c:ptCount val="1"/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CKD groups'!$N$24:$N$28</c:f>
                <c:numCache>
                  <c:formatCode>General</c:formatCode>
                  <c:ptCount val="5"/>
                </c:numCache>
              </c:numRef>
            </c:plus>
            <c:minus>
              <c:numRef>
                <c:f>'By CKD groups'!$O$24:$O$28</c:f>
                <c:numCache>
                  <c:formatCode>General</c:formatCode>
                  <c:ptCount val="5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CKD groups'!$M$24:$M$28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69-47FE-9953-91CE62D68E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'[Awareness_newdata_081325.xlsx]By CKD stages'!$D$23</c:f>
              <c:strCache>
                <c:ptCount val="1"/>
                <c:pt idx="0">
                  <c:v>CKD Stage 1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'[Awareness_newdata_081325.xlsx]By CKD stages'!$E$24:$E$28</c:f>
                <c:numCache>
                  <c:formatCode>General</c:formatCode>
                  <c:ptCount val="5"/>
                  <c:pt idx="0">
                    <c:v>1.6928889999999999E-2</c:v>
                  </c:pt>
                  <c:pt idx="1">
                    <c:v>1.276176E-2</c:v>
                  </c:pt>
                  <c:pt idx="2">
                    <c:v>1.4640759999999999E-2</c:v>
                  </c:pt>
                  <c:pt idx="3">
                    <c:v>1.934752E-2</c:v>
                  </c:pt>
                  <c:pt idx="4">
                    <c:v>1.9543319999999999E-2</c:v>
                  </c:pt>
                </c:numCache>
              </c:numRef>
            </c:plus>
            <c:minus>
              <c:numRef>
                <c:f>'[Awareness_newdata_081325.xlsx]By CKD stages'!$F$24:$F$28</c:f>
                <c:numCache>
                  <c:formatCode>General</c:formatCode>
                  <c:ptCount val="5"/>
                  <c:pt idx="0">
                    <c:v>1.6929090000000001E-2</c:v>
                  </c:pt>
                  <c:pt idx="1">
                    <c:v>1.276211E-2</c:v>
                  </c:pt>
                  <c:pt idx="2">
                    <c:v>1.4641360000000001E-2</c:v>
                  </c:pt>
                  <c:pt idx="3">
                    <c:v>1.934843E-2</c:v>
                  </c:pt>
                  <c:pt idx="4">
                    <c:v>1.954386E-2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'[Awareness_newdata_081325.xlsx]By CKD stages'!$C$24:$C$28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'[Awareness_newdata_081325.xlsx]By CKD stages'!$D$24:$D$28</c:f>
              <c:numCache>
                <c:formatCode>0.000</c:formatCode>
                <c:ptCount val="5"/>
                <c:pt idx="0">
                  <c:v>2.7966000000000001E-2</c:v>
                </c:pt>
                <c:pt idx="1">
                  <c:v>2.0929E-2</c:v>
                </c:pt>
                <c:pt idx="2">
                  <c:v>2.8111000000000001E-2</c:v>
                </c:pt>
                <c:pt idx="3">
                  <c:v>3.1872999999999999E-2</c:v>
                </c:pt>
                <c:pt idx="4">
                  <c:v>2.5127E-2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E4-495D-8F11-0D12CE3C290D}"/>
            </c:ext>
          </c:extLst>
        </c:ser>
        <c:ser>
          <c:idx val="1"/>
          <c:order val="1"/>
          <c:tx>
            <c:strRef>
              <c:f>'[Awareness_newdata_081325.xlsx]By CKD stages'!$G$23</c:f>
              <c:strCache>
                <c:ptCount val="1"/>
                <c:pt idx="0">
                  <c:v>CKD Stage 2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'[Awareness_newdata_081325.xlsx]By CKD stages'!$H$24:$H$28</c:f>
                <c:numCache>
                  <c:formatCode>General</c:formatCode>
                  <c:ptCount val="5"/>
                  <c:pt idx="0">
                    <c:v>2.5071169999999997E-2</c:v>
                  </c:pt>
                  <c:pt idx="1">
                    <c:v>3.2129379999999999E-2</c:v>
                  </c:pt>
                  <c:pt idx="2">
                    <c:v>3.0932090000000002E-2</c:v>
                  </c:pt>
                  <c:pt idx="3">
                    <c:v>2.5256280000000006E-2</c:v>
                  </c:pt>
                  <c:pt idx="4">
                    <c:v>3.7997679999999992E-2</c:v>
                  </c:pt>
                </c:numCache>
              </c:numRef>
            </c:plus>
            <c:minus>
              <c:numRef>
                <c:f>'[Awareness_newdata_081325.xlsx]By CKD stages'!$I$24:$I$28</c:f>
                <c:numCache>
                  <c:formatCode>General</c:formatCode>
                  <c:ptCount val="5"/>
                  <c:pt idx="0">
                    <c:v>2.5071970000000002E-2</c:v>
                  </c:pt>
                  <c:pt idx="1">
                    <c:v>3.2128510000000006E-2</c:v>
                  </c:pt>
                  <c:pt idx="2">
                    <c:v>3.093224E-2</c:v>
                  </c:pt>
                  <c:pt idx="3">
                    <c:v>2.5256569999999999E-2</c:v>
                  </c:pt>
                  <c:pt idx="4">
                    <c:v>3.7997519999999993E-2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'[Awareness_newdata_081325.xlsx]By CKD stages'!$G$24:$G$28</c:f>
              <c:numCache>
                <c:formatCode>0.000</c:formatCode>
                <c:ptCount val="5"/>
                <c:pt idx="0">
                  <c:v>4.4997000000000002E-2</c:v>
                </c:pt>
                <c:pt idx="1">
                  <c:v>7.0970000000000005E-2</c:v>
                </c:pt>
                <c:pt idx="2">
                  <c:v>5.8470000000000001E-2</c:v>
                </c:pt>
                <c:pt idx="3">
                  <c:v>5.8573E-2</c:v>
                </c:pt>
                <c:pt idx="4">
                  <c:v>0.100199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E4-495D-8F11-0D12CE3C290D}"/>
            </c:ext>
          </c:extLst>
        </c:ser>
        <c:ser>
          <c:idx val="2"/>
          <c:order val="2"/>
          <c:tx>
            <c:strRef>
              <c:f>'[Awareness_newdata_081325.xlsx]By CKD stages'!$J$23</c:f>
              <c:strCache>
                <c:ptCount val="1"/>
                <c:pt idx="0">
                  <c:v>CKD Stage 3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'[Awareness_newdata_081325.xlsx]By CKD stages'!$K$24:$K$28</c:f>
                <c:numCache>
                  <c:formatCode>General</c:formatCode>
                  <c:ptCount val="5"/>
                  <c:pt idx="0">
                    <c:v>2.5718989999999997E-2</c:v>
                  </c:pt>
                  <c:pt idx="1">
                    <c:v>3.0817579999999997E-2</c:v>
                  </c:pt>
                  <c:pt idx="2">
                    <c:v>3.0840509999999988E-2</c:v>
                  </c:pt>
                  <c:pt idx="3">
                    <c:v>3.4545030000000004E-2</c:v>
                  </c:pt>
                  <c:pt idx="4">
                    <c:v>4.7652970000000017E-2</c:v>
                  </c:pt>
                </c:numCache>
              </c:numRef>
            </c:plus>
            <c:minus>
              <c:numRef>
                <c:f>'[Awareness_newdata_081325.xlsx]By CKD stages'!$L$24:$L$28</c:f>
                <c:numCache>
                  <c:formatCode>General</c:formatCode>
                  <c:ptCount val="5"/>
                  <c:pt idx="0">
                    <c:v>2.5718130000000006E-2</c:v>
                  </c:pt>
                  <c:pt idx="1">
                    <c:v>3.0817239999999996E-2</c:v>
                  </c:pt>
                  <c:pt idx="2">
                    <c:v>3.0840469999999995E-2</c:v>
                  </c:pt>
                  <c:pt idx="3">
                    <c:v>3.454546E-2</c:v>
                  </c:pt>
                  <c:pt idx="4">
                    <c:v>4.765279E-2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'[Awareness_newdata_081325.xlsx]By CKD stages'!$J$24:$J$28</c:f>
              <c:numCache>
                <c:formatCode>0.000</c:formatCode>
                <c:ptCount val="5"/>
                <c:pt idx="0">
                  <c:v>0.119173</c:v>
                </c:pt>
                <c:pt idx="1">
                  <c:v>0.100813</c:v>
                </c:pt>
                <c:pt idx="2">
                  <c:v>0.102935</c:v>
                </c:pt>
                <c:pt idx="3">
                  <c:v>0.17182600000000001</c:v>
                </c:pt>
                <c:pt idx="4">
                  <c:v>0.21249699999999999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E4-495D-8F11-0D12CE3C290D}"/>
            </c:ext>
          </c:extLst>
        </c:ser>
        <c:ser>
          <c:idx val="3"/>
          <c:order val="3"/>
          <c:tx>
            <c:strRef>
              <c:f>'[Awareness_newdata_081325.xlsx]By CKD stages'!$M$23</c:f>
              <c:strCache>
                <c:ptCount val="1"/>
                <c:pt idx="0">
                  <c:v>CKD Stage 4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'[Awareness_newdata_081325.xlsx]By CKD stages'!$N$24:$N$28</c:f>
                <c:numCache>
                  <c:formatCode>General</c:formatCode>
                  <c:ptCount val="5"/>
                  <c:pt idx="0">
                    <c:v>0.17577761000000003</c:v>
                  </c:pt>
                  <c:pt idx="1">
                    <c:v>0.19142604000000002</c:v>
                  </c:pt>
                  <c:pt idx="2">
                    <c:v>0.16487867999999994</c:v>
                  </c:pt>
                  <c:pt idx="3">
                    <c:v>0.12830193000000001</c:v>
                  </c:pt>
                  <c:pt idx="4">
                    <c:v>0.20968152000000007</c:v>
                  </c:pt>
                </c:numCache>
              </c:numRef>
            </c:plus>
            <c:minus>
              <c:numRef>
                <c:f>'[Awareness_newdata_081325.xlsx]By CKD stages'!$O$24:$O$28</c:f>
                <c:numCache>
                  <c:formatCode>General</c:formatCode>
                  <c:ptCount val="5"/>
                  <c:pt idx="0">
                    <c:v>0.17577696999999998</c:v>
                  </c:pt>
                  <c:pt idx="1">
                    <c:v>0.19142670000000001</c:v>
                  </c:pt>
                  <c:pt idx="2">
                    <c:v>0.16487793000000001</c:v>
                  </c:pt>
                  <c:pt idx="3">
                    <c:v>0.12830118000000001</c:v>
                  </c:pt>
                  <c:pt idx="4">
                    <c:v>0.20968147999999992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'[Awareness_newdata_081325.xlsx]By CKD stages'!$M$24:$M$28</c:f>
              <c:numCache>
                <c:formatCode>0.000</c:formatCode>
                <c:ptCount val="5"/>
                <c:pt idx="0">
                  <c:v>0.48186099999999998</c:v>
                </c:pt>
                <c:pt idx="1">
                  <c:v>0.48582500000000001</c:v>
                </c:pt>
                <c:pt idx="2">
                  <c:v>0.41705700000000001</c:v>
                </c:pt>
                <c:pt idx="3">
                  <c:v>0.53348200000000001</c:v>
                </c:pt>
                <c:pt idx="4">
                  <c:v>0.66216299999999995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8E4-495D-8F11-0D12CE3C290D}"/>
            </c:ext>
          </c:extLst>
        </c:ser>
        <c:ser>
          <c:idx val="4"/>
          <c:order val="4"/>
          <c:tx>
            <c:strRef>
              <c:f>'[Awareness_newdata_081325.xlsx]By CKD stages'!$P$23</c:f>
              <c:strCache>
                <c:ptCount val="1"/>
                <c:pt idx="0">
                  <c:v>CKD Stage 5</c:v>
                </c:pt>
              </c:strCache>
            </c:strRef>
          </c:tx>
          <c:spPr>
            <a:ln w="44450" cap="rnd">
              <a:solidFill>
                <a:schemeClr val="accent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'[Awareness_newdata_081325.xlsx]By CKD stages'!$Q$24:$Q$28</c:f>
                <c:numCache>
                  <c:formatCode>General</c:formatCode>
                  <c:ptCount val="5"/>
                  <c:pt idx="0">
                    <c:v>0.24682263999999998</c:v>
                  </c:pt>
                  <c:pt idx="1">
                    <c:v>9.662738999999998E-2</c:v>
                  </c:pt>
                  <c:pt idx="2">
                    <c:v>6.9325060000000049E-2</c:v>
                  </c:pt>
                  <c:pt idx="3">
                    <c:v>5.171291999999994E-2</c:v>
                  </c:pt>
                  <c:pt idx="4">
                    <c:v>0.13228709000000005</c:v>
                  </c:pt>
                </c:numCache>
              </c:numRef>
            </c:plus>
            <c:minus>
              <c:numRef>
                <c:f>'[Awareness_newdata_081325.xlsx]By CKD stages'!$R$24:$R$28</c:f>
                <c:numCache>
                  <c:formatCode>General</c:formatCode>
                  <c:ptCount val="5"/>
                  <c:pt idx="0">
                    <c:v>0.24682187999999994</c:v>
                  </c:pt>
                  <c:pt idx="1">
                    <c:v>9.6627200000000135E-2</c:v>
                  </c:pt>
                  <c:pt idx="2">
                    <c:v>6.9324319999999995E-2</c:v>
                  </c:pt>
                  <c:pt idx="3">
                    <c:v>5.1713780000000042E-2</c:v>
                  </c:pt>
                  <c:pt idx="4">
                    <c:v>0.13228691000000004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'[Awareness_newdata_081325.xlsx]By CKD stages'!$P$24:$P$28</c:f>
              <c:numCache>
                <c:formatCode>General</c:formatCode>
                <c:ptCount val="5"/>
                <c:pt idx="0">
                  <c:v>0.83227600000000002</c:v>
                </c:pt>
                <c:pt idx="1">
                  <c:v>0.93673399999999996</c:v>
                </c:pt>
                <c:pt idx="2">
                  <c:v>0.93608800000000003</c:v>
                </c:pt>
                <c:pt idx="3">
                  <c:v>0.95747899999999997</c:v>
                </c:pt>
                <c:pt idx="4">
                  <c:v>0.86602800000000002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8E4-495D-8F11-0D12CE3C290D}"/>
            </c:ext>
          </c:extLst>
        </c:ser>
        <c:ser>
          <c:idx val="5"/>
          <c:order val="5"/>
          <c:tx>
            <c:strRef>
              <c:f>'[Awareness_newdata_081325.xlsx]By CKD stages'!$S$23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'[Awareness_newdata_081325.xlsx]By CKD stages'!$T$24:$T$28</c:f>
                <c:numCache>
                  <c:formatCode>General</c:formatCode>
                  <c:ptCount val="5"/>
                  <c:pt idx="0">
                    <c:v>1.3688350000000002E-2</c:v>
                  </c:pt>
                  <c:pt idx="1">
                    <c:v>1.6857130000000012E-2</c:v>
                  </c:pt>
                  <c:pt idx="2">
                    <c:v>1.8701470000000012E-2</c:v>
                  </c:pt>
                  <c:pt idx="3">
                    <c:v>1.8459939999999994E-2</c:v>
                  </c:pt>
                  <c:pt idx="4">
                    <c:v>1.9241010000000003E-2</c:v>
                  </c:pt>
                </c:numCache>
              </c:numRef>
            </c:plus>
            <c:minus>
              <c:numRef>
                <c:f>'[Awareness_newdata_081325.xlsx]By CKD stages'!$U$24:$U$28</c:f>
                <c:numCache>
                  <c:formatCode>General</c:formatCode>
                  <c:ptCount val="5"/>
                  <c:pt idx="0">
                    <c:v>1.3688560000000002E-2</c:v>
                  </c:pt>
                  <c:pt idx="1">
                    <c:v>1.6857819999999996E-2</c:v>
                  </c:pt>
                  <c:pt idx="2">
                    <c:v>1.870202E-2</c:v>
                  </c:pt>
                  <c:pt idx="3">
                    <c:v>1.845999999999999E-2</c:v>
                  </c:pt>
                  <c:pt idx="4">
                    <c:v>1.9241090000000002E-2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'[Awareness_newdata_081325.xlsx]By CKD stages'!$S$24:$S$28</c:f>
              <c:numCache>
                <c:formatCode>General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8E4-495D-8F11-0D12CE3C2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550306211723534E-3"/>
          <c:y val="0.7930441819772529"/>
          <c:w val="0.99834496937882766"/>
          <c:h val="0.190289151356080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'By Age Categories'!$D$23</c:f>
              <c:strCache>
                <c:ptCount val="1"/>
                <c:pt idx="0">
                  <c:v>20-39 years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Age Categories'!$E$24:$E$28</c:f>
                <c:numCache>
                  <c:formatCode>General</c:formatCode>
                  <c:ptCount val="5"/>
                  <c:pt idx="0">
                    <c:v>1.7870530000000003E-2</c:v>
                  </c:pt>
                  <c:pt idx="1">
                    <c:v>3.0926739999999994E-2</c:v>
                  </c:pt>
                  <c:pt idx="2">
                    <c:v>2.4532600000000002E-2</c:v>
                  </c:pt>
                  <c:pt idx="3">
                    <c:v>1.552775E-2</c:v>
                  </c:pt>
                  <c:pt idx="4">
                    <c:v>7.183655999999998E-2</c:v>
                  </c:pt>
                </c:numCache>
              </c:numRef>
            </c:plus>
            <c:minus>
              <c:numRef>
                <c:f>'By Age Categories'!$F$24:$F$28</c:f>
                <c:numCache>
                  <c:formatCode>General</c:formatCode>
                  <c:ptCount val="5"/>
                  <c:pt idx="0">
                    <c:v>1.7871069999999999E-2</c:v>
                  </c:pt>
                  <c:pt idx="1">
                    <c:v>3.0927420000000001E-2</c:v>
                  </c:pt>
                  <c:pt idx="2">
                    <c:v>2.4532660000000005E-2</c:v>
                  </c:pt>
                  <c:pt idx="3">
                    <c:v>1.5528360000000001E-2</c:v>
                  </c:pt>
                  <c:pt idx="4">
                    <c:v>7.1836420000000012E-2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Age Categories'!$C$24:$C$28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Age Categories'!$D$24:$D$28</c:f>
              <c:numCache>
                <c:formatCode>0.000</c:formatCode>
                <c:ptCount val="5"/>
                <c:pt idx="0">
                  <c:v>2.3021E-2</c:v>
                </c:pt>
                <c:pt idx="1">
                  <c:v>5.0512000000000001E-2</c:v>
                </c:pt>
                <c:pt idx="2">
                  <c:v>6.3112000000000001E-2</c:v>
                </c:pt>
                <c:pt idx="3">
                  <c:v>3.2696000000000003E-2</c:v>
                </c:pt>
                <c:pt idx="4">
                  <c:v>9.1051000000000007E-2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D8-471A-B41B-FE012DDFB7BB}"/>
            </c:ext>
          </c:extLst>
        </c:ser>
        <c:ser>
          <c:idx val="1"/>
          <c:order val="1"/>
          <c:tx>
            <c:strRef>
              <c:f>'By Age Categories'!$G$23</c:f>
              <c:strCache>
                <c:ptCount val="1"/>
                <c:pt idx="0">
                  <c:v>40-59 years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Age Categories'!$H$24:$H$28</c:f>
                <c:numCache>
                  <c:formatCode>General</c:formatCode>
                  <c:ptCount val="5"/>
                  <c:pt idx="0">
                    <c:v>3.6047239999999994E-2</c:v>
                  </c:pt>
                  <c:pt idx="1">
                    <c:v>3.6518110000000006E-2</c:v>
                  </c:pt>
                  <c:pt idx="2">
                    <c:v>4.9837909999999999E-2</c:v>
                  </c:pt>
                  <c:pt idx="3">
                    <c:v>3.1721290000000013E-2</c:v>
                  </c:pt>
                  <c:pt idx="4">
                    <c:v>3.6178070000000007E-2</c:v>
                  </c:pt>
                </c:numCache>
              </c:numRef>
            </c:plus>
            <c:minus>
              <c:numRef>
                <c:f>'By Age Categories'!$I$24:$I$28</c:f>
                <c:numCache>
                  <c:formatCode>General</c:formatCode>
                  <c:ptCount val="5"/>
                  <c:pt idx="0">
                    <c:v>3.6047509999999998E-2</c:v>
                  </c:pt>
                  <c:pt idx="1">
                    <c:v>3.6518039999999995E-2</c:v>
                  </c:pt>
                  <c:pt idx="2">
                    <c:v>4.9838769999999991E-2</c:v>
                  </c:pt>
                  <c:pt idx="3">
                    <c:v>3.1722130000000001E-2</c:v>
                  </c:pt>
                  <c:pt idx="4">
                    <c:v>3.6177379999999995E-2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Age Categories'!$G$24:$G$28</c:f>
              <c:numCache>
                <c:formatCode>0.000</c:formatCode>
                <c:ptCount val="5"/>
                <c:pt idx="0">
                  <c:v>8.9706999999999995E-2</c:v>
                </c:pt>
                <c:pt idx="1">
                  <c:v>7.8465999999999994E-2</c:v>
                </c:pt>
                <c:pt idx="2">
                  <c:v>9.5283999999999994E-2</c:v>
                </c:pt>
                <c:pt idx="3">
                  <c:v>0.110513</c:v>
                </c:pt>
                <c:pt idx="4">
                  <c:v>9.4191999999999998E-2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D8-471A-B41B-FE012DDFB7BB}"/>
            </c:ext>
          </c:extLst>
        </c:ser>
        <c:ser>
          <c:idx val="2"/>
          <c:order val="2"/>
          <c:tx>
            <c:strRef>
              <c:f>'By Age Categories'!$J$23</c:f>
              <c:strCache>
                <c:ptCount val="1"/>
                <c:pt idx="0">
                  <c:v>60-69 years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Age Categories'!$K$24:$K$28</c:f>
                <c:numCache>
                  <c:formatCode>General</c:formatCode>
                  <c:ptCount val="5"/>
                  <c:pt idx="0">
                    <c:v>4.4385960000000002E-2</c:v>
                  </c:pt>
                  <c:pt idx="1">
                    <c:v>5.8939629999999993E-2</c:v>
                  </c:pt>
                  <c:pt idx="2">
                    <c:v>3.634947999999999E-2</c:v>
                  </c:pt>
                  <c:pt idx="3">
                    <c:v>5.5355810000000005E-2</c:v>
                  </c:pt>
                  <c:pt idx="4">
                    <c:v>5.0536899999999996E-2</c:v>
                  </c:pt>
                </c:numCache>
              </c:numRef>
            </c:plus>
            <c:minus>
              <c:numRef>
                <c:f>'By Age Categories'!$L$24:$L$28</c:f>
                <c:numCache>
                  <c:formatCode>General</c:formatCode>
                  <c:ptCount val="5"/>
                  <c:pt idx="0">
                    <c:v>4.4386099999999984E-2</c:v>
                  </c:pt>
                  <c:pt idx="1">
                    <c:v>5.8939289999999991E-2</c:v>
                  </c:pt>
                  <c:pt idx="2">
                    <c:v>3.6349500000000007E-2</c:v>
                  </c:pt>
                  <c:pt idx="3">
                    <c:v>5.5356439999999993E-2</c:v>
                  </c:pt>
                  <c:pt idx="4">
                    <c:v>5.0536840000000013E-2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Age Categories'!$J$24:$J$28</c:f>
              <c:numCache>
                <c:formatCode>0.000</c:formatCode>
                <c:ptCount val="5"/>
                <c:pt idx="0">
                  <c:v>0.12978999999999999</c:v>
                </c:pt>
                <c:pt idx="1">
                  <c:v>0.154719</c:v>
                </c:pt>
                <c:pt idx="2">
                  <c:v>8.8260000000000005E-2</c:v>
                </c:pt>
                <c:pt idx="3">
                  <c:v>0.163103</c:v>
                </c:pt>
                <c:pt idx="4">
                  <c:v>0.14757300000000001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D8-471A-B41B-FE012DDFB7BB}"/>
            </c:ext>
          </c:extLst>
        </c:ser>
        <c:ser>
          <c:idx val="3"/>
          <c:order val="3"/>
          <c:tx>
            <c:strRef>
              <c:f>'By Age Categories'!$M$23</c:f>
              <c:strCache>
                <c:ptCount val="1"/>
                <c:pt idx="0">
                  <c:v>70+ years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Age Categories'!$N$24:$N$28</c:f>
                <c:numCache>
                  <c:formatCode>General</c:formatCode>
                  <c:ptCount val="5"/>
                  <c:pt idx="0">
                    <c:v>1.9896040000000004E-2</c:v>
                  </c:pt>
                  <c:pt idx="1">
                    <c:v>2.2476549999999998E-2</c:v>
                  </c:pt>
                  <c:pt idx="2">
                    <c:v>2.6585010000000006E-2</c:v>
                  </c:pt>
                  <c:pt idx="3">
                    <c:v>3.1856369999999995E-2</c:v>
                  </c:pt>
                  <c:pt idx="4">
                    <c:v>3.5272499999999984E-2</c:v>
                  </c:pt>
                </c:numCache>
              </c:numRef>
            </c:plus>
            <c:minus>
              <c:numRef>
                <c:f>'By Age Categories'!$O$24:$O$28</c:f>
                <c:numCache>
                  <c:formatCode>General</c:formatCode>
                  <c:ptCount val="5"/>
                  <c:pt idx="0">
                    <c:v>1.989545999999999E-2</c:v>
                  </c:pt>
                  <c:pt idx="1">
                    <c:v>2.2476950000000002E-2</c:v>
                  </c:pt>
                  <c:pt idx="2">
                    <c:v>2.6584969999999999E-2</c:v>
                  </c:pt>
                  <c:pt idx="3">
                    <c:v>3.1856620000000016E-2</c:v>
                  </c:pt>
                  <c:pt idx="4">
                    <c:v>3.5272620000000005E-2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Age Categories'!$M$24:$M$28</c:f>
              <c:numCache>
                <c:formatCode>0.000</c:formatCode>
                <c:ptCount val="5"/>
                <c:pt idx="0">
                  <c:v>9.1802999999999996E-2</c:v>
                </c:pt>
                <c:pt idx="1">
                  <c:v>7.1174000000000001E-2</c:v>
                </c:pt>
                <c:pt idx="2">
                  <c:v>0.105225</c:v>
                </c:pt>
                <c:pt idx="3">
                  <c:v>0.13533400000000001</c:v>
                </c:pt>
                <c:pt idx="4">
                  <c:v>0.17843100000000001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7D8-471A-B41B-FE012DDFB7BB}"/>
            </c:ext>
          </c:extLst>
        </c:ser>
        <c:ser>
          <c:idx val="4"/>
          <c:order val="4"/>
          <c:tx>
            <c:v>Overall</c:v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val>
            <c:numRef>
              <c:f>'By Age Categories'!$P$24:$P$28</c:f>
              <c:numCache>
                <c:formatCode>General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54-4584-8ABE-6D37CE696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'By Sex'!$D$23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Sex'!$E$24:$E$28</c:f>
                <c:numCache>
                  <c:formatCode>General</c:formatCode>
                  <c:ptCount val="5"/>
                  <c:pt idx="0">
                    <c:v>1.6707299999999994E-2</c:v>
                  </c:pt>
                  <c:pt idx="1">
                    <c:v>1.4519530000000003E-2</c:v>
                  </c:pt>
                  <c:pt idx="2">
                    <c:v>2.3895139999999995E-2</c:v>
                  </c:pt>
                  <c:pt idx="3">
                    <c:v>2.4087710000000012E-2</c:v>
                  </c:pt>
                  <c:pt idx="4">
                    <c:v>2.4455519999999994E-2</c:v>
                  </c:pt>
                </c:numCache>
              </c:numRef>
            </c:plus>
            <c:minus>
              <c:numRef>
                <c:f>'By Sex'!$F$24:$F$28</c:f>
                <c:numCache>
                  <c:formatCode>General</c:formatCode>
                  <c:ptCount val="5"/>
                  <c:pt idx="0">
                    <c:v>1.670793000000001E-2</c:v>
                  </c:pt>
                  <c:pt idx="1">
                    <c:v>1.4520320000000003E-2</c:v>
                  </c:pt>
                  <c:pt idx="2">
                    <c:v>2.3894220000000008E-2</c:v>
                  </c:pt>
                  <c:pt idx="3">
                    <c:v>2.4086949999999996E-2</c:v>
                  </c:pt>
                  <c:pt idx="4">
                    <c:v>2.4455089999999999E-2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Sex'!$C$24:$C$28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Sex'!$D$24:$D$28</c:f>
              <c:numCache>
                <c:formatCode>0.0%</c:formatCode>
                <c:ptCount val="5"/>
                <c:pt idx="0">
                  <c:v>8.0088000000000006E-2</c:v>
                </c:pt>
                <c:pt idx="1">
                  <c:v>7.0011000000000004E-2</c:v>
                </c:pt>
                <c:pt idx="2">
                  <c:v>9.5070000000000002E-2</c:v>
                </c:pt>
                <c:pt idx="3">
                  <c:v>0.113453</c:v>
                </c:pt>
                <c:pt idx="4">
                  <c:v>0.105617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95-4A29-9E4E-11DD57AB0475}"/>
            </c:ext>
          </c:extLst>
        </c:ser>
        <c:ser>
          <c:idx val="1"/>
          <c:order val="1"/>
          <c:tx>
            <c:strRef>
              <c:f>'By Sex'!$G$23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Sex'!$H$24:$H$28</c:f>
                <c:numCache>
                  <c:formatCode>General</c:formatCode>
                  <c:ptCount val="5"/>
                  <c:pt idx="0">
                    <c:v>2.2047949999999997E-2</c:v>
                  </c:pt>
                  <c:pt idx="1">
                    <c:v>3.2138570000000005E-2</c:v>
                  </c:pt>
                  <c:pt idx="2">
                    <c:v>2.5147940000000008E-2</c:v>
                  </c:pt>
                  <c:pt idx="3">
                    <c:v>2.1581120000000009E-2</c:v>
                  </c:pt>
                  <c:pt idx="4">
                    <c:v>2.8720180000000012E-2</c:v>
                  </c:pt>
                </c:numCache>
              </c:numRef>
            </c:plus>
            <c:minus>
              <c:numRef>
                <c:f>'By Sex'!$I$24:$I$28</c:f>
                <c:numCache>
                  <c:formatCode>General</c:formatCode>
                  <c:ptCount val="5"/>
                  <c:pt idx="0">
                    <c:v>2.204861000000001E-2</c:v>
                  </c:pt>
                  <c:pt idx="1">
                    <c:v>3.2138239999999998E-2</c:v>
                  </c:pt>
                  <c:pt idx="2">
                    <c:v>2.5148329999999997E-2</c:v>
                  </c:pt>
                  <c:pt idx="3">
                    <c:v>2.1581509999999998E-2</c:v>
                  </c:pt>
                  <c:pt idx="4">
                    <c:v>2.8720799999999991E-2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Sex'!$G$24:$G$28</c:f>
              <c:numCache>
                <c:formatCode>0.0%</c:formatCode>
                <c:ptCount val="5"/>
                <c:pt idx="0">
                  <c:v>9.2619000000000007E-2</c:v>
                </c:pt>
                <c:pt idx="1">
                  <c:v>0.10256899999999999</c:v>
                </c:pt>
                <c:pt idx="2">
                  <c:v>9.4107999999999997E-2</c:v>
                </c:pt>
                <c:pt idx="3">
                  <c:v>0.126056</c:v>
                </c:pt>
                <c:pt idx="4">
                  <c:v>0.17130799999999999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95-4A29-9E4E-11DD57AB0475}"/>
            </c:ext>
          </c:extLst>
        </c:ser>
        <c:ser>
          <c:idx val="3"/>
          <c:order val="2"/>
          <c:tx>
            <c:strRef>
              <c:f>'By Sex'!$J$23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Sex'!$N$24:$N$28</c:f>
                <c:numCache>
                  <c:formatCode>General</c:formatCode>
                  <c:ptCount val="5"/>
                </c:numCache>
              </c:numRef>
            </c:plus>
            <c:minus>
              <c:numRef>
                <c:f>'By Sex'!$O$24:$O$28</c:f>
                <c:numCache>
                  <c:formatCode>General</c:formatCode>
                  <c:ptCount val="5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Sex'!$J$24:$J$28</c:f>
              <c:numCache>
                <c:formatCode>0.0%</c:formatCode>
                <c:ptCount val="5"/>
                <c:pt idx="0">
                  <c:v>8.5561999999999999E-2</c:v>
                </c:pt>
                <c:pt idx="1">
                  <c:v>8.3250000000000005E-2</c:v>
                </c:pt>
                <c:pt idx="2">
                  <c:v>9.4643000000000005E-2</c:v>
                </c:pt>
                <c:pt idx="3">
                  <c:v>0.118754</c:v>
                </c:pt>
                <c:pt idx="4">
                  <c:v>0.13381899999999999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95-4A29-9E4E-11DD57AB0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layout>
            <c:manualLayout>
              <c:xMode val="edge"/>
              <c:yMode val="edge"/>
              <c:x val="0"/>
              <c:y val="0.238141732283464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0"/>
          <c:tx>
            <c:strRef>
              <c:f>'By RaceEthnicity'!$M$23</c:f>
              <c:strCache>
                <c:ptCount val="1"/>
                <c:pt idx="0">
                  <c:v>NH White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RaceEthnicity'!$N$24:$N$28</c:f>
                <c:numCache>
                  <c:formatCode>General</c:formatCode>
                  <c:ptCount val="5"/>
                  <c:pt idx="0">
                    <c:v>1.6325660000000006E-2</c:v>
                  </c:pt>
                  <c:pt idx="1">
                    <c:v>1.9780179999999994E-2</c:v>
                  </c:pt>
                  <c:pt idx="2">
                    <c:v>2.734265000000001E-2</c:v>
                  </c:pt>
                  <c:pt idx="3">
                    <c:v>2.7403350000000007E-2</c:v>
                  </c:pt>
                  <c:pt idx="4">
                    <c:v>2.6222949999999995E-2</c:v>
                  </c:pt>
                </c:numCache>
              </c:numRef>
            </c:plus>
            <c:minus>
              <c:numRef>
                <c:f>'By RaceEthnicity'!$O$24:$O$28</c:f>
                <c:numCache>
                  <c:formatCode>General</c:formatCode>
                  <c:ptCount val="5"/>
                  <c:pt idx="0">
                    <c:v>1.6326049999999995E-2</c:v>
                  </c:pt>
                  <c:pt idx="1">
                    <c:v>1.9780210000000006E-2</c:v>
                  </c:pt>
                  <c:pt idx="2">
                    <c:v>2.7342129999999999E-2</c:v>
                  </c:pt>
                  <c:pt idx="3">
                    <c:v>2.7403769999999994E-2</c:v>
                  </c:pt>
                  <c:pt idx="4">
                    <c:v>2.6223629999999998E-2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RaceEthnicity'!$M$24:$M$28</c:f>
              <c:numCache>
                <c:formatCode>0.000</c:formatCode>
                <c:ptCount val="5"/>
                <c:pt idx="0">
                  <c:v>8.0520999999999995E-2</c:v>
                </c:pt>
                <c:pt idx="1">
                  <c:v>8.3582000000000004E-2</c:v>
                </c:pt>
                <c:pt idx="2">
                  <c:v>8.6876999999999996E-2</c:v>
                </c:pt>
                <c:pt idx="3">
                  <c:v>0.112359</c:v>
                </c:pt>
                <c:pt idx="4">
                  <c:v>0.14475399999999999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E8-4F58-850D-CC9257CF95BD}"/>
            </c:ext>
          </c:extLst>
        </c:ser>
        <c:ser>
          <c:idx val="1"/>
          <c:order val="1"/>
          <c:tx>
            <c:strRef>
              <c:f>'By RaceEthnicity'!$G$23</c:f>
              <c:strCache>
                <c:ptCount val="1"/>
                <c:pt idx="0">
                  <c:v>NH Black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RaceEthnicity'!$H$24:$H$28</c:f>
                <c:numCache>
                  <c:formatCode>General</c:formatCode>
                  <c:ptCount val="5"/>
                  <c:pt idx="0">
                    <c:v>3.7782060000000006E-2</c:v>
                  </c:pt>
                  <c:pt idx="1">
                    <c:v>5.1735719999999999E-2</c:v>
                  </c:pt>
                  <c:pt idx="2">
                    <c:v>3.5721870000000017E-2</c:v>
                  </c:pt>
                  <c:pt idx="3">
                    <c:v>3.5013039999999995E-2</c:v>
                  </c:pt>
                  <c:pt idx="4">
                    <c:v>4.3468320000000005E-2</c:v>
                  </c:pt>
                </c:numCache>
              </c:numRef>
            </c:plus>
            <c:minus>
              <c:numRef>
                <c:f>'By RaceEthnicity'!$I$24:$I$28</c:f>
                <c:numCache>
                  <c:formatCode>General</c:formatCode>
                  <c:ptCount val="5"/>
                  <c:pt idx="0">
                    <c:v>3.7781549999999997E-2</c:v>
                  </c:pt>
                  <c:pt idx="1">
                    <c:v>5.173606E-2</c:v>
                  </c:pt>
                  <c:pt idx="2">
                    <c:v>3.5722829999999997E-2</c:v>
                  </c:pt>
                  <c:pt idx="3">
                    <c:v>3.5012309999999991E-2</c:v>
                  </c:pt>
                  <c:pt idx="4">
                    <c:v>4.3468800000000002E-2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RaceEthnicity'!$G$24:$G$28</c:f>
              <c:numCache>
                <c:formatCode>0.000</c:formatCode>
                <c:ptCount val="5"/>
                <c:pt idx="0">
                  <c:v>0.133743</c:v>
                </c:pt>
                <c:pt idx="1">
                  <c:v>0.11688</c:v>
                </c:pt>
                <c:pt idx="2">
                  <c:v>0.11827699999999999</c:v>
                </c:pt>
                <c:pt idx="3">
                  <c:v>0.154192</c:v>
                </c:pt>
                <c:pt idx="4">
                  <c:v>0.17422399999999999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E8-4F58-850D-CC9257CF95BD}"/>
            </c:ext>
          </c:extLst>
        </c:ser>
        <c:ser>
          <c:idx val="0"/>
          <c:order val="2"/>
          <c:tx>
            <c:strRef>
              <c:f>'By RaceEthnicity'!$D$23</c:f>
              <c:strCache>
                <c:ptCount val="1"/>
                <c:pt idx="0">
                  <c:v>Hispanic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RaceEthnicity'!$E$24:$E$28</c:f>
                <c:numCache>
                  <c:formatCode>General</c:formatCode>
                  <c:ptCount val="5"/>
                  <c:pt idx="0">
                    <c:v>5.6154110000000007E-2</c:v>
                  </c:pt>
                  <c:pt idx="1">
                    <c:v>1.7713670000000001E-2</c:v>
                  </c:pt>
                  <c:pt idx="2">
                    <c:v>3.3476040000000012E-2</c:v>
                  </c:pt>
                  <c:pt idx="3">
                    <c:v>2.4248839999999994E-2</c:v>
                  </c:pt>
                  <c:pt idx="4">
                    <c:v>2.943076E-2</c:v>
                  </c:pt>
                </c:numCache>
              </c:numRef>
            </c:plus>
            <c:minus>
              <c:numRef>
                <c:f>'By RaceEthnicity'!$F$24:$F$28</c:f>
                <c:numCache>
                  <c:formatCode>General</c:formatCode>
                  <c:ptCount val="5"/>
                  <c:pt idx="0">
                    <c:v>5.6154580000000009E-2</c:v>
                  </c:pt>
                  <c:pt idx="1">
                    <c:v>1.7713380000000001E-2</c:v>
                  </c:pt>
                  <c:pt idx="2">
                    <c:v>3.347515999999999E-2</c:v>
                  </c:pt>
                  <c:pt idx="3">
                    <c:v>2.4249099999999996E-2</c:v>
                  </c:pt>
                  <c:pt idx="4">
                    <c:v>2.9431060000000002E-2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RaceEthnicity'!$C$24:$C$28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RaceEthnicity'!$D$24:$D$28</c:f>
              <c:numCache>
                <c:formatCode>0.000</c:formatCode>
                <c:ptCount val="5"/>
                <c:pt idx="0">
                  <c:v>8.0572000000000005E-2</c:v>
                </c:pt>
                <c:pt idx="1">
                  <c:v>4.3053000000000001E-2</c:v>
                </c:pt>
                <c:pt idx="2">
                  <c:v>0.11566899999999999</c:v>
                </c:pt>
                <c:pt idx="3">
                  <c:v>0.12663199999999999</c:v>
                </c:pt>
                <c:pt idx="4">
                  <c:v>8.3277000000000004E-2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E8-4F58-850D-CC9257CF95BD}"/>
            </c:ext>
          </c:extLst>
        </c:ser>
        <c:ser>
          <c:idx val="2"/>
          <c:order val="3"/>
          <c:tx>
            <c:strRef>
              <c:f>'By RaceEthnicity'!$J$23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RaceEthnicity'!$K$24:$K$28</c:f>
                <c:numCache>
                  <c:formatCode>General</c:formatCode>
                  <c:ptCount val="5"/>
                  <c:pt idx="0">
                    <c:v>5.4216590000000009E-2</c:v>
                  </c:pt>
                  <c:pt idx="1">
                    <c:v>6.9756239999999997E-2</c:v>
                  </c:pt>
                  <c:pt idx="2">
                    <c:v>3.3108700000000005E-2</c:v>
                  </c:pt>
                  <c:pt idx="3">
                    <c:v>5.5145110000000011E-2</c:v>
                  </c:pt>
                  <c:pt idx="4">
                    <c:v>4.9257970000000012E-2</c:v>
                  </c:pt>
                </c:numCache>
              </c:numRef>
            </c:plus>
            <c:minus>
              <c:numRef>
                <c:f>'By RaceEthnicity'!$L$24:$L$28</c:f>
                <c:numCache>
                  <c:formatCode>General</c:formatCode>
                  <c:ptCount val="5"/>
                  <c:pt idx="0">
                    <c:v>5.421658E-2</c:v>
                  </c:pt>
                  <c:pt idx="1">
                    <c:v>6.9755739999999997E-2</c:v>
                  </c:pt>
                  <c:pt idx="2">
                    <c:v>3.3108180000000001E-2</c:v>
                  </c:pt>
                  <c:pt idx="3">
                    <c:v>5.5144889999999995E-2</c:v>
                  </c:pt>
                  <c:pt idx="4">
                    <c:v>4.925852E-2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RaceEthnicity'!$J$24:$J$28</c:f>
              <c:numCache>
                <c:formatCode>0.000</c:formatCode>
                <c:ptCount val="5"/>
                <c:pt idx="0">
                  <c:v>5.8028999999999997E-2</c:v>
                </c:pt>
                <c:pt idx="1">
                  <c:v>7.2103E-2</c:v>
                </c:pt>
                <c:pt idx="2">
                  <c:v>5.4672999999999999E-2</c:v>
                </c:pt>
                <c:pt idx="3">
                  <c:v>8.7461999999999998E-2</c:v>
                </c:pt>
                <c:pt idx="4">
                  <c:v>0.103185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E8-4F58-850D-CC9257CF95BD}"/>
            </c:ext>
          </c:extLst>
        </c:ser>
        <c:ser>
          <c:idx val="4"/>
          <c:order val="4"/>
          <c:tx>
            <c:strRef>
              <c:f>'By RaceEthnicity'!$P$23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val>
            <c:numRef>
              <c:f>'By RaceEthnicity'!$P$24:$P$28</c:f>
              <c:numCache>
                <c:formatCode>General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3C-43ED-9430-C17F53D7A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'By Diabetes'!$D$23</c:f>
              <c:strCache>
                <c:ptCount val="1"/>
                <c:pt idx="0">
                  <c:v>No Diabetes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Diabetes'!$E$24:$E$28</c:f>
                <c:numCache>
                  <c:formatCode>General</c:formatCode>
                  <c:ptCount val="5"/>
                  <c:pt idx="0">
                    <c:v>1.462687E-2</c:v>
                  </c:pt>
                  <c:pt idx="1">
                    <c:v>1.8381359999999999E-2</c:v>
                  </c:pt>
                  <c:pt idx="2">
                    <c:v>1.7520820000000006E-2</c:v>
                  </c:pt>
                  <c:pt idx="3">
                    <c:v>1.8220159999999999E-2</c:v>
                  </c:pt>
                  <c:pt idx="4">
                    <c:v>2.4778870000000008E-2</c:v>
                  </c:pt>
                </c:numCache>
              </c:numRef>
            </c:plus>
            <c:minus>
              <c:numRef>
                <c:f>'By Diabetes'!$F$24:$F$28</c:f>
                <c:numCache>
                  <c:formatCode>General</c:formatCode>
                  <c:ptCount val="5"/>
                  <c:pt idx="0">
                    <c:v>1.4627139999999997E-2</c:v>
                  </c:pt>
                  <c:pt idx="1">
                    <c:v>1.8381459999999995E-2</c:v>
                  </c:pt>
                  <c:pt idx="2">
                    <c:v>1.7519839999999995E-2</c:v>
                  </c:pt>
                  <c:pt idx="3">
                    <c:v>1.822072000000001E-2</c:v>
                  </c:pt>
                  <c:pt idx="4">
                    <c:v>2.4778759999999997E-2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Diabetes'!$C$24:$C$28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Diabetes'!$D$24:$D$28</c:f>
              <c:numCache>
                <c:formatCode>0.000</c:formatCode>
                <c:ptCount val="5"/>
                <c:pt idx="0">
                  <c:v>6.5132999999999996E-2</c:v>
                </c:pt>
                <c:pt idx="1">
                  <c:v>6.0235999999999998E-2</c:v>
                </c:pt>
                <c:pt idx="2">
                  <c:v>7.0682999999999996E-2</c:v>
                </c:pt>
                <c:pt idx="3">
                  <c:v>9.7251000000000004E-2</c:v>
                </c:pt>
                <c:pt idx="4">
                  <c:v>0.113395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DD-4245-8305-6DCBFBD40074}"/>
            </c:ext>
          </c:extLst>
        </c:ser>
        <c:ser>
          <c:idx val="1"/>
          <c:order val="1"/>
          <c:tx>
            <c:strRef>
              <c:f>'By Diabetes'!$G$23</c:f>
              <c:strCache>
                <c:ptCount val="1"/>
                <c:pt idx="0">
                  <c:v>Diabetes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Diabetes'!$H$24:$H$28</c:f>
                <c:numCache>
                  <c:formatCode>General</c:formatCode>
                  <c:ptCount val="5"/>
                  <c:pt idx="0">
                    <c:v>4.864903000000001E-2</c:v>
                  </c:pt>
                  <c:pt idx="1">
                    <c:v>4.6158929999999987E-2</c:v>
                  </c:pt>
                  <c:pt idx="2">
                    <c:v>3.8872139999999999E-2</c:v>
                  </c:pt>
                  <c:pt idx="3">
                    <c:v>4.0311580000000014E-2</c:v>
                  </c:pt>
                  <c:pt idx="4">
                    <c:v>3.2830650000000017E-2</c:v>
                  </c:pt>
                </c:numCache>
              </c:numRef>
            </c:plus>
            <c:minus>
              <c:numRef>
                <c:f>'By Diabetes'!$I$24:$I$28</c:f>
                <c:numCache>
                  <c:formatCode>General</c:formatCode>
                  <c:ptCount val="5"/>
                  <c:pt idx="0">
                    <c:v>4.8649389999999987E-2</c:v>
                  </c:pt>
                  <c:pt idx="1">
                    <c:v>4.6157959999999998E-2</c:v>
                  </c:pt>
                  <c:pt idx="2">
                    <c:v>3.8871550000000005E-2</c:v>
                  </c:pt>
                  <c:pt idx="3">
                    <c:v>4.0311359999999991E-2</c:v>
                  </c:pt>
                  <c:pt idx="4">
                    <c:v>3.2829849999999994E-2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Diabetes'!$G$24:$G$28</c:f>
              <c:numCache>
                <c:formatCode>0.000</c:formatCode>
                <c:ptCount val="5"/>
                <c:pt idx="0">
                  <c:v>0.14317199999999999</c:v>
                </c:pt>
                <c:pt idx="1">
                  <c:v>0.139462</c:v>
                </c:pt>
                <c:pt idx="2">
                  <c:v>0.143429</c:v>
                </c:pt>
                <c:pt idx="3">
                  <c:v>0.165848</c:v>
                </c:pt>
                <c:pt idx="4">
                  <c:v>0.17238899999999999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DD-4245-8305-6DCBFBD40074}"/>
            </c:ext>
          </c:extLst>
        </c:ser>
        <c:ser>
          <c:idx val="2"/>
          <c:order val="2"/>
          <c:tx>
            <c:strRef>
              <c:f>'By Diabetes'!$J$23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val>
            <c:numRef>
              <c:f>'By Diabetes'!$J$24:$J$28</c:f>
              <c:numCache>
                <c:formatCode>0.000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DD-4245-8305-6DCBFBD40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'By Hypertension'!$D$23</c:f>
              <c:strCache>
                <c:ptCount val="1"/>
                <c:pt idx="0">
                  <c:v>No Hypertension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Hypertension'!$E$24:$E$28</c:f>
                <c:numCache>
                  <c:formatCode>General</c:formatCode>
                  <c:ptCount val="5"/>
                  <c:pt idx="0">
                    <c:v>2.9023830000000007E-2</c:v>
                  </c:pt>
                  <c:pt idx="1">
                    <c:v>1.8484390000000003E-2</c:v>
                  </c:pt>
                  <c:pt idx="2">
                    <c:v>3.8006769999999995E-2</c:v>
                  </c:pt>
                  <c:pt idx="3">
                    <c:v>2.9443370000000003E-2</c:v>
                  </c:pt>
                  <c:pt idx="4">
                    <c:v>4.2842389999999994E-2</c:v>
                  </c:pt>
                </c:numCache>
              </c:numRef>
            </c:plus>
            <c:minus>
              <c:numRef>
                <c:f>'By Hypertension'!$F$24:$F$28</c:f>
                <c:numCache>
                  <c:formatCode>General</c:formatCode>
                  <c:ptCount val="5"/>
                  <c:pt idx="0">
                    <c:v>2.9023869999999997E-2</c:v>
                  </c:pt>
                  <c:pt idx="1">
                    <c:v>1.8483479999999997E-2</c:v>
                  </c:pt>
                  <c:pt idx="2">
                    <c:v>3.8007260000000001E-2</c:v>
                  </c:pt>
                  <c:pt idx="3">
                    <c:v>2.9444250000000002E-2</c:v>
                  </c:pt>
                  <c:pt idx="4">
                    <c:v>4.2842889999999995E-2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'By Hypertension'!$C$24:$C$28</c:f>
              <c:strCache>
                <c:ptCount val="5"/>
                <c:pt idx="0">
                  <c:v>2001-2004</c:v>
                </c:pt>
                <c:pt idx="1">
                  <c:v>2005-2008</c:v>
                </c:pt>
                <c:pt idx="2">
                  <c:v>2009-2012</c:v>
                </c:pt>
                <c:pt idx="3">
                  <c:v>2013-2016</c:v>
                </c:pt>
                <c:pt idx="4">
                  <c:v>2017-2020</c:v>
                </c:pt>
              </c:strCache>
            </c:strRef>
          </c:cat>
          <c:val>
            <c:numRef>
              <c:f>'By Hypertension'!$D$24:$D$28</c:f>
              <c:numCache>
                <c:formatCode>0.000</c:formatCode>
                <c:ptCount val="5"/>
                <c:pt idx="0">
                  <c:v>4.0870999999999998E-2</c:v>
                </c:pt>
                <c:pt idx="1">
                  <c:v>2.2540999999999999E-2</c:v>
                </c:pt>
                <c:pt idx="2">
                  <c:v>5.6895000000000001E-2</c:v>
                </c:pt>
                <c:pt idx="3">
                  <c:v>5.7943000000000001E-2</c:v>
                </c:pt>
                <c:pt idx="4">
                  <c:v>0.10075199999999999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16-4644-8AD9-0DF4A9E08B39}"/>
            </c:ext>
          </c:extLst>
        </c:ser>
        <c:ser>
          <c:idx val="1"/>
          <c:order val="1"/>
          <c:tx>
            <c:strRef>
              <c:f>'By Hypertension'!$G$23</c:f>
              <c:strCache>
                <c:ptCount val="1"/>
                <c:pt idx="0">
                  <c:v>Hypertension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Hypertension'!$H$24:$H$28</c:f>
                <c:numCache>
                  <c:formatCode>General</c:formatCode>
                  <c:ptCount val="5"/>
                  <c:pt idx="0">
                    <c:v>1.5136219999999992E-2</c:v>
                  </c:pt>
                  <c:pt idx="1">
                    <c:v>1.9747849999999997E-2</c:v>
                  </c:pt>
                  <c:pt idx="2">
                    <c:v>2.1969679999999991E-2</c:v>
                  </c:pt>
                  <c:pt idx="3">
                    <c:v>2.239517000000002E-2</c:v>
                  </c:pt>
                  <c:pt idx="4">
                    <c:v>2.1320790000000006E-2</c:v>
                  </c:pt>
                </c:numCache>
              </c:numRef>
            </c:plus>
            <c:minus>
              <c:numRef>
                <c:f>'By Hypertension'!$I$24:$I$28</c:f>
                <c:numCache>
                  <c:formatCode>General</c:formatCode>
                  <c:ptCount val="5"/>
                  <c:pt idx="0">
                    <c:v>1.5136980000000008E-2</c:v>
                  </c:pt>
                  <c:pt idx="1">
                    <c:v>1.9747299999999995E-2</c:v>
                  </c:pt>
                  <c:pt idx="2">
                    <c:v>2.1969330000000009E-2</c:v>
                  </c:pt>
                  <c:pt idx="3">
                    <c:v>2.2395599999999988E-2</c:v>
                  </c:pt>
                  <c:pt idx="4">
                    <c:v>2.1320580000000006E-2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Hypertension'!$G$24:$G$28</c:f>
              <c:numCache>
                <c:formatCode>0.000</c:formatCode>
                <c:ptCount val="5"/>
                <c:pt idx="0">
                  <c:v>0.10223400000000001</c:v>
                </c:pt>
                <c:pt idx="1">
                  <c:v>0.100938</c:v>
                </c:pt>
                <c:pt idx="2">
                  <c:v>0.104856</c:v>
                </c:pt>
                <c:pt idx="3">
                  <c:v>0.13844899999999999</c:v>
                </c:pt>
                <c:pt idx="4">
                  <c:v>0.152224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16-4644-8AD9-0DF4A9E08B39}"/>
            </c:ext>
          </c:extLst>
        </c:ser>
        <c:ser>
          <c:idx val="3"/>
          <c:order val="2"/>
          <c:tx>
            <c:strRef>
              <c:f>'By Hypertension'!$J$23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'By Hypertension'!$N$24:$N$28</c:f>
                <c:numCache>
                  <c:formatCode>General</c:formatCode>
                  <c:ptCount val="5"/>
                </c:numCache>
              </c:numRef>
            </c:plus>
            <c:minus>
              <c:numRef>
                <c:f>'By Hypertension'!$O$24:$O$28</c:f>
                <c:numCache>
                  <c:formatCode>General</c:formatCode>
                  <c:ptCount val="5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'By Hypertension'!$J$24:$J$28</c:f>
              <c:numCache>
                <c:formatCode>0.000</c:formatCode>
                <c:ptCount val="5"/>
                <c:pt idx="0">
                  <c:v>8.6574999999999999E-2</c:v>
                </c:pt>
                <c:pt idx="1">
                  <c:v>8.3239999999999995E-2</c:v>
                </c:pt>
                <c:pt idx="2">
                  <c:v>9.3203999999999995E-2</c:v>
                </c:pt>
                <c:pt idx="3">
                  <c:v>0.118238</c:v>
                </c:pt>
                <c:pt idx="4">
                  <c:v>0.136625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16-4644-8AD9-0DF4A9E08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3794671"/>
        <c:axId val="1833788847"/>
      </c:lineChart>
      <c:catAx>
        <c:axId val="18337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88847"/>
        <c:crosses val="autoZero"/>
        <c:auto val="1"/>
        <c:lblAlgn val="ctr"/>
        <c:lblOffset val="100"/>
        <c:noMultiLvlLbl val="0"/>
      </c:catAx>
      <c:valAx>
        <c:axId val="183378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Awareness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794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8449-2E43-4B34-AFB5-42CA0AD23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178844"/>
            <a:ext cx="11338560" cy="1594369"/>
          </a:xfrm>
        </p:spPr>
        <p:txBody>
          <a:bodyPr anchor="b"/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D807-1E0F-4F52-92E5-9827BB93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8"/>
            <a:ext cx="11521440" cy="1881352"/>
          </a:xfrm>
        </p:spPr>
        <p:txBody>
          <a:bodyPr/>
          <a:lstStyle>
            <a:lvl1pPr marL="0" indent="0" algn="ctr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F046-36EC-4A13-89A5-0CC29AB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A129-0606-4903-A165-D0B38864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EF8D5BE6-2B49-4430-B3CC-EC848085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1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23F-F86B-41BA-A6AA-1A3F17EB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9402-AB80-4C31-A14F-82C076FD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2937"/>
            <a:ext cx="1143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D2CB6-1D80-4081-86FB-B15DD03D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B740-D754-48D4-9589-4E1B5CCB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1B60-B2EB-45FC-99A5-2CEE060F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CE5B4ECC-CA9A-4DD6-BBC4-5B5CA7B4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94DA-8682-47BA-801B-4A312533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86CDE-F4D9-4130-9F65-C19EC77E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DE1F-53E5-4C5C-B1DC-D69BEDE4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7E355-DA7E-4665-99AA-D6331108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42E0-1332-4ADF-BB40-D707772F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021B1473-E230-4424-88C9-096E878C3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2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8B7E-E383-41B8-83DC-BCBAEFF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0F6-218D-4666-93AB-CC5CB0352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B6129-B622-4C6C-9627-E2D34A72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2F8A-DDB4-40D8-BC9A-9F8C601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D8514-39E9-463F-9D6D-BA2F1E4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628B1-4B31-46D1-9943-288C2CFA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EDFA2D4-658B-4CFA-90B4-6D3C81B1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40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F42C-D912-40D5-B069-2EBDDB21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E388-458A-4BFC-8B5B-E2338FA7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71131-2939-4333-BE32-6B971E6D9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687D6-AE10-483D-8497-199549CC3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0C9B6-845A-427D-8890-7FF14752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6D4DF-7BF9-4656-9E74-1978BF3C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18974-B101-4E89-B490-F9C18CF5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DF8C8-6B1A-46AB-B0B9-0B148661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ue and white sign&#10;&#10;Description automatically generated">
            <a:extLst>
              <a:ext uri="{FF2B5EF4-FFF2-40B4-BE49-F238E27FC236}">
                <a16:creationId xmlns:a16="http://schemas.microsoft.com/office/drawing/2014/main" id="{288D87A5-8AAA-4E59-8F47-23DB04B7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92C9-40CD-4BC2-AA2D-942CC760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8478D-ABC5-4F57-99D5-D5C201F5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C8747-5D3F-46B5-985C-DAC1E17C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AA2AB-2FF6-44C7-A235-F093DF3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ue and white sign&#10;&#10;Description automatically generated">
            <a:extLst>
              <a:ext uri="{FF2B5EF4-FFF2-40B4-BE49-F238E27FC236}">
                <a16:creationId xmlns:a16="http://schemas.microsoft.com/office/drawing/2014/main" id="{F220FB18-732D-4555-9511-BE496C629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6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6823-A8E4-41B5-AABF-7E50AB94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33D15-14C9-4533-A0B2-E17FCF5B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63C01-7C52-4C05-B87A-E55AEC07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1800F7B6-564D-454C-8D78-AAFB76F65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1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31D2-9A00-45DB-A47F-9F57177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AFDC-A042-4571-8E47-321A4016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D1982-1467-44BE-898D-FDE749B74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4EBC-62D2-4411-B172-EB0CAA25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70BC-E6DC-49B9-94D8-2DFC8079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1F3D-733C-4F46-80D5-9CEB9705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AAFF090-4748-4CEB-82FE-B8DC75C4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9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1E9C-B474-4962-83D4-0F95B2D0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91AEC-7DE2-4B8B-BF1B-C9E9B2488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8899-8ED1-47C9-90C3-9AB19FF8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48AA-B4CB-40C1-989C-1976A668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E994E-4C08-4134-AA8F-7F0FB57B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27BB6-3A58-4F48-9C34-230B6476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6551F537-C48C-4D91-AF2C-B8593944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5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E83A-2FF1-4212-A7D8-F2547F72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F2CD3-4A3B-4BB5-A8C6-93515C84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1338-8E14-4E12-8514-B8F7581C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4247-AED8-4BE5-97FF-55E5D290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D25E-9B75-4BDF-BE71-685AF58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2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55AC4-0A12-4AF2-BD32-F89BA4E32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11FD-96A5-4F2E-9CC1-A1537DF2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3FE6-D7D9-42A7-A93F-97596BF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1973-370D-4668-BF90-3DBF1A43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5534F-0704-4F83-B361-02989C4F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8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A2EFD-5BC8-486D-AC05-C88192EE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EF7-BE2E-44A6-A579-2EB131557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8898-A5C2-4AD9-9375-B6EEEF874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0B553-26B3-4688-A4EB-D0CB89E43B2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B22A-4D3A-4BD5-9047-B2647995E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F5A4-D87B-4D75-B420-FEC89275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D3C03-E70B-4634-90E1-06C7D14DB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7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88" y="2436767"/>
            <a:ext cx="11542644" cy="1640266"/>
          </a:xfrm>
        </p:spPr>
        <p:txBody>
          <a:bodyPr>
            <a:noAutofit/>
          </a:bodyPr>
          <a:lstStyle/>
          <a:p>
            <a:r>
              <a:rPr lang="en-US" b="1" dirty="0"/>
              <a:t>Trends in Kidney Disease Awareness Among U.S. Adults With CKD Stages 1–5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FA14B-AC93-4C17-8646-80240875DD4C}"/>
              </a:ext>
            </a:extLst>
          </p:cNvPr>
          <p:cNvSpPr txBox="1"/>
          <p:nvPr/>
        </p:nvSpPr>
        <p:spPr>
          <a:xfrm>
            <a:off x="399068" y="3429000"/>
            <a:ext cx="115426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Overall, rates of kidney disease awareness (crude) have increased from 8.7% in 2001–2004 to 13.7% in 2017–March 2020. The highest increase after 2012 was observed in participants with CKD stages 3–5 (from 15.6% to 26.0%). CKD awareness did not differ by race and ethnicity or sex but tended to be lower among adults aged 20–39 years. A higher proportion of adults with CKD and hypertension or diabetes were aware of CKD than those without hypertension or diabetes.</a:t>
            </a:r>
          </a:p>
          <a:p>
            <a:pPr algn="l"/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algn="l"/>
            <a:r>
              <a:rPr lang="en-US" b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Data Source: </a:t>
            </a:r>
            <a:r>
              <a:rPr lang="en-US" b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NHANES</a:t>
            </a:r>
          </a:p>
          <a:p>
            <a:pPr algn="l"/>
            <a:endParaRPr lang="en-US" b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692DE-70E6-4DF4-B463-70286F232123}"/>
              </a:ext>
            </a:extLst>
          </p:cNvPr>
          <p:cNvSpPr txBox="1"/>
          <p:nvPr/>
        </p:nvSpPr>
        <p:spPr>
          <a:xfrm>
            <a:off x="3584701" y="6211555"/>
            <a:ext cx="50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 Link to indicator</a:t>
            </a:r>
          </a:p>
        </p:txBody>
      </p:sp>
    </p:spTree>
    <p:extLst>
      <p:ext uri="{BB962C8B-B14F-4D97-AF65-F5344CB8AC3E}">
        <p14:creationId xmlns:p14="http://schemas.microsoft.com/office/powerpoint/2010/main" val="136823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Crude Trends in Awareness of Kidney Disease, Overall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A1E3EDB-7422-4842-9A35-16F7B125AD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961721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973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Crude </a:t>
            </a:r>
            <a:r>
              <a:rPr lang="en-US" b="1" dirty="0"/>
              <a:t>Trends in Awareness, by CKD group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8BEB389-3ACE-4818-BDB8-A02AB3518696}"/>
              </a:ext>
            </a:extLst>
          </p:cNvPr>
          <p:cNvGraphicFramePr>
            <a:graphicFrameLocks/>
          </p:cNvGraphicFramePr>
          <p:nvPr/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770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5C12A9-AF8E-4EE1-ADBE-9EA501E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Crude </a:t>
            </a:r>
            <a:r>
              <a:rPr lang="en-US" b="1" dirty="0"/>
              <a:t>Trends in Awareness, by CKD Stage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6E5C4E7-58BE-47AA-B310-4E05B1F0AE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441616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634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E282F0-BBF1-4FA7-AB1C-DD0A1A85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Trends in Awareness in Adults with CKD Stages 1-5, by Age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ACFE067-32E5-460A-8A9A-54D93995DD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7449038"/>
              </p:ext>
            </p:extLst>
          </p:nvPr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069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299609-388D-40F4-8FD2-10944AAF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Crude Trends in Awareness in Adults with CKD </a:t>
            </a:r>
            <a:br>
              <a:rPr lang="en-US" b="1" dirty="0"/>
            </a:br>
            <a:r>
              <a:rPr lang="en-US" b="1" dirty="0"/>
              <a:t>Stages1-5, by Sex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1E096C1-C9D7-466E-ADBC-F45380355D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3781238"/>
              </p:ext>
            </p:extLst>
          </p:nvPr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847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E4F957-7018-4576-B0D7-609F2CAC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Crude Trends in Awareness in Adults with CKD </a:t>
            </a:r>
            <a:br>
              <a:rPr lang="en-US" b="1" dirty="0"/>
            </a:br>
            <a:r>
              <a:rPr lang="en-US" b="1" dirty="0"/>
              <a:t>Stages 1-5, by Race/Ethnicity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D3FF327-DBCF-4C05-AE6E-EB46ECF76F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5355763"/>
              </p:ext>
            </p:extLst>
          </p:nvPr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7966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E4F957-7018-4576-B0D7-609F2CAC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Crude Trends in Awareness in Adults with </a:t>
            </a:r>
            <a:br>
              <a:rPr lang="en-US" b="1" dirty="0"/>
            </a:br>
            <a:r>
              <a:rPr lang="en-US" b="1" dirty="0"/>
              <a:t>CKD Stages 1-5, by Diabetes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EA99727-A169-43B6-BDFE-CDD2B84111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0933246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413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299609-388D-40F4-8FD2-10944AAF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Crude Trends in Awareness in Adults with CKD </a:t>
            </a:r>
            <a:br>
              <a:rPr lang="en-US" b="1" dirty="0"/>
            </a:br>
            <a:r>
              <a:rPr lang="en-US" b="1" dirty="0"/>
              <a:t>Stages 1-5, by Hypertension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14CF312-BB24-4F96-AF0C-BE68553381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00557"/>
              </p:ext>
            </p:extLst>
          </p:nvPr>
        </p:nvGraphicFramePr>
        <p:xfrm>
          <a:off x="381000" y="1690688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7558453"/>
      </p:ext>
    </p:extLst>
  </p:cSld>
  <p:clrMapOvr>
    <a:masterClrMapping/>
  </p:clrMapOvr>
</p:sld>
</file>

<file path=ppt/theme/theme1.xml><?xml version="1.0" encoding="utf-8"?>
<a:theme xmlns:a="http://schemas.openxmlformats.org/drawingml/2006/main" name="KDSS indicator downloads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for KDSS indicator downloads" id="{5C6D22D6-B8C2-4CC9-8270-3716F03D486C}" vid="{6854CA39-71F8-4600-8AEC-7156B3C3D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224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Open Sans</vt:lpstr>
      <vt:lpstr>KDSS indicator downloads template</vt:lpstr>
      <vt:lpstr>Trends in Kidney Disease Awareness Among U.S. Adults With CKD Stages 1–5 </vt:lpstr>
      <vt:lpstr>Crude Trends in Awareness of Kidney Disease, Overall </vt:lpstr>
      <vt:lpstr>Crude Trends in Awareness, by CKD group</vt:lpstr>
      <vt:lpstr>Crude Trends in Awareness, by CKD Stage</vt:lpstr>
      <vt:lpstr>Trends in Awareness in Adults with CKD Stages 1-5, by Age</vt:lpstr>
      <vt:lpstr>Crude Trends in Awareness in Adults with CKD  Stages1-5, by Sex</vt:lpstr>
      <vt:lpstr>Crude Trends in Awareness in Adults with CKD  Stages 1-5, by Race/Ethnicity</vt:lpstr>
      <vt:lpstr>Crude Trends in Awareness in Adults with  CKD Stages 1-5, by Diabetes</vt:lpstr>
      <vt:lpstr>Crude Trends in Awareness in Adults with CKD  Stages 1-5, by Hypertension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 in Kidney Disease Awareness Among U.S. Adults With CKD Stages 1–5 </dc:title>
  <dc:creator>Licon, Ana Laura</dc:creator>
  <cp:lastModifiedBy>Licon, Ana Laura</cp:lastModifiedBy>
  <cp:revision>3</cp:revision>
  <dcterms:created xsi:type="dcterms:W3CDTF">2025-12-03T21:06:21Z</dcterms:created>
  <dcterms:modified xsi:type="dcterms:W3CDTF">2025-12-05T18:52:49Z</dcterms:modified>
</cp:coreProperties>
</file>