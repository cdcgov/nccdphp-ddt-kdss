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98" r:id="rId2"/>
    <p:sldId id="299" r:id="rId3"/>
    <p:sldId id="306" r:id="rId4"/>
    <p:sldId id="307" r:id="rId5"/>
    <p:sldId id="309" r:id="rId6"/>
    <p:sldId id="31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B7B7"/>
    <a:srgbClr val="F197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43" d="100"/>
          <a:sy n="43" d="100"/>
        </p:scale>
        <p:origin x="56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Overall!$B$1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ysClr val="windowText" lastClr="000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Overall!$A$2:$A$16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Overall!$B$2:$B$16</c:f>
              <c:numCache>
                <c:formatCode>General</c:formatCode>
                <c:ptCount val="15"/>
                <c:pt idx="0">
                  <c:v>25.01</c:v>
                </c:pt>
                <c:pt idx="1">
                  <c:v>31.61</c:v>
                </c:pt>
                <c:pt idx="2">
                  <c:v>34.119999999999997</c:v>
                </c:pt>
                <c:pt idx="3">
                  <c:v>34.369999999999997</c:v>
                </c:pt>
                <c:pt idx="4">
                  <c:v>35.17</c:v>
                </c:pt>
                <c:pt idx="5">
                  <c:v>35.590000000000003</c:v>
                </c:pt>
                <c:pt idx="6">
                  <c:v>36.49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DC5-4ADD-84B5-94EF885367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1918015"/>
        <c:axId val="471918431"/>
      </c:lineChart>
      <c:catAx>
        <c:axId val="471918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1918431"/>
        <c:crosses val="autoZero"/>
        <c:auto val="1"/>
        <c:lblAlgn val="ctr"/>
        <c:lblOffset val="100"/>
        <c:tickLblSkip val="2"/>
        <c:noMultiLvlLbl val="0"/>
      </c:catAx>
      <c:valAx>
        <c:axId val="4719184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CKD Stages 3-5 with ICD Codes (%)</a:t>
                </a:r>
              </a:p>
            </c:rich>
          </c:tx>
          <c:layout>
            <c:manualLayout>
              <c:xMode val="edge"/>
              <c:yMode val="edge"/>
              <c:x val="1.3333333333333334E-2"/>
              <c:y val="6.3350831146106734E-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191801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  <a:latin typeface="+mn-lt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Age!$C$1</c:f>
              <c:strCache>
                <c:ptCount val="1"/>
                <c:pt idx="0">
                  <c:v>18–29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Age!$C$2:$C$16</c:f>
              <c:numCache>
                <c:formatCode>General</c:formatCode>
                <c:ptCount val="15"/>
                <c:pt idx="0">
                  <c:v>21.77</c:v>
                </c:pt>
                <c:pt idx="1">
                  <c:v>26.43</c:v>
                </c:pt>
                <c:pt idx="2">
                  <c:v>30.04</c:v>
                </c:pt>
                <c:pt idx="3">
                  <c:v>31.56</c:v>
                </c:pt>
                <c:pt idx="4">
                  <c:v>29.78</c:v>
                </c:pt>
                <c:pt idx="5">
                  <c:v>34.770000000000003</c:v>
                </c:pt>
                <c:pt idx="6">
                  <c:v>30.95</c:v>
                </c:pt>
                <c:pt idx="7">
                  <c:v>24.17</c:v>
                </c:pt>
                <c:pt idx="8">
                  <c:v>25.22</c:v>
                </c:pt>
                <c:pt idx="9">
                  <c:v>23.35</c:v>
                </c:pt>
                <c:pt idx="10">
                  <c:v>21.21</c:v>
                </c:pt>
                <c:pt idx="11">
                  <c:v>24.55</c:v>
                </c:pt>
                <c:pt idx="12">
                  <c:v>21.9</c:v>
                </c:pt>
                <c:pt idx="13">
                  <c:v>21.95</c:v>
                </c:pt>
                <c:pt idx="14">
                  <c:v>19.559999999999999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737-4BCE-A815-88F9C819FF98}"/>
            </c:ext>
          </c:extLst>
        </c:ser>
        <c:ser>
          <c:idx val="2"/>
          <c:order val="1"/>
          <c:tx>
            <c:strRef>
              <c:f>Age!$D$1</c:f>
              <c:strCache>
                <c:ptCount val="1"/>
                <c:pt idx="0">
                  <c:v>30–39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Age!$D$2:$D$16</c:f>
              <c:numCache>
                <c:formatCode>General</c:formatCode>
                <c:ptCount val="15"/>
                <c:pt idx="0">
                  <c:v>25.87</c:v>
                </c:pt>
                <c:pt idx="1">
                  <c:v>30.24</c:v>
                </c:pt>
                <c:pt idx="2">
                  <c:v>35.32</c:v>
                </c:pt>
                <c:pt idx="3">
                  <c:v>35.9</c:v>
                </c:pt>
                <c:pt idx="4">
                  <c:v>37.15</c:v>
                </c:pt>
                <c:pt idx="5">
                  <c:v>34.549999999999997</c:v>
                </c:pt>
                <c:pt idx="6">
                  <c:v>38.64</c:v>
                </c:pt>
                <c:pt idx="7">
                  <c:v>30.14</c:v>
                </c:pt>
                <c:pt idx="8">
                  <c:v>29.58</c:v>
                </c:pt>
                <c:pt idx="9">
                  <c:v>27.95</c:v>
                </c:pt>
                <c:pt idx="10">
                  <c:v>26.38</c:v>
                </c:pt>
                <c:pt idx="11">
                  <c:v>28.24</c:v>
                </c:pt>
                <c:pt idx="12">
                  <c:v>29.63</c:v>
                </c:pt>
                <c:pt idx="13">
                  <c:v>29.33</c:v>
                </c:pt>
                <c:pt idx="14">
                  <c:v>26.26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737-4BCE-A815-88F9C819FF98}"/>
            </c:ext>
          </c:extLst>
        </c:ser>
        <c:ser>
          <c:idx val="3"/>
          <c:order val="2"/>
          <c:tx>
            <c:strRef>
              <c:f>Age!$E$1</c:f>
              <c:strCache>
                <c:ptCount val="1"/>
                <c:pt idx="0">
                  <c:v>40–49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Age!$E$2:$E$16</c:f>
              <c:numCache>
                <c:formatCode>General</c:formatCode>
                <c:ptCount val="15"/>
                <c:pt idx="0">
                  <c:v>22.85</c:v>
                </c:pt>
                <c:pt idx="1">
                  <c:v>27.96</c:v>
                </c:pt>
                <c:pt idx="2">
                  <c:v>31.8</c:v>
                </c:pt>
                <c:pt idx="3">
                  <c:v>32</c:v>
                </c:pt>
                <c:pt idx="4">
                  <c:v>33.159999999999997</c:v>
                </c:pt>
                <c:pt idx="5">
                  <c:v>32.93</c:v>
                </c:pt>
                <c:pt idx="6">
                  <c:v>34.229999999999997</c:v>
                </c:pt>
                <c:pt idx="7">
                  <c:v>29.76</c:v>
                </c:pt>
                <c:pt idx="8">
                  <c:v>30.48</c:v>
                </c:pt>
                <c:pt idx="9">
                  <c:v>28.81</c:v>
                </c:pt>
                <c:pt idx="10">
                  <c:v>27</c:v>
                </c:pt>
                <c:pt idx="11">
                  <c:v>26.61</c:v>
                </c:pt>
                <c:pt idx="12">
                  <c:v>31.11</c:v>
                </c:pt>
                <c:pt idx="13">
                  <c:v>29.74</c:v>
                </c:pt>
                <c:pt idx="14">
                  <c:v>28.85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737-4BCE-A815-88F9C819FF98}"/>
            </c:ext>
          </c:extLst>
        </c:ser>
        <c:ser>
          <c:idx val="4"/>
          <c:order val="3"/>
          <c:tx>
            <c:strRef>
              <c:f>Age!$F$1</c:f>
              <c:strCache>
                <c:ptCount val="1"/>
                <c:pt idx="0">
                  <c:v>50–59 years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Age!$F$2:$F$16</c:f>
              <c:numCache>
                <c:formatCode>General</c:formatCode>
                <c:ptCount val="15"/>
                <c:pt idx="0">
                  <c:v>26.06</c:v>
                </c:pt>
                <c:pt idx="1">
                  <c:v>30.22</c:v>
                </c:pt>
                <c:pt idx="2">
                  <c:v>32.72</c:v>
                </c:pt>
                <c:pt idx="3">
                  <c:v>32.6</c:v>
                </c:pt>
                <c:pt idx="4">
                  <c:v>34.14</c:v>
                </c:pt>
                <c:pt idx="5">
                  <c:v>34.96</c:v>
                </c:pt>
                <c:pt idx="6">
                  <c:v>35.83</c:v>
                </c:pt>
                <c:pt idx="7">
                  <c:v>30.63</c:v>
                </c:pt>
                <c:pt idx="8">
                  <c:v>30.61</c:v>
                </c:pt>
                <c:pt idx="9">
                  <c:v>30.98</c:v>
                </c:pt>
                <c:pt idx="10">
                  <c:v>30.08</c:v>
                </c:pt>
                <c:pt idx="11">
                  <c:v>29.38</c:v>
                </c:pt>
                <c:pt idx="12">
                  <c:v>34.46</c:v>
                </c:pt>
                <c:pt idx="13">
                  <c:v>34.11</c:v>
                </c:pt>
                <c:pt idx="14">
                  <c:v>35.46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737-4BCE-A815-88F9C819FF98}"/>
            </c:ext>
          </c:extLst>
        </c:ser>
        <c:ser>
          <c:idx val="5"/>
          <c:order val="4"/>
          <c:tx>
            <c:strRef>
              <c:f>Age!$G$1</c:f>
              <c:strCache>
                <c:ptCount val="1"/>
                <c:pt idx="0">
                  <c:v>60–69 years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Age!$G$2:$G$16</c:f>
              <c:numCache>
                <c:formatCode>General</c:formatCode>
                <c:ptCount val="15"/>
                <c:pt idx="0">
                  <c:v>27.64</c:v>
                </c:pt>
                <c:pt idx="1">
                  <c:v>33.340000000000003</c:v>
                </c:pt>
                <c:pt idx="2">
                  <c:v>36.76</c:v>
                </c:pt>
                <c:pt idx="3">
                  <c:v>36.130000000000003</c:v>
                </c:pt>
                <c:pt idx="4">
                  <c:v>37.11</c:v>
                </c:pt>
                <c:pt idx="5">
                  <c:v>37.68</c:v>
                </c:pt>
                <c:pt idx="6">
                  <c:v>38.72</c:v>
                </c:pt>
                <c:pt idx="7">
                  <c:v>32.82</c:v>
                </c:pt>
                <c:pt idx="8">
                  <c:v>32.68</c:v>
                </c:pt>
                <c:pt idx="9">
                  <c:v>33.5</c:v>
                </c:pt>
                <c:pt idx="10">
                  <c:v>33.72</c:v>
                </c:pt>
                <c:pt idx="11">
                  <c:v>30.73</c:v>
                </c:pt>
                <c:pt idx="12">
                  <c:v>38.54</c:v>
                </c:pt>
                <c:pt idx="13">
                  <c:v>37.159999999999997</c:v>
                </c:pt>
                <c:pt idx="14">
                  <c:v>36.75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737-4BCE-A815-88F9C819FF98}"/>
            </c:ext>
          </c:extLst>
        </c:ser>
        <c:ser>
          <c:idx val="6"/>
          <c:order val="5"/>
          <c:tx>
            <c:strRef>
              <c:f>Age!$H$1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Age!$H$2:$H$16</c:f>
              <c:numCache>
                <c:formatCode>General</c:formatCode>
                <c:ptCount val="15"/>
                <c:pt idx="0">
                  <c:v>23.48</c:v>
                </c:pt>
                <c:pt idx="1">
                  <c:v>31.89</c:v>
                </c:pt>
                <c:pt idx="2">
                  <c:v>33.54</c:v>
                </c:pt>
                <c:pt idx="3">
                  <c:v>34.340000000000003</c:v>
                </c:pt>
                <c:pt idx="4">
                  <c:v>34.770000000000003</c:v>
                </c:pt>
                <c:pt idx="5">
                  <c:v>35.07</c:v>
                </c:pt>
                <c:pt idx="6">
                  <c:v>35.79</c:v>
                </c:pt>
                <c:pt idx="7">
                  <c:v>31.84</c:v>
                </c:pt>
                <c:pt idx="8">
                  <c:v>32.299999999999997</c:v>
                </c:pt>
                <c:pt idx="9">
                  <c:v>32.58</c:v>
                </c:pt>
                <c:pt idx="10">
                  <c:v>32.69</c:v>
                </c:pt>
                <c:pt idx="11">
                  <c:v>30.41</c:v>
                </c:pt>
                <c:pt idx="12">
                  <c:v>36.22</c:v>
                </c:pt>
                <c:pt idx="13">
                  <c:v>35.770000000000003</c:v>
                </c:pt>
                <c:pt idx="14">
                  <c:v>35.6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6737-4BCE-A815-88F9C819FF98}"/>
            </c:ext>
          </c:extLst>
        </c:ser>
        <c:ser>
          <c:idx val="0"/>
          <c:order val="6"/>
          <c:tx>
            <c:strRef>
              <c:f>Age!$B$1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Age!$B$2:$B$16</c:f>
              <c:numCache>
                <c:formatCode>General</c:formatCode>
                <c:ptCount val="15"/>
                <c:pt idx="0">
                  <c:v>25.01</c:v>
                </c:pt>
                <c:pt idx="1">
                  <c:v>31.61</c:v>
                </c:pt>
                <c:pt idx="2">
                  <c:v>34.119999999999997</c:v>
                </c:pt>
                <c:pt idx="3">
                  <c:v>34.369999999999997</c:v>
                </c:pt>
                <c:pt idx="4">
                  <c:v>35.17</c:v>
                </c:pt>
                <c:pt idx="5">
                  <c:v>35.590000000000003</c:v>
                </c:pt>
                <c:pt idx="6">
                  <c:v>36.49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6737-4BCE-A815-88F9C819FF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51978015"/>
        <c:axId val="551978847"/>
      </c:lineChart>
      <c:catAx>
        <c:axId val="551978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78847"/>
        <c:crosses val="autoZero"/>
        <c:auto val="1"/>
        <c:lblAlgn val="ctr"/>
        <c:lblOffset val="100"/>
        <c:tickLblSkip val="2"/>
        <c:noMultiLvlLbl val="0"/>
      </c:catAx>
      <c:valAx>
        <c:axId val="5519788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 3-5 with ICD Codes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7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2.995232708998354E-3"/>
          <c:y val="0.83126946631671039"/>
          <c:w val="0.98178382884134485"/>
          <c:h val="0.1520638670166229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Sex!$C$1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Sex!$C$2:$C$16</c:f>
              <c:numCache>
                <c:formatCode>General</c:formatCode>
                <c:ptCount val="15"/>
                <c:pt idx="0">
                  <c:v>29.87</c:v>
                </c:pt>
                <c:pt idx="1">
                  <c:v>36.4</c:v>
                </c:pt>
                <c:pt idx="2">
                  <c:v>39.369999999999997</c:v>
                </c:pt>
                <c:pt idx="3">
                  <c:v>39.200000000000003</c:v>
                </c:pt>
                <c:pt idx="4">
                  <c:v>39.92</c:v>
                </c:pt>
                <c:pt idx="5">
                  <c:v>40.29</c:v>
                </c:pt>
                <c:pt idx="6">
                  <c:v>41.22</c:v>
                </c:pt>
                <c:pt idx="7">
                  <c:v>36.049999999999997</c:v>
                </c:pt>
                <c:pt idx="8">
                  <c:v>36.47</c:v>
                </c:pt>
                <c:pt idx="9">
                  <c:v>36.19</c:v>
                </c:pt>
                <c:pt idx="10">
                  <c:v>35.56</c:v>
                </c:pt>
                <c:pt idx="11">
                  <c:v>33.9</c:v>
                </c:pt>
                <c:pt idx="12">
                  <c:v>40.090000000000003</c:v>
                </c:pt>
                <c:pt idx="13">
                  <c:v>38.590000000000003</c:v>
                </c:pt>
                <c:pt idx="14">
                  <c:v>37.71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16-4886-B890-F4662BC2A9E5}"/>
            </c:ext>
          </c:extLst>
        </c:ser>
        <c:ser>
          <c:idx val="2"/>
          <c:order val="1"/>
          <c:tx>
            <c:strRef>
              <c:f>Sex!$D$1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Sex!$D$2:$D$16</c:f>
              <c:numCache>
                <c:formatCode>General</c:formatCode>
                <c:ptCount val="15"/>
                <c:pt idx="0">
                  <c:v>20.56</c:v>
                </c:pt>
                <c:pt idx="1">
                  <c:v>27.04</c:v>
                </c:pt>
                <c:pt idx="2">
                  <c:v>29.13</c:v>
                </c:pt>
                <c:pt idx="3">
                  <c:v>29.72</c:v>
                </c:pt>
                <c:pt idx="4">
                  <c:v>30.42</c:v>
                </c:pt>
                <c:pt idx="5">
                  <c:v>30.75</c:v>
                </c:pt>
                <c:pt idx="6">
                  <c:v>31.57</c:v>
                </c:pt>
                <c:pt idx="7">
                  <c:v>27.05</c:v>
                </c:pt>
                <c:pt idx="8">
                  <c:v>27.14</c:v>
                </c:pt>
                <c:pt idx="9">
                  <c:v>27.98</c:v>
                </c:pt>
                <c:pt idx="10">
                  <c:v>28.1</c:v>
                </c:pt>
                <c:pt idx="11">
                  <c:v>25.86</c:v>
                </c:pt>
                <c:pt idx="12">
                  <c:v>31.67</c:v>
                </c:pt>
                <c:pt idx="13">
                  <c:v>31.85</c:v>
                </c:pt>
                <c:pt idx="14">
                  <c:v>32.39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16-4886-B890-F4662BC2A9E5}"/>
            </c:ext>
          </c:extLst>
        </c:ser>
        <c:ser>
          <c:idx val="0"/>
          <c:order val="2"/>
          <c:tx>
            <c:strRef>
              <c:f>Sex!$F$1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>
                  <a:alpha val="95000"/>
                </a:schemeClr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Sex!$F$2:$F$16</c:f>
              <c:numCache>
                <c:formatCode>0.0</c:formatCode>
                <c:ptCount val="15"/>
                <c:pt idx="0">
                  <c:v>25</c:v>
                </c:pt>
                <c:pt idx="1">
                  <c:v>31.6</c:v>
                </c:pt>
                <c:pt idx="2">
                  <c:v>34.1</c:v>
                </c:pt>
                <c:pt idx="3">
                  <c:v>34.4</c:v>
                </c:pt>
                <c:pt idx="4">
                  <c:v>35.200000000000003</c:v>
                </c:pt>
                <c:pt idx="5">
                  <c:v>35.6</c:v>
                </c:pt>
                <c:pt idx="6">
                  <c:v>36.5</c:v>
                </c:pt>
                <c:pt idx="7">
                  <c:v>31.7</c:v>
                </c:pt>
                <c:pt idx="8">
                  <c:v>32</c:v>
                </c:pt>
                <c:pt idx="9">
                  <c:v>32.200000000000003</c:v>
                </c:pt>
                <c:pt idx="10">
                  <c:v>32</c:v>
                </c:pt>
                <c:pt idx="11">
                  <c:v>30.1</c:v>
                </c:pt>
                <c:pt idx="12">
                  <c:v>36</c:v>
                </c:pt>
                <c:pt idx="13">
                  <c:v>35.299999999999997</c:v>
                </c:pt>
                <c:pt idx="14">
                  <c:v>35.200000000000003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116-4886-B890-F4662BC2A9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41925695"/>
        <c:axId val="541928191"/>
      </c:lineChart>
      <c:catAx>
        <c:axId val="5419256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1928191"/>
        <c:crosses val="autoZero"/>
        <c:auto val="1"/>
        <c:lblAlgn val="ctr"/>
        <c:lblOffset val="100"/>
        <c:tickLblSkip val="2"/>
        <c:noMultiLvlLbl val="0"/>
      </c:catAx>
      <c:valAx>
        <c:axId val="5419281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CKD Stages 3-5 with ICD Codes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19256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2467774861475643E-2"/>
          <c:y val="7.7972709551656916E-2"/>
          <c:w val="0.90753222513852438"/>
          <c:h val="0.65175975810041287"/>
        </c:manualLayout>
      </c:layout>
      <c:lineChart>
        <c:grouping val="standard"/>
        <c:varyColors val="0"/>
        <c:ser>
          <c:idx val="1"/>
          <c:order val="0"/>
          <c:tx>
            <c:strRef>
              <c:f>Race!$C$1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Race!$C$2:$C$16</c:f>
              <c:numCache>
                <c:formatCode>General</c:formatCode>
                <c:ptCount val="15"/>
                <c:pt idx="0">
                  <c:v>24.26</c:v>
                </c:pt>
                <c:pt idx="1">
                  <c:v>29.41</c:v>
                </c:pt>
                <c:pt idx="2">
                  <c:v>32.53</c:v>
                </c:pt>
                <c:pt idx="3">
                  <c:v>32.840000000000003</c:v>
                </c:pt>
                <c:pt idx="4">
                  <c:v>34.08</c:v>
                </c:pt>
                <c:pt idx="5">
                  <c:v>34.479999999999997</c:v>
                </c:pt>
                <c:pt idx="6">
                  <c:v>35.57</c:v>
                </c:pt>
                <c:pt idx="7">
                  <c:v>30.31</c:v>
                </c:pt>
                <c:pt idx="8">
                  <c:v>31.11</c:v>
                </c:pt>
                <c:pt idx="9">
                  <c:v>31.32</c:v>
                </c:pt>
                <c:pt idx="10">
                  <c:v>31.32</c:v>
                </c:pt>
                <c:pt idx="11">
                  <c:v>29.71</c:v>
                </c:pt>
                <c:pt idx="12">
                  <c:v>35.409999999999997</c:v>
                </c:pt>
                <c:pt idx="13">
                  <c:v>34.92</c:v>
                </c:pt>
                <c:pt idx="14">
                  <c:v>34.44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2A-4E26-ABBE-3BF70BD87149}"/>
            </c:ext>
          </c:extLst>
        </c:ser>
        <c:ser>
          <c:idx val="2"/>
          <c:order val="1"/>
          <c:tx>
            <c:strRef>
              <c:f>Race!$D$1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Race!$D$2:$D$16</c:f>
              <c:numCache>
                <c:formatCode>General</c:formatCode>
                <c:ptCount val="15"/>
                <c:pt idx="0">
                  <c:v>26.46</c:v>
                </c:pt>
                <c:pt idx="1">
                  <c:v>31.19</c:v>
                </c:pt>
                <c:pt idx="2">
                  <c:v>34.58</c:v>
                </c:pt>
                <c:pt idx="3">
                  <c:v>35.090000000000003</c:v>
                </c:pt>
                <c:pt idx="4">
                  <c:v>34.82</c:v>
                </c:pt>
                <c:pt idx="5">
                  <c:v>34.97</c:v>
                </c:pt>
                <c:pt idx="6">
                  <c:v>36.49</c:v>
                </c:pt>
                <c:pt idx="7">
                  <c:v>31.62</c:v>
                </c:pt>
                <c:pt idx="8">
                  <c:v>31.2</c:v>
                </c:pt>
                <c:pt idx="9">
                  <c:v>31.43</c:v>
                </c:pt>
                <c:pt idx="10">
                  <c:v>31.2</c:v>
                </c:pt>
                <c:pt idx="11">
                  <c:v>29.66</c:v>
                </c:pt>
                <c:pt idx="12">
                  <c:v>35.96</c:v>
                </c:pt>
                <c:pt idx="13">
                  <c:v>34.68</c:v>
                </c:pt>
                <c:pt idx="14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2A-4E26-ABBE-3BF70BD87149}"/>
            </c:ext>
          </c:extLst>
        </c:ser>
        <c:ser>
          <c:idx val="5"/>
          <c:order val="2"/>
          <c:tx>
            <c:strRef>
              <c:f>Race!$E$1</c:f>
              <c:strCache>
                <c:ptCount val="1"/>
                <c:pt idx="0">
                  <c:v>Asian American/Pacific Islander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Race!$E$2:$E$16</c:f>
              <c:numCache>
                <c:formatCode>General</c:formatCode>
                <c:ptCount val="15"/>
                <c:pt idx="0">
                  <c:v>29.11</c:v>
                </c:pt>
                <c:pt idx="1">
                  <c:v>35</c:v>
                </c:pt>
                <c:pt idx="2">
                  <c:v>39.159999999999997</c:v>
                </c:pt>
                <c:pt idx="3">
                  <c:v>38.700000000000003</c:v>
                </c:pt>
                <c:pt idx="4">
                  <c:v>39.799999999999997</c:v>
                </c:pt>
                <c:pt idx="5">
                  <c:v>43.3</c:v>
                </c:pt>
                <c:pt idx="6">
                  <c:v>43.64</c:v>
                </c:pt>
                <c:pt idx="7">
                  <c:v>34.94</c:v>
                </c:pt>
                <c:pt idx="8">
                  <c:v>32.950000000000003</c:v>
                </c:pt>
                <c:pt idx="9">
                  <c:v>36.159999999999997</c:v>
                </c:pt>
                <c:pt idx="10">
                  <c:v>35.26</c:v>
                </c:pt>
                <c:pt idx="11">
                  <c:v>32.15</c:v>
                </c:pt>
                <c:pt idx="12">
                  <c:v>40.229999999999997</c:v>
                </c:pt>
                <c:pt idx="13">
                  <c:v>39.799999999999997</c:v>
                </c:pt>
                <c:pt idx="14">
                  <c:v>41.34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02A-4E26-ABBE-3BF70BD87149}"/>
            </c:ext>
          </c:extLst>
        </c:ser>
        <c:ser>
          <c:idx val="6"/>
          <c:order val="3"/>
          <c:tx>
            <c:strRef>
              <c:f>Race!$F$1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Race!$F$2:$F$16</c:f>
              <c:numCache>
                <c:formatCode>General</c:formatCode>
                <c:ptCount val="15"/>
                <c:pt idx="0">
                  <c:v>22.82</c:v>
                </c:pt>
                <c:pt idx="1">
                  <c:v>33.53</c:v>
                </c:pt>
                <c:pt idx="2">
                  <c:v>34.619999999999997</c:v>
                </c:pt>
                <c:pt idx="3">
                  <c:v>34.049999999999997</c:v>
                </c:pt>
                <c:pt idx="4">
                  <c:v>44.29</c:v>
                </c:pt>
                <c:pt idx="5">
                  <c:v>38.6</c:v>
                </c:pt>
                <c:pt idx="6">
                  <c:v>39.44</c:v>
                </c:pt>
                <c:pt idx="7">
                  <c:v>30.59</c:v>
                </c:pt>
                <c:pt idx="8">
                  <c:v>29.47</c:v>
                </c:pt>
                <c:pt idx="9">
                  <c:v>33.33</c:v>
                </c:pt>
                <c:pt idx="10">
                  <c:v>32.86</c:v>
                </c:pt>
                <c:pt idx="11">
                  <c:v>33.909999999999997</c:v>
                </c:pt>
                <c:pt idx="12">
                  <c:v>31.43</c:v>
                </c:pt>
                <c:pt idx="13">
                  <c:v>34.869999999999997</c:v>
                </c:pt>
                <c:pt idx="14">
                  <c:v>30.58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02A-4E26-ABBE-3BF70BD87149}"/>
            </c:ext>
          </c:extLst>
        </c:ser>
        <c:ser>
          <c:idx val="7"/>
          <c:order val="4"/>
          <c:tx>
            <c:strRef>
              <c:f>Race!$G$1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Race!$G$2:$G$16</c:f>
              <c:numCache>
                <c:formatCode>General</c:formatCode>
                <c:ptCount val="15"/>
                <c:pt idx="0">
                  <c:v>27.97</c:v>
                </c:pt>
                <c:pt idx="1">
                  <c:v>37.590000000000003</c:v>
                </c:pt>
                <c:pt idx="2">
                  <c:v>36.200000000000003</c:v>
                </c:pt>
                <c:pt idx="3">
                  <c:v>37.26</c:v>
                </c:pt>
                <c:pt idx="4">
                  <c:v>43.07</c:v>
                </c:pt>
                <c:pt idx="5">
                  <c:v>42.02</c:v>
                </c:pt>
                <c:pt idx="6">
                  <c:v>42.02</c:v>
                </c:pt>
                <c:pt idx="7">
                  <c:v>35.93</c:v>
                </c:pt>
                <c:pt idx="8">
                  <c:v>36.700000000000003</c:v>
                </c:pt>
                <c:pt idx="9">
                  <c:v>37.58</c:v>
                </c:pt>
                <c:pt idx="10">
                  <c:v>36.1</c:v>
                </c:pt>
                <c:pt idx="11">
                  <c:v>30.83</c:v>
                </c:pt>
                <c:pt idx="12">
                  <c:v>42.72</c:v>
                </c:pt>
                <c:pt idx="13">
                  <c:v>40.200000000000003</c:v>
                </c:pt>
                <c:pt idx="14">
                  <c:v>36.270000000000003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02A-4E26-ABBE-3BF70BD87149}"/>
            </c:ext>
          </c:extLst>
        </c:ser>
        <c:ser>
          <c:idx val="0"/>
          <c:order val="5"/>
          <c:tx>
            <c:strRef>
              <c:f>Race!$B$1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Race!$B$2:$B$16</c:f>
              <c:numCache>
                <c:formatCode>General</c:formatCode>
                <c:ptCount val="15"/>
                <c:pt idx="0">
                  <c:v>25.01</c:v>
                </c:pt>
                <c:pt idx="1">
                  <c:v>31.61</c:v>
                </c:pt>
                <c:pt idx="2">
                  <c:v>34.119999999999997</c:v>
                </c:pt>
                <c:pt idx="3">
                  <c:v>34.369999999999997</c:v>
                </c:pt>
                <c:pt idx="4">
                  <c:v>35.17</c:v>
                </c:pt>
                <c:pt idx="5">
                  <c:v>35.590000000000003</c:v>
                </c:pt>
                <c:pt idx="6">
                  <c:v>36.49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E02A-4E26-ABBE-3BF70BD8714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51974271"/>
        <c:axId val="551980511"/>
      </c:lineChart>
      <c:catAx>
        <c:axId val="55197427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80511"/>
        <c:crosses val="autoZero"/>
        <c:auto val="1"/>
        <c:lblAlgn val="ctr"/>
        <c:lblOffset val="100"/>
        <c:tickLblSkip val="2"/>
        <c:noMultiLvlLbl val="0"/>
      </c:catAx>
      <c:valAx>
        <c:axId val="551980511"/>
        <c:scaling>
          <c:orientation val="minMax"/>
          <c:max val="6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CKD Stages 3-5 with ICD Codes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7427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6666666666666666E-2"/>
          <c:y val="0.85508114610673669"/>
          <c:w val="0.97555555555555551"/>
          <c:h val="0.1449188538932633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'CKD Stage'!$B$1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'CKD Stage'!$A$2:$A$16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 Stage'!$B$2:$B$16</c:f>
              <c:numCache>
                <c:formatCode>General</c:formatCode>
                <c:ptCount val="15"/>
                <c:pt idx="0">
                  <c:v>22.57</c:v>
                </c:pt>
                <c:pt idx="1">
                  <c:v>28.6</c:v>
                </c:pt>
                <c:pt idx="2">
                  <c:v>31.14</c:v>
                </c:pt>
                <c:pt idx="3">
                  <c:v>31.6</c:v>
                </c:pt>
                <c:pt idx="4">
                  <c:v>32.28</c:v>
                </c:pt>
                <c:pt idx="5">
                  <c:v>32.6</c:v>
                </c:pt>
                <c:pt idx="6">
                  <c:v>33.24</c:v>
                </c:pt>
                <c:pt idx="7">
                  <c:v>28.44</c:v>
                </c:pt>
                <c:pt idx="8">
                  <c:v>28.65</c:v>
                </c:pt>
                <c:pt idx="9">
                  <c:v>28.9</c:v>
                </c:pt>
                <c:pt idx="10">
                  <c:v>28.68</c:v>
                </c:pt>
                <c:pt idx="11">
                  <c:v>26.6</c:v>
                </c:pt>
                <c:pt idx="12">
                  <c:v>32.770000000000003</c:v>
                </c:pt>
                <c:pt idx="13">
                  <c:v>32.119999999999997</c:v>
                </c:pt>
                <c:pt idx="14">
                  <c:v>31.96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486-4080-9925-FA4561F6DA2C}"/>
            </c:ext>
          </c:extLst>
        </c:ser>
        <c:ser>
          <c:idx val="1"/>
          <c:order val="1"/>
          <c:tx>
            <c:strRef>
              <c:f>'CKD Stage'!$C$1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'CKD Stage'!$A$2:$A$16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 Stage'!$C$2:$C$16</c:f>
              <c:numCache>
                <c:formatCode>General</c:formatCode>
                <c:ptCount val="15"/>
                <c:pt idx="0">
                  <c:v>71.069999999999993</c:v>
                </c:pt>
                <c:pt idx="1">
                  <c:v>78.45</c:v>
                </c:pt>
                <c:pt idx="2">
                  <c:v>78.290000000000006</c:v>
                </c:pt>
                <c:pt idx="3">
                  <c:v>75.569999999999993</c:v>
                </c:pt>
                <c:pt idx="4">
                  <c:v>76.44</c:v>
                </c:pt>
                <c:pt idx="5">
                  <c:v>76.5</c:v>
                </c:pt>
                <c:pt idx="6">
                  <c:v>78.38</c:v>
                </c:pt>
                <c:pt idx="7">
                  <c:v>76.56</c:v>
                </c:pt>
                <c:pt idx="8">
                  <c:v>77.83</c:v>
                </c:pt>
                <c:pt idx="9">
                  <c:v>77.64</c:v>
                </c:pt>
                <c:pt idx="10">
                  <c:v>78.11</c:v>
                </c:pt>
                <c:pt idx="11">
                  <c:v>75.209999999999994</c:v>
                </c:pt>
                <c:pt idx="12">
                  <c:v>78.33</c:v>
                </c:pt>
                <c:pt idx="13">
                  <c:v>76.81</c:v>
                </c:pt>
                <c:pt idx="14">
                  <c:v>75.290000000000006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486-4080-9925-FA4561F6DA2C}"/>
            </c:ext>
          </c:extLst>
        </c:ser>
        <c:ser>
          <c:idx val="2"/>
          <c:order val="2"/>
          <c:tx>
            <c:strRef>
              <c:f>'CKD Stage'!$D$1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'CKD Stage'!$A$2:$A$16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 Stage'!$D$2:$D$16</c:f>
              <c:numCache>
                <c:formatCode>General</c:formatCode>
                <c:ptCount val="15"/>
                <c:pt idx="0">
                  <c:v>74.930000000000007</c:v>
                </c:pt>
                <c:pt idx="1">
                  <c:v>78.13</c:v>
                </c:pt>
                <c:pt idx="2">
                  <c:v>80.680000000000007</c:v>
                </c:pt>
                <c:pt idx="3">
                  <c:v>79.05</c:v>
                </c:pt>
                <c:pt idx="4">
                  <c:v>79.55</c:v>
                </c:pt>
                <c:pt idx="5">
                  <c:v>82.6</c:v>
                </c:pt>
                <c:pt idx="6">
                  <c:v>79.67</c:v>
                </c:pt>
                <c:pt idx="7">
                  <c:v>78.45</c:v>
                </c:pt>
                <c:pt idx="8">
                  <c:v>82.09</c:v>
                </c:pt>
                <c:pt idx="9">
                  <c:v>80.599999999999994</c:v>
                </c:pt>
                <c:pt idx="10">
                  <c:v>81.48</c:v>
                </c:pt>
                <c:pt idx="11">
                  <c:v>77.430000000000007</c:v>
                </c:pt>
                <c:pt idx="12">
                  <c:v>74.86</c:v>
                </c:pt>
                <c:pt idx="13">
                  <c:v>73.790000000000006</c:v>
                </c:pt>
                <c:pt idx="14">
                  <c:v>76.180000000000007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486-4080-9925-FA4561F6DA2C}"/>
            </c:ext>
          </c:extLst>
        </c:ser>
        <c:ser>
          <c:idx val="3"/>
          <c:order val="3"/>
          <c:tx>
            <c:strRef>
              <c:f>'CKD Stage'!$E$1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'CKD Stage'!$A$2:$A$16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 Stage'!$E$2:$E$16</c:f>
              <c:numCache>
                <c:formatCode>General</c:formatCode>
                <c:ptCount val="15"/>
                <c:pt idx="0">
                  <c:v>25.01</c:v>
                </c:pt>
                <c:pt idx="1">
                  <c:v>31.61</c:v>
                </c:pt>
                <c:pt idx="2">
                  <c:v>34.119999999999997</c:v>
                </c:pt>
                <c:pt idx="3">
                  <c:v>34.369999999999997</c:v>
                </c:pt>
                <c:pt idx="4">
                  <c:v>35.17</c:v>
                </c:pt>
                <c:pt idx="5">
                  <c:v>35.590000000000003</c:v>
                </c:pt>
                <c:pt idx="6">
                  <c:v>36.49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486-4080-9925-FA4561F6DA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86481103"/>
        <c:axId val="786476943"/>
      </c:lineChart>
      <c:catAx>
        <c:axId val="7864811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86476943"/>
        <c:crosses val="autoZero"/>
        <c:auto val="1"/>
        <c:lblAlgn val="ctr"/>
        <c:lblOffset val="100"/>
        <c:noMultiLvlLbl val="0"/>
      </c:catAx>
      <c:valAx>
        <c:axId val="7864769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CKD Stages 3-5 with ICD Codes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864811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166666666666666E-2"/>
          <c:y val="0.89409667541557303"/>
          <c:w val="0.9"/>
          <c:h val="7.812554680664918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893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810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809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68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795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9863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495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299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927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607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726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638023-F60A-4B21-BA4E-BD9AA67C04CD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4666" y="2158700"/>
            <a:ext cx="11542644" cy="1640266"/>
          </a:xfrm>
        </p:spPr>
        <p:txBody>
          <a:bodyPr anchor="ctr">
            <a:noAutofit/>
          </a:bodyPr>
          <a:lstStyle/>
          <a:p>
            <a:r>
              <a:rPr lang="en-US" sz="4000" b="1" dirty="0"/>
              <a:t>Service Members and Their Dependents with eGFR-based CKD Stages 3–5 who </a:t>
            </a:r>
            <a:r>
              <a:rPr lang="en-US" sz="4000" dirty="0"/>
              <a:t>a</a:t>
            </a:r>
            <a:r>
              <a:rPr lang="en-US" sz="4000" b="1" dirty="0"/>
              <a:t>lso have a Diagnosis Code for CKD in the Military Health System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CFA14B-AC93-4C17-8646-80240875DD4C}"/>
              </a:ext>
            </a:extLst>
          </p:cNvPr>
          <p:cNvSpPr txBox="1"/>
          <p:nvPr/>
        </p:nvSpPr>
        <p:spPr>
          <a:xfrm>
            <a:off x="324666" y="3879167"/>
            <a:ext cx="115426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For MHS beneficiaries with CKD stages 3–5 based on eGFR, the 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crude 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prevalence of those who also had an ICD-9 diagnosis code for CKD was 25.0%–36.5% in 2009–2015. After conversion to ICD-10 in 2016, the prevalence was around 30.0%–36.0% in 2016–2023. The crude percentage of adults with a diagnosis code was higher in adults aged ≥50 years, those with CKD stages 4−5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, and men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compared with the corresponding counterparts. 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During 2009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–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2023, no distinct patterns 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were observed 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within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specific race and ethnicity groups.</a:t>
            </a:r>
          </a:p>
          <a:p>
            <a:pPr algn="l"/>
            <a:endParaRPr lang="en-US" b="1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  <a:p>
            <a:pPr algn="l"/>
            <a:r>
              <a:rPr lang="en-US" b="1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Data Source: </a:t>
            </a:r>
            <a:r>
              <a:rPr lang="en-US" dirty="0">
                <a:solidFill>
                  <a:srgbClr val="000000"/>
                </a:solidFill>
                <a:latin typeface="Open Sans" panose="020B0606030504020204" pitchFamily="34" charset="0"/>
              </a:rPr>
              <a:t>DoD-MHS</a:t>
            </a:r>
            <a:endParaRPr lang="en-US" b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  <a:p>
            <a:pPr algn="l"/>
            <a:endParaRPr lang="en-US" b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2692DE-70E6-4DF4-B463-70286F232123}"/>
              </a:ext>
            </a:extLst>
          </p:cNvPr>
          <p:cNvSpPr txBox="1"/>
          <p:nvPr/>
        </p:nvSpPr>
        <p:spPr>
          <a:xfrm>
            <a:off x="3584701" y="6211555"/>
            <a:ext cx="502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Add Link to indicator</a:t>
            </a:r>
          </a:p>
        </p:txBody>
      </p:sp>
    </p:spTree>
    <p:extLst>
      <p:ext uri="{BB962C8B-B14F-4D97-AF65-F5344CB8AC3E}">
        <p14:creationId xmlns:p14="http://schemas.microsoft.com/office/powerpoint/2010/main" val="1019068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System, Overall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A3740842-1BDB-47AB-BA52-9F3AB1190A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66264375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47595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Age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3421481-F9BB-4224-A2EA-C72FE0FE65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94943350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47202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Sex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B07D7E7-391A-47EB-828A-9B22DF93A2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473088"/>
              </p:ext>
            </p:extLst>
          </p:nvPr>
        </p:nvGraphicFramePr>
        <p:xfrm>
          <a:off x="220579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00748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Race/Ethnicity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E2762C2-B849-40CC-80E8-B7F7A07025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7960319"/>
              </p:ext>
            </p:extLst>
          </p:nvPr>
        </p:nvGraphicFramePr>
        <p:xfrm>
          <a:off x="381000" y="1465836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96677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pPr>
              <a:tabLst>
                <a:tab pos="3544888" algn="l"/>
              </a:tabLst>
            </a:pPr>
            <a:r>
              <a:rPr lang="en-US" sz="3600" b="1" dirty="0"/>
              <a:t>Service Members and Their Dependents </a:t>
            </a:r>
            <a:r>
              <a:rPr lang="en-US" sz="3600" dirty="0"/>
              <a:t>w</a:t>
            </a:r>
            <a:r>
              <a:rPr lang="en-US" sz="3600" b="1" dirty="0"/>
              <a:t>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CKD Stage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0622754C-F42C-429C-AB4B-85252B6E27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1504354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54275102"/>
      </p:ext>
    </p:extLst>
  </p:cSld>
  <p:clrMapOvr>
    <a:masterClrMapping/>
  </p:clrMapOvr>
</p:sld>
</file>

<file path=ppt/theme/theme1.xml><?xml version="1.0" encoding="utf-8"?>
<a:theme xmlns:a="http://schemas.openxmlformats.org/drawingml/2006/main" name="KDSS indicator downloads 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 template for KDSS indicator downloads" id="{5C6D22D6-B8C2-4CC9-8270-3716F03D486C}" vid="{6854CA39-71F8-4600-8AEC-7156B3C3DB8D}"/>
    </a:ext>
  </a:extLst>
</a:theme>
</file>

<file path=ppt/theme/themeOverride1.xml><?xml version="1.0" encoding="utf-8"?>
<a:themeOverride xmlns:a="http://schemas.openxmlformats.org/drawingml/2006/main">
  <a:clrScheme name="Sheets">
    <a:dk1>
      <a:srgbClr val="000000"/>
    </a:dk1>
    <a:lt1>
      <a:srgbClr val="FFFFFF"/>
    </a:lt1>
    <a:dk2>
      <a:srgbClr val="000000"/>
    </a:dk2>
    <a:lt2>
      <a:srgbClr val="FFFFFF"/>
    </a:lt2>
    <a:accent1>
      <a:srgbClr val="4285F4"/>
    </a:accent1>
    <a:accent2>
      <a:srgbClr val="EA4335"/>
    </a:accent2>
    <a:accent3>
      <a:srgbClr val="FBBC04"/>
    </a:accent3>
    <a:accent4>
      <a:srgbClr val="34A853"/>
    </a:accent4>
    <a:accent5>
      <a:srgbClr val="FF6D01"/>
    </a:accent5>
    <a:accent6>
      <a:srgbClr val="46BDC6"/>
    </a:accent6>
    <a:hlink>
      <a:srgbClr val="1155CC"/>
    </a:hlink>
    <a:folHlink>
      <a:srgbClr val="1155CC"/>
    </a:folHlink>
  </a:clrScheme>
  <a:fontScheme name="Sheets">
    <a:majorFont>
      <a:latin typeface="Arial"/>
      <a:ea typeface="Arial"/>
      <a:cs typeface="Arial"/>
    </a:majorFont>
    <a:minorFont>
      <a:latin typeface="Arial"/>
      <a:ea typeface="Arial"/>
      <a:cs typeface="Arial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294</Words>
  <Application>Microsoft Office PowerPoint</Application>
  <PresentationFormat>Widescreen</PresentationFormat>
  <Paragraphs>15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Open Sans</vt:lpstr>
      <vt:lpstr>KDSS indicator downloads template</vt:lpstr>
      <vt:lpstr>Service Members and Their Dependents with eGFR-based CKD Stages 3–5 who also have a Diagnosis Code for CKD in the Military Health System </vt:lpstr>
      <vt:lpstr>Service Members and Their Dependents with eGFR-based CKD Stages 3–5 who also have a Diagnosis Code for CKD in the Military Health System, Overall</vt:lpstr>
      <vt:lpstr>Service Members and Their Dependents with eGFR-based CKD Stages 3–5 who also have a Diagnosis Code for CKD in the Military Health System by Age</vt:lpstr>
      <vt:lpstr>Service Members and Their Dependents with eGFR-based CKD Stages 3–5 who also have a Diagnosis Code for CKD in the Military Health System by Sex</vt:lpstr>
      <vt:lpstr>Service Members and Their Dependents with eGFR-based CKD Stages 3–5 who also have a Diagnosis Code for CKD in the Military Health System by Race/Ethnicity</vt:lpstr>
      <vt:lpstr>Service Members and Their Dependents with eGFR-based CKD Stages 3–5 who also have a Diagnosis Code for CKD in the Military Health System by CKD Stage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Members and Their Dependents with eGFR-based CKD Stages 3–5 who also have a Diagnosis Code for CKD in the Military Health System </dc:title>
  <dc:creator>Licon, Ana Laura</dc:creator>
  <cp:lastModifiedBy>Kime, Alexander</cp:lastModifiedBy>
  <cp:revision>4</cp:revision>
  <dcterms:created xsi:type="dcterms:W3CDTF">2025-12-09T15:57:08Z</dcterms:created>
  <dcterms:modified xsi:type="dcterms:W3CDTF">2026-01-06T20:06:07Z</dcterms:modified>
</cp:coreProperties>
</file>