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98" r:id="rId2"/>
    <p:sldId id="299" r:id="rId3"/>
    <p:sldId id="305" r:id="rId4"/>
    <p:sldId id="306" r:id="rId5"/>
    <p:sldId id="307" r:id="rId6"/>
    <p:sldId id="308" r:id="rId7"/>
    <p:sldId id="309" r:id="rId8"/>
    <p:sldId id="310" r:id="rId9"/>
    <p:sldId id="312" r:id="rId10"/>
    <p:sldId id="31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B7B7"/>
    <a:srgbClr val="F197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93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9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Indicator%20Updates\DOD\KDSS%20Summary%20Tables%20with%20Age%20Standardization%20v2025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Indicator%20Updates\DOD\KDSS%20Summary%20Tables%20with%20Age%20Standardization%20v2025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Overall!$B$2:$B$16</c:f>
              <c:numCache>
                <c:formatCode>0.0</c:formatCode>
                <c:ptCount val="15"/>
                <c:pt idx="0">
                  <c:v>31.92</c:v>
                </c:pt>
                <c:pt idx="1">
                  <c:v>33.619999999999997</c:v>
                </c:pt>
                <c:pt idx="2">
                  <c:v>36.68</c:v>
                </c:pt>
                <c:pt idx="3">
                  <c:v>37.28</c:v>
                </c:pt>
                <c:pt idx="4">
                  <c:v>38.19</c:v>
                </c:pt>
                <c:pt idx="5">
                  <c:v>38.57</c:v>
                </c:pt>
                <c:pt idx="6">
                  <c:v>39.729999999999997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92C-4430-B8B0-718B30A4F4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1918015"/>
        <c:axId val="471918431"/>
      </c:lineChart>
      <c:catAx>
        <c:axId val="47191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431"/>
        <c:crosses val="autoZero"/>
        <c:auto val="1"/>
        <c:lblAlgn val="ctr"/>
        <c:lblOffset val="100"/>
        <c:tickLblSkip val="2"/>
        <c:noMultiLvlLbl val="0"/>
      </c:catAx>
      <c:valAx>
        <c:axId val="471918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191801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Overall!$B$20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Overall!$A$21:$A$35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Overall!$B$21:$B$35</c:f>
              <c:numCache>
                <c:formatCode>0.0</c:formatCode>
                <c:ptCount val="15"/>
                <c:pt idx="0">
                  <c:v>29.73</c:v>
                </c:pt>
                <c:pt idx="1">
                  <c:v>31.65</c:v>
                </c:pt>
                <c:pt idx="2">
                  <c:v>34.69</c:v>
                </c:pt>
                <c:pt idx="3">
                  <c:v>35.270000000000003</c:v>
                </c:pt>
                <c:pt idx="4">
                  <c:v>36.46</c:v>
                </c:pt>
                <c:pt idx="5">
                  <c:v>36.6</c:v>
                </c:pt>
                <c:pt idx="6">
                  <c:v>37.76</c:v>
                </c:pt>
                <c:pt idx="7">
                  <c:v>30.07</c:v>
                </c:pt>
                <c:pt idx="8">
                  <c:v>30.18</c:v>
                </c:pt>
                <c:pt idx="9">
                  <c:v>29.59</c:v>
                </c:pt>
                <c:pt idx="10">
                  <c:v>28.53</c:v>
                </c:pt>
                <c:pt idx="11">
                  <c:v>28.51</c:v>
                </c:pt>
                <c:pt idx="12">
                  <c:v>32.14</c:v>
                </c:pt>
                <c:pt idx="13">
                  <c:v>31.62</c:v>
                </c:pt>
                <c:pt idx="14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E45-4FDD-99C6-399E182EA7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40826159"/>
        <c:axId val="540831151"/>
      </c:lineChart>
      <c:catAx>
        <c:axId val="540826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0831151"/>
        <c:crosses val="autoZero"/>
        <c:auto val="1"/>
        <c:lblAlgn val="ctr"/>
        <c:lblOffset val="100"/>
        <c:tickLblSkip val="2"/>
        <c:noMultiLvlLbl val="0"/>
      </c:catAx>
      <c:valAx>
        <c:axId val="540831151"/>
        <c:scaling>
          <c:orientation val="minMax"/>
          <c:max val="4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0826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Age!$B$1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Age!$B$2:$B$16</c:f>
              <c:numCache>
                <c:formatCode>0.0</c:formatCode>
                <c:ptCount val="15"/>
                <c:pt idx="0">
                  <c:v>31.92</c:v>
                </c:pt>
                <c:pt idx="1">
                  <c:v>33.619999999999997</c:v>
                </c:pt>
                <c:pt idx="2">
                  <c:v>36.68</c:v>
                </c:pt>
                <c:pt idx="3">
                  <c:v>37.28</c:v>
                </c:pt>
                <c:pt idx="4">
                  <c:v>38.19</c:v>
                </c:pt>
                <c:pt idx="5">
                  <c:v>38.57</c:v>
                </c:pt>
                <c:pt idx="6">
                  <c:v>39.729999999999997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26-47D3-9798-51301F692385}"/>
            </c:ext>
          </c:extLst>
        </c:ser>
        <c:ser>
          <c:idx val="1"/>
          <c:order val="1"/>
          <c:tx>
            <c:strRef>
              <c:f>Age!$C$1</c:f>
              <c:strCache>
                <c:ptCount val="1"/>
                <c:pt idx="0">
                  <c:v>18–29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Age!$C$2:$C$16</c:f>
              <c:numCache>
                <c:formatCode>General</c:formatCode>
                <c:ptCount val="15"/>
                <c:pt idx="0">
                  <c:v>26.95</c:v>
                </c:pt>
                <c:pt idx="1">
                  <c:v>28.9</c:v>
                </c:pt>
                <c:pt idx="2">
                  <c:v>27.93</c:v>
                </c:pt>
                <c:pt idx="3">
                  <c:v>29.18</c:v>
                </c:pt>
                <c:pt idx="4">
                  <c:v>27.71</c:v>
                </c:pt>
                <c:pt idx="5">
                  <c:v>33.130000000000003</c:v>
                </c:pt>
                <c:pt idx="6">
                  <c:v>30.45</c:v>
                </c:pt>
                <c:pt idx="7">
                  <c:v>24.17</c:v>
                </c:pt>
                <c:pt idx="8">
                  <c:v>25.22</c:v>
                </c:pt>
                <c:pt idx="9">
                  <c:v>23.35</c:v>
                </c:pt>
                <c:pt idx="10">
                  <c:v>21.21</c:v>
                </c:pt>
                <c:pt idx="11">
                  <c:v>24.55</c:v>
                </c:pt>
                <c:pt idx="12">
                  <c:v>21.9</c:v>
                </c:pt>
                <c:pt idx="13">
                  <c:v>21.95</c:v>
                </c:pt>
                <c:pt idx="14">
                  <c:v>19.559999999999999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26-47D3-9798-51301F692385}"/>
            </c:ext>
          </c:extLst>
        </c:ser>
        <c:ser>
          <c:idx val="2"/>
          <c:order val="2"/>
          <c:tx>
            <c:strRef>
              <c:f>Age!$D$1</c:f>
              <c:strCache>
                <c:ptCount val="1"/>
                <c:pt idx="0">
                  <c:v>30–39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Age!$D$2:$D$16</c:f>
              <c:numCache>
                <c:formatCode>General</c:formatCode>
                <c:ptCount val="15"/>
                <c:pt idx="0">
                  <c:v>29.42</c:v>
                </c:pt>
                <c:pt idx="1">
                  <c:v>31.96</c:v>
                </c:pt>
                <c:pt idx="2">
                  <c:v>36.58</c:v>
                </c:pt>
                <c:pt idx="3">
                  <c:v>36.99</c:v>
                </c:pt>
                <c:pt idx="4">
                  <c:v>39.200000000000003</c:v>
                </c:pt>
                <c:pt idx="5">
                  <c:v>36.130000000000003</c:v>
                </c:pt>
                <c:pt idx="6">
                  <c:v>39.92</c:v>
                </c:pt>
                <c:pt idx="7">
                  <c:v>30.14</c:v>
                </c:pt>
                <c:pt idx="8">
                  <c:v>29.58</c:v>
                </c:pt>
                <c:pt idx="9">
                  <c:v>27.95</c:v>
                </c:pt>
                <c:pt idx="10">
                  <c:v>26.38</c:v>
                </c:pt>
                <c:pt idx="11">
                  <c:v>28.24</c:v>
                </c:pt>
                <c:pt idx="12">
                  <c:v>29.63</c:v>
                </c:pt>
                <c:pt idx="13">
                  <c:v>29.33</c:v>
                </c:pt>
                <c:pt idx="14">
                  <c:v>26.26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26-47D3-9798-51301F692385}"/>
            </c:ext>
          </c:extLst>
        </c:ser>
        <c:ser>
          <c:idx val="3"/>
          <c:order val="3"/>
          <c:tx>
            <c:strRef>
              <c:f>Age!$E$1</c:f>
              <c:strCache>
                <c:ptCount val="1"/>
                <c:pt idx="0">
                  <c:v>40–49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Age!$E$2:$E$16</c:f>
              <c:numCache>
                <c:formatCode>General</c:formatCode>
                <c:ptCount val="15"/>
                <c:pt idx="0">
                  <c:v>25.87</c:v>
                </c:pt>
                <c:pt idx="1">
                  <c:v>27.95</c:v>
                </c:pt>
                <c:pt idx="2">
                  <c:v>32.65</c:v>
                </c:pt>
                <c:pt idx="3">
                  <c:v>33.11</c:v>
                </c:pt>
                <c:pt idx="4">
                  <c:v>35.4</c:v>
                </c:pt>
                <c:pt idx="5">
                  <c:v>34.700000000000003</c:v>
                </c:pt>
                <c:pt idx="6">
                  <c:v>35.5</c:v>
                </c:pt>
                <c:pt idx="7">
                  <c:v>29.76</c:v>
                </c:pt>
                <c:pt idx="8">
                  <c:v>30.48</c:v>
                </c:pt>
                <c:pt idx="9">
                  <c:v>28.81</c:v>
                </c:pt>
                <c:pt idx="10">
                  <c:v>27</c:v>
                </c:pt>
                <c:pt idx="11">
                  <c:v>26.61</c:v>
                </c:pt>
                <c:pt idx="12">
                  <c:v>31.11</c:v>
                </c:pt>
                <c:pt idx="13">
                  <c:v>29.74</c:v>
                </c:pt>
                <c:pt idx="14">
                  <c:v>28.85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B26-47D3-9798-51301F692385}"/>
            </c:ext>
          </c:extLst>
        </c:ser>
        <c:ser>
          <c:idx val="4"/>
          <c:order val="4"/>
          <c:tx>
            <c:strRef>
              <c:f>Age!$F$1</c:f>
              <c:strCache>
                <c:ptCount val="1"/>
                <c:pt idx="0">
                  <c:v>50–59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Age!$F$2:$F$16</c:f>
              <c:numCache>
                <c:formatCode>General</c:formatCode>
                <c:ptCount val="15"/>
                <c:pt idx="0">
                  <c:v>29.75</c:v>
                </c:pt>
                <c:pt idx="1">
                  <c:v>31.33</c:v>
                </c:pt>
                <c:pt idx="2">
                  <c:v>34.36</c:v>
                </c:pt>
                <c:pt idx="3">
                  <c:v>34.979999999999997</c:v>
                </c:pt>
                <c:pt idx="4">
                  <c:v>36.26</c:v>
                </c:pt>
                <c:pt idx="5">
                  <c:v>36.67</c:v>
                </c:pt>
                <c:pt idx="6">
                  <c:v>37.31</c:v>
                </c:pt>
                <c:pt idx="7">
                  <c:v>30.63</c:v>
                </c:pt>
                <c:pt idx="8">
                  <c:v>30.61</c:v>
                </c:pt>
                <c:pt idx="9">
                  <c:v>30.98</c:v>
                </c:pt>
                <c:pt idx="10">
                  <c:v>30.08</c:v>
                </c:pt>
                <c:pt idx="11">
                  <c:v>29.38</c:v>
                </c:pt>
                <c:pt idx="12">
                  <c:v>34.46</c:v>
                </c:pt>
                <c:pt idx="13">
                  <c:v>34.11</c:v>
                </c:pt>
                <c:pt idx="14">
                  <c:v>35.46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B26-47D3-9798-51301F692385}"/>
            </c:ext>
          </c:extLst>
        </c:ser>
        <c:ser>
          <c:idx val="5"/>
          <c:order val="5"/>
          <c:tx>
            <c:strRef>
              <c:f>Age!$G$1</c:f>
              <c:strCache>
                <c:ptCount val="1"/>
                <c:pt idx="0">
                  <c:v>60–69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Age!$G$2:$G$16</c:f>
              <c:numCache>
                <c:formatCode>General</c:formatCode>
                <c:ptCount val="15"/>
                <c:pt idx="0">
                  <c:v>32.72</c:v>
                </c:pt>
                <c:pt idx="1">
                  <c:v>34.67</c:v>
                </c:pt>
                <c:pt idx="2">
                  <c:v>38.81</c:v>
                </c:pt>
                <c:pt idx="3">
                  <c:v>38.22</c:v>
                </c:pt>
                <c:pt idx="4">
                  <c:v>39.159999999999997</c:v>
                </c:pt>
                <c:pt idx="5">
                  <c:v>39.909999999999997</c:v>
                </c:pt>
                <c:pt idx="6">
                  <c:v>41.26</c:v>
                </c:pt>
                <c:pt idx="7">
                  <c:v>32.82</c:v>
                </c:pt>
                <c:pt idx="8">
                  <c:v>32.68</c:v>
                </c:pt>
                <c:pt idx="9">
                  <c:v>33.5</c:v>
                </c:pt>
                <c:pt idx="10">
                  <c:v>33.72</c:v>
                </c:pt>
                <c:pt idx="11">
                  <c:v>30.73</c:v>
                </c:pt>
                <c:pt idx="12">
                  <c:v>38.54</c:v>
                </c:pt>
                <c:pt idx="13">
                  <c:v>37.159999999999997</c:v>
                </c:pt>
                <c:pt idx="14">
                  <c:v>36.75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3B26-47D3-9798-51301F692385}"/>
            </c:ext>
          </c:extLst>
        </c:ser>
        <c:ser>
          <c:idx val="6"/>
          <c:order val="6"/>
          <c:tx>
            <c:strRef>
              <c:f>Age!$H$1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Age!$A$2:$A$16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Age!$H$2:$H$16</c:f>
              <c:numCache>
                <c:formatCode>General</c:formatCode>
                <c:ptCount val="15"/>
                <c:pt idx="0">
                  <c:v>33.46</c:v>
                </c:pt>
                <c:pt idx="1">
                  <c:v>34.85</c:v>
                </c:pt>
                <c:pt idx="2">
                  <c:v>37.04</c:v>
                </c:pt>
                <c:pt idx="3">
                  <c:v>38.299999999999997</c:v>
                </c:pt>
                <c:pt idx="4">
                  <c:v>38.81</c:v>
                </c:pt>
                <c:pt idx="5">
                  <c:v>39.1</c:v>
                </c:pt>
                <c:pt idx="6">
                  <c:v>40.299999999999997</c:v>
                </c:pt>
                <c:pt idx="7">
                  <c:v>31.84</c:v>
                </c:pt>
                <c:pt idx="8">
                  <c:v>32.299999999999997</c:v>
                </c:pt>
                <c:pt idx="9">
                  <c:v>32.58</c:v>
                </c:pt>
                <c:pt idx="10">
                  <c:v>32.69</c:v>
                </c:pt>
                <c:pt idx="11">
                  <c:v>30.41</c:v>
                </c:pt>
                <c:pt idx="12">
                  <c:v>36.22</c:v>
                </c:pt>
                <c:pt idx="13">
                  <c:v>35.770000000000003</c:v>
                </c:pt>
                <c:pt idx="14">
                  <c:v>35.6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3B26-47D3-9798-51301F6923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8015"/>
        <c:axId val="551978847"/>
      </c:lineChart>
      <c:catAx>
        <c:axId val="551978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847"/>
        <c:crosses val="autoZero"/>
        <c:auto val="1"/>
        <c:lblAlgn val="ctr"/>
        <c:lblOffset val="100"/>
        <c:tickLblSkip val="2"/>
        <c:noMultiLvlLbl val="0"/>
      </c:catAx>
      <c:valAx>
        <c:axId val="55197884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>
                  <a:alpha val="95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Sex!$B$2:$B$16</c:f>
              <c:numCache>
                <c:formatCode>0.0</c:formatCode>
                <c:ptCount val="15"/>
                <c:pt idx="0">
                  <c:v>31.92</c:v>
                </c:pt>
                <c:pt idx="1">
                  <c:v>33.619999999999997</c:v>
                </c:pt>
                <c:pt idx="2">
                  <c:v>36.68</c:v>
                </c:pt>
                <c:pt idx="3">
                  <c:v>37.28</c:v>
                </c:pt>
                <c:pt idx="4">
                  <c:v>38.19</c:v>
                </c:pt>
                <c:pt idx="5">
                  <c:v>38.57</c:v>
                </c:pt>
                <c:pt idx="6">
                  <c:v>39.729999999999997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9C-45DA-BB1A-9CB2F7D97A11}"/>
            </c:ext>
          </c:extLst>
        </c:ser>
        <c:ser>
          <c:idx val="1"/>
          <c:order val="1"/>
          <c:tx>
            <c:strRef>
              <c:f>Sex!$C$1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Sex!$C$2:$C$16</c:f>
              <c:numCache>
                <c:formatCode>0.0</c:formatCode>
                <c:ptCount val="15"/>
                <c:pt idx="0">
                  <c:v>37.270000000000003</c:v>
                </c:pt>
                <c:pt idx="1">
                  <c:v>38.700000000000003</c:v>
                </c:pt>
                <c:pt idx="2">
                  <c:v>42.03</c:v>
                </c:pt>
                <c:pt idx="3">
                  <c:v>42.31</c:v>
                </c:pt>
                <c:pt idx="4">
                  <c:v>42.86</c:v>
                </c:pt>
                <c:pt idx="5">
                  <c:v>43.2</c:v>
                </c:pt>
                <c:pt idx="6">
                  <c:v>44.51</c:v>
                </c:pt>
                <c:pt idx="7">
                  <c:v>36.049999999999997</c:v>
                </c:pt>
                <c:pt idx="8">
                  <c:v>36.47</c:v>
                </c:pt>
                <c:pt idx="9">
                  <c:v>36.19</c:v>
                </c:pt>
                <c:pt idx="10">
                  <c:v>35.56</c:v>
                </c:pt>
                <c:pt idx="11">
                  <c:v>33.9</c:v>
                </c:pt>
                <c:pt idx="12">
                  <c:v>40.090000000000003</c:v>
                </c:pt>
                <c:pt idx="13">
                  <c:v>38.590000000000003</c:v>
                </c:pt>
                <c:pt idx="14">
                  <c:v>37.71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9C-45DA-BB1A-9CB2F7D97A11}"/>
            </c:ext>
          </c:extLst>
        </c:ser>
        <c:ser>
          <c:idx val="2"/>
          <c:order val="2"/>
          <c:tx>
            <c:strRef>
              <c:f>Sex!$D$1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Sex!$D$2:$D$16</c:f>
              <c:numCache>
                <c:formatCode>0.0</c:formatCode>
                <c:ptCount val="15"/>
                <c:pt idx="0">
                  <c:v>26.97</c:v>
                </c:pt>
                <c:pt idx="1">
                  <c:v>28.77</c:v>
                </c:pt>
                <c:pt idx="2">
                  <c:v>31.56</c:v>
                </c:pt>
                <c:pt idx="3">
                  <c:v>32.39</c:v>
                </c:pt>
                <c:pt idx="4">
                  <c:v>33.5</c:v>
                </c:pt>
                <c:pt idx="5">
                  <c:v>33.79</c:v>
                </c:pt>
                <c:pt idx="6">
                  <c:v>34.75</c:v>
                </c:pt>
                <c:pt idx="7">
                  <c:v>27.05</c:v>
                </c:pt>
                <c:pt idx="8">
                  <c:v>27.14</c:v>
                </c:pt>
                <c:pt idx="9">
                  <c:v>27.98</c:v>
                </c:pt>
                <c:pt idx="10">
                  <c:v>28.1</c:v>
                </c:pt>
                <c:pt idx="11">
                  <c:v>25.86</c:v>
                </c:pt>
                <c:pt idx="12">
                  <c:v>31.67</c:v>
                </c:pt>
                <c:pt idx="13">
                  <c:v>31.85</c:v>
                </c:pt>
                <c:pt idx="14">
                  <c:v>32.39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E9C-45DA-BB1A-9CB2F7D97A1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41925695"/>
        <c:axId val="541928191"/>
      </c:lineChart>
      <c:catAx>
        <c:axId val="5419256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8191"/>
        <c:crosses val="autoZero"/>
        <c:auto val="1"/>
        <c:lblAlgn val="ctr"/>
        <c:lblOffset val="100"/>
        <c:tickLblSkip val="2"/>
        <c:noMultiLvlLbl val="0"/>
      </c:catAx>
      <c:valAx>
        <c:axId val="54192819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19256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Sex!$B$22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Sex!$A$23:$A$37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Sex!$B$23:$B$37</c:f>
              <c:numCache>
                <c:formatCode>0.0</c:formatCode>
                <c:ptCount val="15"/>
                <c:pt idx="0">
                  <c:v>29.73</c:v>
                </c:pt>
                <c:pt idx="1">
                  <c:v>31.65</c:v>
                </c:pt>
                <c:pt idx="2">
                  <c:v>34.69</c:v>
                </c:pt>
                <c:pt idx="3">
                  <c:v>35.270000000000003</c:v>
                </c:pt>
                <c:pt idx="4">
                  <c:v>36.46</c:v>
                </c:pt>
                <c:pt idx="5">
                  <c:v>36.6</c:v>
                </c:pt>
                <c:pt idx="6">
                  <c:v>37.76</c:v>
                </c:pt>
                <c:pt idx="7">
                  <c:v>30.07</c:v>
                </c:pt>
                <c:pt idx="8">
                  <c:v>30.18</c:v>
                </c:pt>
                <c:pt idx="9">
                  <c:v>29.59</c:v>
                </c:pt>
                <c:pt idx="10">
                  <c:v>28.53</c:v>
                </c:pt>
                <c:pt idx="11">
                  <c:v>28.51</c:v>
                </c:pt>
                <c:pt idx="12">
                  <c:v>32.14</c:v>
                </c:pt>
                <c:pt idx="13">
                  <c:v>31.62</c:v>
                </c:pt>
                <c:pt idx="14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C14-474F-B8B4-930C0C32DCB3}"/>
            </c:ext>
          </c:extLst>
        </c:ser>
        <c:ser>
          <c:idx val="1"/>
          <c:order val="1"/>
          <c:tx>
            <c:strRef>
              <c:f>Sex!$C$22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Sex!$A$23:$A$37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Sex!$C$23:$C$37</c:f>
              <c:numCache>
                <c:formatCode>0.0</c:formatCode>
                <c:ptCount val="15"/>
                <c:pt idx="0">
                  <c:v>32.201799999999999</c:v>
                </c:pt>
                <c:pt idx="1">
                  <c:v>33.734299999999998</c:v>
                </c:pt>
                <c:pt idx="2">
                  <c:v>36.997399999999999</c:v>
                </c:pt>
                <c:pt idx="3">
                  <c:v>37.340800000000002</c:v>
                </c:pt>
                <c:pt idx="4">
                  <c:v>37.836300000000001</c:v>
                </c:pt>
                <c:pt idx="5">
                  <c:v>37.292499999999997</c:v>
                </c:pt>
                <c:pt idx="6">
                  <c:v>38.416600000000003</c:v>
                </c:pt>
                <c:pt idx="7">
                  <c:v>31.25</c:v>
                </c:pt>
                <c:pt idx="8">
                  <c:v>30.77</c:v>
                </c:pt>
                <c:pt idx="9">
                  <c:v>29.66</c:v>
                </c:pt>
                <c:pt idx="10">
                  <c:v>28.51</c:v>
                </c:pt>
                <c:pt idx="11">
                  <c:v>28.3</c:v>
                </c:pt>
                <c:pt idx="12">
                  <c:v>32.17</c:v>
                </c:pt>
                <c:pt idx="13">
                  <c:v>31.05</c:v>
                </c:pt>
                <c:pt idx="14">
                  <c:v>30.25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C14-474F-B8B4-930C0C32DCB3}"/>
            </c:ext>
          </c:extLst>
        </c:ser>
        <c:ser>
          <c:idx val="2"/>
          <c:order val="2"/>
          <c:tx>
            <c:strRef>
              <c:f>Sex!$D$22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Sex!$A$23:$A$37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Sex!$D$23:$D$37</c:f>
              <c:numCache>
                <c:formatCode>0.0</c:formatCode>
                <c:ptCount val="15"/>
                <c:pt idx="0">
                  <c:v>27.5535</c:v>
                </c:pt>
                <c:pt idx="1">
                  <c:v>29.956099999999999</c:v>
                </c:pt>
                <c:pt idx="2">
                  <c:v>32.755299999999998</c:v>
                </c:pt>
                <c:pt idx="3">
                  <c:v>33.5563</c:v>
                </c:pt>
                <c:pt idx="4">
                  <c:v>35.301200000000001</c:v>
                </c:pt>
                <c:pt idx="5">
                  <c:v>36.331600000000002</c:v>
                </c:pt>
                <c:pt idx="6">
                  <c:v>37.752699999999997</c:v>
                </c:pt>
                <c:pt idx="7">
                  <c:v>29.32</c:v>
                </c:pt>
                <c:pt idx="8">
                  <c:v>30.53</c:v>
                </c:pt>
                <c:pt idx="9">
                  <c:v>30.17</c:v>
                </c:pt>
                <c:pt idx="10">
                  <c:v>29.75</c:v>
                </c:pt>
                <c:pt idx="11">
                  <c:v>29.92</c:v>
                </c:pt>
                <c:pt idx="12">
                  <c:v>33.4</c:v>
                </c:pt>
                <c:pt idx="13">
                  <c:v>33.5</c:v>
                </c:pt>
                <c:pt idx="14">
                  <c:v>32.590000000000003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C14-474F-B8B4-930C0C32DC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90515887"/>
        <c:axId val="590516719"/>
      </c:lineChart>
      <c:catAx>
        <c:axId val="59051588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0516719"/>
        <c:crosses val="autoZero"/>
        <c:auto val="1"/>
        <c:lblAlgn val="ctr"/>
        <c:lblOffset val="100"/>
        <c:tickLblSkip val="2"/>
        <c:noMultiLvlLbl val="0"/>
      </c:catAx>
      <c:valAx>
        <c:axId val="590516719"/>
        <c:scaling>
          <c:orientation val="minMax"/>
          <c:max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0515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691224846894137"/>
          <c:y val="7.7972709551656916E-2"/>
          <c:w val="0.88308775153105856"/>
          <c:h val="0.47675984251968506"/>
        </c:manualLayout>
      </c:layout>
      <c:lineChart>
        <c:grouping val="standard"/>
        <c:varyColors val="0"/>
        <c:ser>
          <c:idx val="0"/>
          <c:order val="0"/>
          <c:tx>
            <c:strRef>
              <c:f>Race!$B$1</c:f>
              <c:strCache>
                <c:ptCount val="1"/>
                <c:pt idx="0">
                  <c:v>Overall</c:v>
                </c:pt>
              </c:strCache>
            </c:strRef>
          </c:tx>
          <c:spPr>
            <a:ln w="28575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Race!$B$2:$B$16</c:f>
              <c:numCache>
                <c:formatCode>0.0</c:formatCode>
                <c:ptCount val="15"/>
                <c:pt idx="0">
                  <c:v>31.92</c:v>
                </c:pt>
                <c:pt idx="1">
                  <c:v>33.619999999999997</c:v>
                </c:pt>
                <c:pt idx="2">
                  <c:v>36.68</c:v>
                </c:pt>
                <c:pt idx="3">
                  <c:v>37.28</c:v>
                </c:pt>
                <c:pt idx="4">
                  <c:v>38.19</c:v>
                </c:pt>
                <c:pt idx="5">
                  <c:v>38.57</c:v>
                </c:pt>
                <c:pt idx="6">
                  <c:v>39.729999999999997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889-49E1-BF65-3D5027098245}"/>
            </c:ext>
          </c:extLst>
        </c:ser>
        <c:ser>
          <c:idx val="1"/>
          <c:order val="1"/>
          <c:tx>
            <c:strRef>
              <c:f>Race!$C$1</c:f>
              <c:strCache>
                <c:ptCount val="1"/>
                <c:pt idx="0">
                  <c:v>White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Race!$C$2:$C$16</c:f>
              <c:numCache>
                <c:formatCode>General</c:formatCode>
                <c:ptCount val="15"/>
                <c:pt idx="0">
                  <c:v>31.2</c:v>
                </c:pt>
                <c:pt idx="1">
                  <c:v>32.36</c:v>
                </c:pt>
                <c:pt idx="2">
                  <c:v>36.18</c:v>
                </c:pt>
                <c:pt idx="3">
                  <c:v>35.96</c:v>
                </c:pt>
                <c:pt idx="4">
                  <c:v>37.659999999999997</c:v>
                </c:pt>
                <c:pt idx="5">
                  <c:v>37.630000000000003</c:v>
                </c:pt>
                <c:pt idx="6">
                  <c:v>39.19</c:v>
                </c:pt>
                <c:pt idx="7">
                  <c:v>30.31</c:v>
                </c:pt>
                <c:pt idx="8">
                  <c:v>31.11</c:v>
                </c:pt>
                <c:pt idx="9">
                  <c:v>31.32</c:v>
                </c:pt>
                <c:pt idx="10">
                  <c:v>31.32</c:v>
                </c:pt>
                <c:pt idx="11">
                  <c:v>29.71</c:v>
                </c:pt>
                <c:pt idx="12">
                  <c:v>35.409999999999997</c:v>
                </c:pt>
                <c:pt idx="13">
                  <c:v>34.92</c:v>
                </c:pt>
                <c:pt idx="14">
                  <c:v>34.44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889-49E1-BF65-3D5027098245}"/>
            </c:ext>
          </c:extLst>
        </c:ser>
        <c:ser>
          <c:idx val="2"/>
          <c:order val="2"/>
          <c:tx>
            <c:strRef>
              <c:f>Race!$D$1</c:f>
              <c:strCache>
                <c:ptCount val="1"/>
                <c:pt idx="0">
                  <c:v>Black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Race!$D$2:$D$16</c:f>
              <c:numCache>
                <c:formatCode>General</c:formatCode>
                <c:ptCount val="15"/>
                <c:pt idx="0">
                  <c:v>30.27</c:v>
                </c:pt>
                <c:pt idx="1">
                  <c:v>32.58</c:v>
                </c:pt>
                <c:pt idx="2">
                  <c:v>36.69</c:v>
                </c:pt>
                <c:pt idx="3">
                  <c:v>37.770000000000003</c:v>
                </c:pt>
                <c:pt idx="4">
                  <c:v>37.270000000000003</c:v>
                </c:pt>
                <c:pt idx="5">
                  <c:v>36.909999999999997</c:v>
                </c:pt>
                <c:pt idx="6">
                  <c:v>38.200000000000003</c:v>
                </c:pt>
                <c:pt idx="7">
                  <c:v>31.62</c:v>
                </c:pt>
                <c:pt idx="8">
                  <c:v>31.2</c:v>
                </c:pt>
                <c:pt idx="9">
                  <c:v>31.43</c:v>
                </c:pt>
                <c:pt idx="10">
                  <c:v>31.2</c:v>
                </c:pt>
                <c:pt idx="11">
                  <c:v>29.66</c:v>
                </c:pt>
                <c:pt idx="12">
                  <c:v>35.96</c:v>
                </c:pt>
                <c:pt idx="13">
                  <c:v>34.68</c:v>
                </c:pt>
                <c:pt idx="14">
                  <c:v>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889-49E1-BF65-3D5027098245}"/>
            </c:ext>
          </c:extLst>
        </c:ser>
        <c:ser>
          <c:idx val="3"/>
          <c:order val="3"/>
          <c:tx>
            <c:strRef>
              <c:f>Race!$E$1</c:f>
              <c:strCache>
                <c:ptCount val="1"/>
                <c:pt idx="0">
                  <c:v>Unknown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Race!$E$2:$E$16</c:f>
              <c:numCache>
                <c:formatCode>General</c:formatCode>
                <c:ptCount val="15"/>
                <c:pt idx="0">
                  <c:v>37.979999999999997</c:v>
                </c:pt>
                <c:pt idx="1">
                  <c:v>39.5</c:v>
                </c:pt>
                <c:pt idx="2">
                  <c:v>42.19</c:v>
                </c:pt>
                <c:pt idx="3">
                  <c:v>42.85</c:v>
                </c:pt>
                <c:pt idx="4">
                  <c:v>43.34</c:v>
                </c:pt>
                <c:pt idx="5">
                  <c:v>44.58</c:v>
                </c:pt>
                <c:pt idx="6">
                  <c:v>45.63</c:v>
                </c:pt>
                <c:pt idx="7">
                  <c:v>37.86</c:v>
                </c:pt>
                <c:pt idx="8">
                  <c:v>38.11</c:v>
                </c:pt>
                <c:pt idx="9">
                  <c:v>38.04</c:v>
                </c:pt>
                <c:pt idx="10">
                  <c:v>38.17</c:v>
                </c:pt>
                <c:pt idx="11">
                  <c:v>35.21</c:v>
                </c:pt>
                <c:pt idx="12">
                  <c:v>40.72</c:v>
                </c:pt>
                <c:pt idx="13">
                  <c:v>39.479999999999997</c:v>
                </c:pt>
                <c:pt idx="14">
                  <c:v>36.74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889-49E1-BF65-3D5027098245}"/>
            </c:ext>
          </c:extLst>
        </c:ser>
        <c:ser>
          <c:idx val="4"/>
          <c:order val="4"/>
          <c:tx>
            <c:strRef>
              <c:f>Race!$F$1</c:f>
              <c:strCache>
                <c:ptCount val="1"/>
                <c:pt idx="0">
                  <c:v>Missing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Race!$F$2:$F$16</c:f>
              <c:numCache>
                <c:formatCode>General</c:formatCode>
                <c:ptCount val="15"/>
                <c:pt idx="0">
                  <c:v>27.81</c:v>
                </c:pt>
                <c:pt idx="1">
                  <c:v>29.57</c:v>
                </c:pt>
                <c:pt idx="2">
                  <c:v>32.31</c:v>
                </c:pt>
                <c:pt idx="3">
                  <c:v>33.18</c:v>
                </c:pt>
                <c:pt idx="4">
                  <c:v>34.32</c:v>
                </c:pt>
                <c:pt idx="5">
                  <c:v>34.44</c:v>
                </c:pt>
                <c:pt idx="6">
                  <c:v>35.71</c:v>
                </c:pt>
                <c:pt idx="7">
                  <c:v>28.57</c:v>
                </c:pt>
                <c:pt idx="8">
                  <c:v>29.51</c:v>
                </c:pt>
                <c:pt idx="9">
                  <c:v>30.02</c:v>
                </c:pt>
                <c:pt idx="10">
                  <c:v>29.9</c:v>
                </c:pt>
                <c:pt idx="11">
                  <c:v>27.26</c:v>
                </c:pt>
                <c:pt idx="12">
                  <c:v>32.47</c:v>
                </c:pt>
                <c:pt idx="13">
                  <c:v>32.770000000000003</c:v>
                </c:pt>
                <c:pt idx="14">
                  <c:v>32.83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89-49E1-BF65-3D5027098245}"/>
            </c:ext>
          </c:extLst>
        </c:ser>
        <c:ser>
          <c:idx val="5"/>
          <c:order val="5"/>
          <c:tx>
            <c:strRef>
              <c:f>Race!$G$1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Race!$G$2:$G$16</c:f>
              <c:numCache>
                <c:formatCode>General</c:formatCode>
                <c:ptCount val="15"/>
                <c:pt idx="0">
                  <c:v>36.5</c:v>
                </c:pt>
                <c:pt idx="1">
                  <c:v>38.15</c:v>
                </c:pt>
                <c:pt idx="2">
                  <c:v>44.13</c:v>
                </c:pt>
                <c:pt idx="3">
                  <c:v>41.59</c:v>
                </c:pt>
                <c:pt idx="4">
                  <c:v>43.97</c:v>
                </c:pt>
                <c:pt idx="5">
                  <c:v>47.46</c:v>
                </c:pt>
                <c:pt idx="6">
                  <c:v>46.51</c:v>
                </c:pt>
                <c:pt idx="7">
                  <c:v>34.94</c:v>
                </c:pt>
                <c:pt idx="8">
                  <c:v>32.950000000000003</c:v>
                </c:pt>
                <c:pt idx="9">
                  <c:v>36.159999999999997</c:v>
                </c:pt>
                <c:pt idx="10">
                  <c:v>35.26</c:v>
                </c:pt>
                <c:pt idx="11">
                  <c:v>32.15</c:v>
                </c:pt>
                <c:pt idx="12">
                  <c:v>40.229999999999997</c:v>
                </c:pt>
                <c:pt idx="13">
                  <c:v>39.799999999999997</c:v>
                </c:pt>
                <c:pt idx="14">
                  <c:v>41.34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889-49E1-BF65-3D5027098245}"/>
            </c:ext>
          </c:extLst>
        </c:ser>
        <c:ser>
          <c:idx val="6"/>
          <c:order val="6"/>
          <c:tx>
            <c:strRef>
              <c:f>Race!$H$1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Race!$H$2:$H$16</c:f>
              <c:numCache>
                <c:formatCode>General</c:formatCode>
                <c:ptCount val="15"/>
                <c:pt idx="0">
                  <c:v>28.79</c:v>
                </c:pt>
                <c:pt idx="1">
                  <c:v>35.61</c:v>
                </c:pt>
                <c:pt idx="2">
                  <c:v>33.869999999999997</c:v>
                </c:pt>
                <c:pt idx="3">
                  <c:v>36.43</c:v>
                </c:pt>
                <c:pt idx="4">
                  <c:v>43.36</c:v>
                </c:pt>
                <c:pt idx="5">
                  <c:v>41.54</c:v>
                </c:pt>
                <c:pt idx="6">
                  <c:v>43.61</c:v>
                </c:pt>
                <c:pt idx="7">
                  <c:v>30.59</c:v>
                </c:pt>
                <c:pt idx="8">
                  <c:v>29.47</c:v>
                </c:pt>
                <c:pt idx="9">
                  <c:v>33.33</c:v>
                </c:pt>
                <c:pt idx="10">
                  <c:v>32.86</c:v>
                </c:pt>
                <c:pt idx="11">
                  <c:v>33.909999999999997</c:v>
                </c:pt>
                <c:pt idx="12">
                  <c:v>31.43</c:v>
                </c:pt>
                <c:pt idx="13">
                  <c:v>34.869999999999997</c:v>
                </c:pt>
                <c:pt idx="14">
                  <c:v>30.58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9889-49E1-BF65-3D5027098245}"/>
            </c:ext>
          </c:extLst>
        </c:ser>
        <c:ser>
          <c:idx val="7"/>
          <c:order val="7"/>
          <c:tx>
            <c:strRef>
              <c:f>Race!$I$1</c:f>
              <c:strCache>
                <c:ptCount val="1"/>
                <c:pt idx="0">
                  <c:v>Other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Race!$I$2:$I$16</c:f>
              <c:numCache>
                <c:formatCode>General</c:formatCode>
                <c:ptCount val="15"/>
                <c:pt idx="0">
                  <c:v>31.43</c:v>
                </c:pt>
                <c:pt idx="1">
                  <c:v>35.450000000000003</c:v>
                </c:pt>
                <c:pt idx="2">
                  <c:v>35.020000000000003</c:v>
                </c:pt>
                <c:pt idx="3">
                  <c:v>39.840000000000003</c:v>
                </c:pt>
                <c:pt idx="4">
                  <c:v>45.76</c:v>
                </c:pt>
                <c:pt idx="5">
                  <c:v>44.32</c:v>
                </c:pt>
                <c:pt idx="6">
                  <c:v>44.08</c:v>
                </c:pt>
                <c:pt idx="7">
                  <c:v>35.93</c:v>
                </c:pt>
                <c:pt idx="8">
                  <c:v>36.700000000000003</c:v>
                </c:pt>
                <c:pt idx="9">
                  <c:v>37.58</c:v>
                </c:pt>
                <c:pt idx="10">
                  <c:v>36.1</c:v>
                </c:pt>
                <c:pt idx="11">
                  <c:v>30.83</c:v>
                </c:pt>
                <c:pt idx="12">
                  <c:v>42.72</c:v>
                </c:pt>
                <c:pt idx="13">
                  <c:v>40.200000000000003</c:v>
                </c:pt>
                <c:pt idx="14">
                  <c:v>36.270000000000003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9889-49E1-BF65-3D502709824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51974271"/>
        <c:axId val="551980511"/>
      </c:lineChart>
      <c:catAx>
        <c:axId val="55197427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80511"/>
        <c:crosses val="autoZero"/>
        <c:auto val="1"/>
        <c:lblAlgn val="ctr"/>
        <c:lblOffset val="100"/>
        <c:tickLblSkip val="2"/>
        <c:noMultiLvlLbl val="0"/>
      </c:catAx>
      <c:valAx>
        <c:axId val="551980511"/>
        <c:scaling>
          <c:orientation val="minMax"/>
          <c:max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5197427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7544006999125109E-2"/>
          <c:y val="0.71060226495904244"/>
          <c:w val="0.94690043744531938"/>
          <c:h val="0.2625853018372703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Race!$B$35</c:f>
              <c:strCache>
                <c:ptCount val="1"/>
                <c:pt idx="0">
                  <c:v>Overall</c:v>
                </c:pt>
              </c:strCache>
            </c:strRef>
          </c:tx>
          <c:spPr>
            <a:ln w="28575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Race!$B$36:$B$50</c:f>
              <c:numCache>
                <c:formatCode>0.0</c:formatCode>
                <c:ptCount val="15"/>
                <c:pt idx="0">
                  <c:v>29.73</c:v>
                </c:pt>
                <c:pt idx="1">
                  <c:v>31.65</c:v>
                </c:pt>
                <c:pt idx="2">
                  <c:v>34.69</c:v>
                </c:pt>
                <c:pt idx="3">
                  <c:v>35.270000000000003</c:v>
                </c:pt>
                <c:pt idx="4">
                  <c:v>36.46</c:v>
                </c:pt>
                <c:pt idx="5">
                  <c:v>36.6</c:v>
                </c:pt>
                <c:pt idx="6">
                  <c:v>37.76</c:v>
                </c:pt>
                <c:pt idx="7">
                  <c:v>30.07</c:v>
                </c:pt>
                <c:pt idx="8">
                  <c:v>30.18</c:v>
                </c:pt>
                <c:pt idx="9">
                  <c:v>29.59</c:v>
                </c:pt>
                <c:pt idx="10">
                  <c:v>28.53</c:v>
                </c:pt>
                <c:pt idx="11">
                  <c:v>28.51</c:v>
                </c:pt>
                <c:pt idx="12">
                  <c:v>32.14</c:v>
                </c:pt>
                <c:pt idx="13">
                  <c:v>31.62</c:v>
                </c:pt>
                <c:pt idx="14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EBC-4B67-8C28-CFDBB98A1C05}"/>
            </c:ext>
          </c:extLst>
        </c:ser>
        <c:ser>
          <c:idx val="1"/>
          <c:order val="1"/>
          <c:tx>
            <c:strRef>
              <c:f>Race!$C$35</c:f>
              <c:strCache>
                <c:ptCount val="1"/>
                <c:pt idx="0">
                  <c:v>White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Race!$C$36:$C$50</c:f>
              <c:numCache>
                <c:formatCode>0.00</c:formatCode>
                <c:ptCount val="15"/>
                <c:pt idx="0">
                  <c:v>28.295000000000002</c:v>
                </c:pt>
                <c:pt idx="1">
                  <c:v>29.624500000000001</c:v>
                </c:pt>
                <c:pt idx="2">
                  <c:v>31.3796</c:v>
                </c:pt>
                <c:pt idx="3">
                  <c:v>31.995000000000001</c:v>
                </c:pt>
                <c:pt idx="4">
                  <c:v>33.291499999999999</c:v>
                </c:pt>
                <c:pt idx="5">
                  <c:v>33.879899999999999</c:v>
                </c:pt>
                <c:pt idx="6">
                  <c:v>34.2273</c:v>
                </c:pt>
                <c:pt idx="7">
                  <c:v>28.69</c:v>
                </c:pt>
                <c:pt idx="8">
                  <c:v>29.3</c:v>
                </c:pt>
                <c:pt idx="9">
                  <c:v>29.08</c:v>
                </c:pt>
                <c:pt idx="10">
                  <c:v>28.26</c:v>
                </c:pt>
                <c:pt idx="11">
                  <c:v>28.92</c:v>
                </c:pt>
                <c:pt idx="12">
                  <c:v>32.1</c:v>
                </c:pt>
                <c:pt idx="13">
                  <c:v>31.76</c:v>
                </c:pt>
                <c:pt idx="14">
                  <c:v>30.92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EBC-4B67-8C28-CFDBB98A1C05}"/>
            </c:ext>
          </c:extLst>
        </c:ser>
        <c:ser>
          <c:idx val="2"/>
          <c:order val="2"/>
          <c:tx>
            <c:strRef>
              <c:f>Race!$D$35</c:f>
              <c:strCache>
                <c:ptCount val="1"/>
                <c:pt idx="0">
                  <c:v>Black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Race!$D$36:$D$50</c:f>
              <c:numCache>
                <c:formatCode>0.00</c:formatCode>
                <c:ptCount val="15"/>
                <c:pt idx="0">
                  <c:v>28.7836</c:v>
                </c:pt>
                <c:pt idx="1">
                  <c:v>31.227499999999999</c:v>
                </c:pt>
                <c:pt idx="2">
                  <c:v>34.126800000000003</c:v>
                </c:pt>
                <c:pt idx="3">
                  <c:v>35.5931</c:v>
                </c:pt>
                <c:pt idx="4">
                  <c:v>35.390599999999999</c:v>
                </c:pt>
                <c:pt idx="5">
                  <c:v>33.418900000000001</c:v>
                </c:pt>
                <c:pt idx="6">
                  <c:v>35.394100000000002</c:v>
                </c:pt>
                <c:pt idx="7">
                  <c:v>28.27</c:v>
                </c:pt>
                <c:pt idx="8">
                  <c:v>27.98</c:v>
                </c:pt>
                <c:pt idx="9">
                  <c:v>26.8</c:v>
                </c:pt>
                <c:pt idx="10">
                  <c:v>26.47</c:v>
                </c:pt>
                <c:pt idx="11">
                  <c:v>25.79</c:v>
                </c:pt>
                <c:pt idx="12">
                  <c:v>30.15</c:v>
                </c:pt>
                <c:pt idx="13">
                  <c:v>29.04</c:v>
                </c:pt>
                <c:pt idx="14">
                  <c:v>28.78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EBC-4B67-8C28-CFDBB98A1C05}"/>
            </c:ext>
          </c:extLst>
        </c:ser>
        <c:ser>
          <c:idx val="3"/>
          <c:order val="3"/>
          <c:tx>
            <c:strRef>
              <c:f>Race!$E$35</c:f>
              <c:strCache>
                <c:ptCount val="1"/>
                <c:pt idx="0">
                  <c:v>Unknown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Race!$E$36:$E$50</c:f>
              <c:numCache>
                <c:formatCode>0.00</c:formatCode>
                <c:ptCount val="15"/>
                <c:pt idx="0">
                  <c:v>40.252200000000002</c:v>
                </c:pt>
                <c:pt idx="1">
                  <c:v>37.7044</c:v>
                </c:pt>
                <c:pt idx="2">
                  <c:v>42.6937</c:v>
                </c:pt>
                <c:pt idx="3">
                  <c:v>45.701500000000003</c:v>
                </c:pt>
                <c:pt idx="4">
                  <c:v>44.668799999999997</c:v>
                </c:pt>
                <c:pt idx="5">
                  <c:v>50.289299999999997</c:v>
                </c:pt>
                <c:pt idx="6">
                  <c:v>44.497999999999998</c:v>
                </c:pt>
                <c:pt idx="7">
                  <c:v>36.46</c:v>
                </c:pt>
                <c:pt idx="8">
                  <c:v>41.03</c:v>
                </c:pt>
                <c:pt idx="9">
                  <c:v>35.950000000000003</c:v>
                </c:pt>
                <c:pt idx="10">
                  <c:v>34.619999999999997</c:v>
                </c:pt>
                <c:pt idx="11">
                  <c:v>37.83</c:v>
                </c:pt>
                <c:pt idx="12">
                  <c:v>40.299999999999997</c:v>
                </c:pt>
                <c:pt idx="13">
                  <c:v>39.909999999999997</c:v>
                </c:pt>
                <c:pt idx="14">
                  <c:v>32.67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EBC-4B67-8C28-CFDBB98A1C05}"/>
            </c:ext>
          </c:extLst>
        </c:ser>
        <c:ser>
          <c:idx val="4"/>
          <c:order val="4"/>
          <c:tx>
            <c:strRef>
              <c:f>Race!$F$35</c:f>
              <c:strCache>
                <c:ptCount val="1"/>
                <c:pt idx="0">
                  <c:v>Missing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Race!$F$36:$F$50</c:f>
              <c:numCache>
                <c:formatCode>0.00</c:formatCode>
                <c:ptCount val="15"/>
                <c:pt idx="0">
                  <c:v>32.101199999999999</c:v>
                </c:pt>
                <c:pt idx="1">
                  <c:v>35.1907</c:v>
                </c:pt>
                <c:pt idx="2">
                  <c:v>39.800400000000003</c:v>
                </c:pt>
                <c:pt idx="3">
                  <c:v>39.022399999999998</c:v>
                </c:pt>
                <c:pt idx="4">
                  <c:v>40.868499999999997</c:v>
                </c:pt>
                <c:pt idx="5">
                  <c:v>40.994799999999998</c:v>
                </c:pt>
                <c:pt idx="6">
                  <c:v>44.59</c:v>
                </c:pt>
                <c:pt idx="7">
                  <c:v>37.729999999999997</c:v>
                </c:pt>
                <c:pt idx="8">
                  <c:v>38.6</c:v>
                </c:pt>
                <c:pt idx="9">
                  <c:v>38.1</c:v>
                </c:pt>
                <c:pt idx="10">
                  <c:v>36.200000000000003</c:v>
                </c:pt>
                <c:pt idx="11">
                  <c:v>37.840000000000003</c:v>
                </c:pt>
                <c:pt idx="12">
                  <c:v>38.659999999999997</c:v>
                </c:pt>
                <c:pt idx="13">
                  <c:v>42.77</c:v>
                </c:pt>
                <c:pt idx="14">
                  <c:v>36.590000000000003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EBC-4B67-8C28-CFDBB98A1C05}"/>
            </c:ext>
          </c:extLst>
        </c:ser>
        <c:ser>
          <c:idx val="5"/>
          <c:order val="5"/>
          <c:tx>
            <c:strRef>
              <c:f>Race!$G$35</c:f>
              <c:strCache>
                <c:ptCount val="1"/>
                <c:pt idx="0">
                  <c:v>Asian/Pacific Islander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Race!$G$36:$G$50</c:f>
              <c:numCache>
                <c:formatCode>0.00</c:formatCode>
                <c:ptCount val="15"/>
                <c:pt idx="0">
                  <c:v>31.6844</c:v>
                </c:pt>
                <c:pt idx="1">
                  <c:v>33.386200000000002</c:v>
                </c:pt>
                <c:pt idx="2">
                  <c:v>41.981999999999999</c:v>
                </c:pt>
                <c:pt idx="3">
                  <c:v>35.828800000000001</c:v>
                </c:pt>
                <c:pt idx="4">
                  <c:v>39.151000000000003</c:v>
                </c:pt>
                <c:pt idx="5">
                  <c:v>43.916899999999998</c:v>
                </c:pt>
                <c:pt idx="6">
                  <c:v>49.810099999999998</c:v>
                </c:pt>
                <c:pt idx="7">
                  <c:v>35.69</c:v>
                </c:pt>
                <c:pt idx="8">
                  <c:v>32.06</c:v>
                </c:pt>
                <c:pt idx="9">
                  <c:v>34.1</c:v>
                </c:pt>
                <c:pt idx="10">
                  <c:v>32.520000000000003</c:v>
                </c:pt>
                <c:pt idx="11">
                  <c:v>34.04</c:v>
                </c:pt>
                <c:pt idx="12">
                  <c:v>38.909999999999997</c:v>
                </c:pt>
                <c:pt idx="13">
                  <c:v>37.659999999999997</c:v>
                </c:pt>
                <c:pt idx="14">
                  <c:v>39.82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EBC-4B67-8C28-CFDBB98A1C05}"/>
            </c:ext>
          </c:extLst>
        </c:ser>
        <c:ser>
          <c:idx val="6"/>
          <c:order val="6"/>
          <c:tx>
            <c:strRef>
              <c:f>Race!$H$35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Race!$H$36:$H$50</c:f>
              <c:numCache>
                <c:formatCode>0.00</c:formatCode>
                <c:ptCount val="15"/>
                <c:pt idx="0">
                  <c:v>25.759799999999998</c:v>
                </c:pt>
                <c:pt idx="1">
                  <c:v>33.8202</c:v>
                </c:pt>
                <c:pt idx="2">
                  <c:v>33.373800000000003</c:v>
                </c:pt>
                <c:pt idx="3">
                  <c:v>38.287799999999997</c:v>
                </c:pt>
                <c:pt idx="4">
                  <c:v>40.346200000000003</c:v>
                </c:pt>
                <c:pt idx="5">
                  <c:v>48.598599999999998</c:v>
                </c:pt>
                <c:pt idx="6">
                  <c:v>41.542400000000001</c:v>
                </c:pt>
                <c:pt idx="7">
                  <c:v>23.25</c:v>
                </c:pt>
                <c:pt idx="8">
                  <c:v>36.68</c:v>
                </c:pt>
                <c:pt idx="9">
                  <c:v>30.59</c:v>
                </c:pt>
                <c:pt idx="10">
                  <c:v>34.619999999999997</c:v>
                </c:pt>
                <c:pt idx="11">
                  <c:v>27.5</c:v>
                </c:pt>
                <c:pt idx="12">
                  <c:v>25.92</c:v>
                </c:pt>
                <c:pt idx="13">
                  <c:v>32.71</c:v>
                </c:pt>
                <c:pt idx="14">
                  <c:v>23.83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EBC-4B67-8C28-CFDBB98A1C05}"/>
            </c:ext>
          </c:extLst>
        </c:ser>
        <c:ser>
          <c:idx val="7"/>
          <c:order val="7"/>
          <c:tx>
            <c:strRef>
              <c:f>Race!$I$35</c:f>
              <c:strCache>
                <c:ptCount val="1"/>
                <c:pt idx="0">
                  <c:v>Other</c:v>
                </c:pt>
              </c:strCache>
            </c:strRef>
          </c:tx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60000"/>
                </a:schemeClr>
              </a:solidFill>
              <a:ln w="9525">
                <a:solidFill>
                  <a:schemeClr val="accent2">
                    <a:lumMod val="60000"/>
                  </a:schemeClr>
                </a:solidFill>
              </a:ln>
              <a:effectLst/>
            </c:spPr>
          </c:marker>
          <c:cat>
            <c:numRef>
              <c:f>Race!$A$36:$A$50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Race!$I$36:$I$50</c:f>
              <c:numCache>
                <c:formatCode>0.00</c:formatCode>
                <c:ptCount val="15"/>
                <c:pt idx="0">
                  <c:v>28.9878</c:v>
                </c:pt>
                <c:pt idx="1">
                  <c:v>31.5717</c:v>
                </c:pt>
                <c:pt idx="2">
                  <c:v>30.532599999999999</c:v>
                </c:pt>
                <c:pt idx="3">
                  <c:v>34.578699999999998</c:v>
                </c:pt>
                <c:pt idx="4">
                  <c:v>41.2209</c:v>
                </c:pt>
                <c:pt idx="5">
                  <c:v>40.494300000000003</c:v>
                </c:pt>
                <c:pt idx="6">
                  <c:v>39.721299999999999</c:v>
                </c:pt>
                <c:pt idx="7">
                  <c:v>31.88</c:v>
                </c:pt>
                <c:pt idx="8">
                  <c:v>28</c:v>
                </c:pt>
                <c:pt idx="9">
                  <c:v>31.69</c:v>
                </c:pt>
                <c:pt idx="10">
                  <c:v>31.75</c:v>
                </c:pt>
                <c:pt idx="11">
                  <c:v>23.85</c:v>
                </c:pt>
                <c:pt idx="12">
                  <c:v>34.840000000000003</c:v>
                </c:pt>
                <c:pt idx="13">
                  <c:v>33.11</c:v>
                </c:pt>
                <c:pt idx="14">
                  <c:v>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DEBC-4B67-8C28-CFDBB98A1C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87927855"/>
        <c:axId val="287928271"/>
      </c:lineChart>
      <c:catAx>
        <c:axId val="28792785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87928271"/>
        <c:crosses val="autoZero"/>
        <c:auto val="1"/>
        <c:lblAlgn val="ctr"/>
        <c:lblOffset val="100"/>
        <c:noMultiLvlLbl val="0"/>
      </c:catAx>
      <c:valAx>
        <c:axId val="287928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8792785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5994225721784777E-2"/>
          <c:y val="0.65226902887139104"/>
          <c:w val="0.9540057742782152"/>
          <c:h val="0.3310643044619422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3"/>
          <c:order val="2"/>
          <c:tx>
            <c:strRef>
              <c:f>'CKD+ICDbyStage'!$B$5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'CKD+ICDbyStage'!$C$5:$Q$5</c:f>
              <c:numCache>
                <c:formatCode>General</c:formatCode>
                <c:ptCount val="15"/>
                <c:pt idx="0">
                  <c:v>28.41</c:v>
                </c:pt>
                <c:pt idx="1">
                  <c:v>29.99</c:v>
                </c:pt>
                <c:pt idx="2">
                  <c:v>33.15</c:v>
                </c:pt>
                <c:pt idx="3">
                  <c:v>33.92</c:v>
                </c:pt>
                <c:pt idx="4">
                  <c:v>34.630000000000003</c:v>
                </c:pt>
                <c:pt idx="5">
                  <c:v>34.950000000000003</c:v>
                </c:pt>
                <c:pt idx="6">
                  <c:v>35.869999999999997</c:v>
                </c:pt>
                <c:pt idx="7">
                  <c:v>28.44</c:v>
                </c:pt>
                <c:pt idx="8">
                  <c:v>28.65</c:v>
                </c:pt>
                <c:pt idx="9">
                  <c:v>28.9</c:v>
                </c:pt>
                <c:pt idx="10">
                  <c:v>28.68</c:v>
                </c:pt>
                <c:pt idx="11">
                  <c:v>26.6</c:v>
                </c:pt>
                <c:pt idx="12">
                  <c:v>32.770000000000003</c:v>
                </c:pt>
                <c:pt idx="13">
                  <c:v>32.119999999999997</c:v>
                </c:pt>
                <c:pt idx="14">
                  <c:v>31.96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AF-404F-B120-39600E387D48}"/>
            </c:ext>
          </c:extLst>
        </c:ser>
        <c:ser>
          <c:idx val="6"/>
          <c:order val="5"/>
          <c:tx>
            <c:strRef>
              <c:f>'CKD+ICDbyStage'!$B$8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rgbClr val="F1975A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F1975A"/>
              </a:solidFill>
              <a:ln w="9525">
                <a:solidFill>
                  <a:srgbClr val="F1975A"/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'CKD+ICDbyStage'!$C$8:$Q$8</c:f>
              <c:numCache>
                <c:formatCode>General</c:formatCode>
                <c:ptCount val="15"/>
                <c:pt idx="0">
                  <c:v>81.16</c:v>
                </c:pt>
                <c:pt idx="1">
                  <c:v>82.94</c:v>
                </c:pt>
                <c:pt idx="2">
                  <c:v>81.84</c:v>
                </c:pt>
                <c:pt idx="3">
                  <c:v>80.12</c:v>
                </c:pt>
                <c:pt idx="4">
                  <c:v>81.400000000000006</c:v>
                </c:pt>
                <c:pt idx="5">
                  <c:v>81.22</c:v>
                </c:pt>
                <c:pt idx="6">
                  <c:v>83.2</c:v>
                </c:pt>
                <c:pt idx="7">
                  <c:v>76.56</c:v>
                </c:pt>
                <c:pt idx="8">
                  <c:v>77.83</c:v>
                </c:pt>
                <c:pt idx="9">
                  <c:v>77.64</c:v>
                </c:pt>
                <c:pt idx="10">
                  <c:v>78.11</c:v>
                </c:pt>
                <c:pt idx="11">
                  <c:v>75.209999999999994</c:v>
                </c:pt>
                <c:pt idx="12">
                  <c:v>78.33</c:v>
                </c:pt>
                <c:pt idx="13">
                  <c:v>76.81</c:v>
                </c:pt>
                <c:pt idx="14">
                  <c:v>75.290000000000006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AF-404F-B120-39600E387D48}"/>
            </c:ext>
          </c:extLst>
        </c:ser>
        <c:ser>
          <c:idx val="9"/>
          <c:order val="8"/>
          <c:tx>
            <c:strRef>
              <c:f>'CKD+ICDbyStage'!$B$11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rgbClr val="B7B7B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B7B7B7"/>
              </a:solidFill>
              <a:ln w="9525">
                <a:solidFill>
                  <a:srgbClr val="B7B7B7"/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'CKD+ICDbyStage'!$C$11:$Q$11</c:f>
              <c:numCache>
                <c:formatCode>General</c:formatCode>
                <c:ptCount val="15"/>
                <c:pt idx="0">
                  <c:v>90.31</c:v>
                </c:pt>
                <c:pt idx="1">
                  <c:v>90.45</c:v>
                </c:pt>
                <c:pt idx="2">
                  <c:v>91.29</c:v>
                </c:pt>
                <c:pt idx="3">
                  <c:v>91.01</c:v>
                </c:pt>
                <c:pt idx="4">
                  <c:v>92</c:v>
                </c:pt>
                <c:pt idx="5">
                  <c:v>93.22</c:v>
                </c:pt>
                <c:pt idx="6">
                  <c:v>89.72</c:v>
                </c:pt>
                <c:pt idx="7">
                  <c:v>78.45</c:v>
                </c:pt>
                <c:pt idx="8">
                  <c:v>82.09</c:v>
                </c:pt>
                <c:pt idx="9">
                  <c:v>80.599999999999994</c:v>
                </c:pt>
                <c:pt idx="10">
                  <c:v>81.48</c:v>
                </c:pt>
                <c:pt idx="11">
                  <c:v>77.430000000000007</c:v>
                </c:pt>
                <c:pt idx="12">
                  <c:v>74.86</c:v>
                </c:pt>
                <c:pt idx="13">
                  <c:v>73.790000000000006</c:v>
                </c:pt>
                <c:pt idx="14">
                  <c:v>76.180000000000007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2AF-404F-B120-39600E387D48}"/>
            </c:ext>
          </c:extLst>
        </c:ser>
        <c:ser>
          <c:idx val="0"/>
          <c:order val="14"/>
          <c:tx>
            <c:strRef>
              <c:f>'CKD+ICDbyStage'!$B$2</c:f>
              <c:strCache>
                <c:ptCount val="1"/>
                <c:pt idx="0">
                  <c:v>Overall</c:v>
                </c:pt>
              </c:strCache>
              <c:extLst xmlns:c15="http://schemas.microsoft.com/office/drawing/2012/chart"/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  <c:extLst xmlns:c15="http://schemas.microsoft.com/office/drawing/2012/chart"/>
            </c:numRef>
          </c:cat>
          <c:val>
            <c:numRef>
              <c:f>'CKD+ICDbyStage'!$C$2:$Q$2</c:f>
              <c:numCache>
                <c:formatCode>General</c:formatCode>
                <c:ptCount val="15"/>
                <c:pt idx="0">
                  <c:v>31.92</c:v>
                </c:pt>
                <c:pt idx="1">
                  <c:v>33.619999999999997</c:v>
                </c:pt>
                <c:pt idx="2">
                  <c:v>36.68</c:v>
                </c:pt>
                <c:pt idx="3">
                  <c:v>37.28</c:v>
                </c:pt>
                <c:pt idx="4">
                  <c:v>38.19</c:v>
                </c:pt>
                <c:pt idx="5">
                  <c:v>38.57</c:v>
                </c:pt>
                <c:pt idx="6">
                  <c:v>39.729999999999997</c:v>
                </c:pt>
                <c:pt idx="7">
                  <c:v>31.7</c:v>
                </c:pt>
                <c:pt idx="8">
                  <c:v>31.95</c:v>
                </c:pt>
                <c:pt idx="9">
                  <c:v>32.22</c:v>
                </c:pt>
                <c:pt idx="10">
                  <c:v>32.020000000000003</c:v>
                </c:pt>
                <c:pt idx="11">
                  <c:v>30.05</c:v>
                </c:pt>
                <c:pt idx="12">
                  <c:v>36.04</c:v>
                </c:pt>
                <c:pt idx="13">
                  <c:v>35.340000000000003</c:v>
                </c:pt>
                <c:pt idx="14">
                  <c:v>35.15</c:v>
                </c:pt>
              </c:numCache>
              <c:extLst xmlns:c15="http://schemas.microsoft.com/office/drawing/2012/chart"/>
            </c:numRef>
          </c:val>
          <c:smooth val="0"/>
          <c:extLst xmlns:c15="http://schemas.microsoft.com/office/drawing/2012/chart">
            <c:ext xmlns:c16="http://schemas.microsoft.com/office/drawing/2014/chart" uri="{C3380CC4-5D6E-409C-BE32-E72D297353CC}">
              <c16:uniqueId val="{00000000-32AF-404F-B120-39600E387D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40548959"/>
        <c:axId val="1440549919"/>
        <c:extLst>
          <c:ext xmlns:c15="http://schemas.microsoft.com/office/drawing/2012/chart" uri="{02D57815-91ED-43cb-92C2-25804820EDAC}">
            <c15:filteredLineSeries>
              <c15:ser>
                <c:idx val="1"/>
                <c:order val="0"/>
                <c:tx>
                  <c:strRef>
                    <c:extLst>
                      <c:ext uri="{02D57815-91ED-43cb-92C2-25804820EDAC}">
                        <c15:formulaRef>
                          <c15:sqref>'CKD+ICDbyStage'!$B$3</c15:sqref>
                        </c15:formulaRef>
                      </c:ext>
                    </c:extLst>
                    <c:strCache>
                      <c:ptCount val="1"/>
                      <c:pt idx="0">
                        <c:v>Overall</c:v>
                      </c:pt>
                    </c:strCache>
                  </c:strRef>
                </c:tx>
                <c:spPr>
                  <a:ln w="28575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'CKD+ICDbyStage'!$C$3:$Q$3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18447</c:v>
                      </c:pt>
                      <c:pt idx="1">
                        <c:v>18713</c:v>
                      </c:pt>
                      <c:pt idx="2">
                        <c:v>19036</c:v>
                      </c:pt>
                      <c:pt idx="3">
                        <c:v>19740</c:v>
                      </c:pt>
                      <c:pt idx="4">
                        <c:v>19145</c:v>
                      </c:pt>
                      <c:pt idx="5">
                        <c:v>18947</c:v>
                      </c:pt>
                      <c:pt idx="6">
                        <c:v>18952</c:v>
                      </c:pt>
                      <c:pt idx="7">
                        <c:v>15875</c:v>
                      </c:pt>
                      <c:pt idx="8">
                        <c:v>17097</c:v>
                      </c:pt>
                      <c:pt idx="9">
                        <c:v>16220</c:v>
                      </c:pt>
                      <c:pt idx="10">
                        <c:v>16064</c:v>
                      </c:pt>
                      <c:pt idx="11">
                        <c:v>14683</c:v>
                      </c:pt>
                      <c:pt idx="12">
                        <c:v>17271</c:v>
                      </c:pt>
                      <c:pt idx="13">
                        <c:v>15748</c:v>
                      </c:pt>
                      <c:pt idx="14">
                        <c:v>14444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32AF-404F-B120-39600E387D48}"/>
                  </c:ext>
                </c:extLst>
              </c15:ser>
            </c15:filteredLineSeries>
            <c15:filteredLineSeries>
              <c15:ser>
                <c:idx val="2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'CKD+ICDbyStage'!$B$4</c15:sqref>
                        </c15:formulaRef>
                      </c:ext>
                    </c:extLst>
                    <c:strCache>
                      <c:ptCount val="1"/>
                      <c:pt idx="0">
                        <c:v>Overall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'CKD+ICDbyStage'!$C$4:$Q$4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57797</c:v>
                      </c:pt>
                      <c:pt idx="1">
                        <c:v>55667</c:v>
                      </c:pt>
                      <c:pt idx="2">
                        <c:v>51900</c:v>
                      </c:pt>
                      <c:pt idx="3">
                        <c:v>52948</c:v>
                      </c:pt>
                      <c:pt idx="4">
                        <c:v>50135</c:v>
                      </c:pt>
                      <c:pt idx="5">
                        <c:v>49129</c:v>
                      </c:pt>
                      <c:pt idx="6">
                        <c:v>47698</c:v>
                      </c:pt>
                      <c:pt idx="7">
                        <c:v>50074</c:v>
                      </c:pt>
                      <c:pt idx="8">
                        <c:v>53518</c:v>
                      </c:pt>
                      <c:pt idx="9">
                        <c:v>50341</c:v>
                      </c:pt>
                      <c:pt idx="10">
                        <c:v>50173</c:v>
                      </c:pt>
                      <c:pt idx="11">
                        <c:v>48864</c:v>
                      </c:pt>
                      <c:pt idx="12">
                        <c:v>47920</c:v>
                      </c:pt>
                      <c:pt idx="13">
                        <c:v>44558</c:v>
                      </c:pt>
                      <c:pt idx="14">
                        <c:v>41097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5-32AF-404F-B120-39600E387D48}"/>
                  </c:ext>
                </c:extLst>
              </c15:ser>
            </c15:filteredLineSeries>
            <c15:filteredLineSeries>
              <c15:ser>
                <c:idx val="4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'CKD+ICDbyStage'!$B$6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'CKD+ICDbyStage'!$C$6:$Q$6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15364</c:v>
                      </c:pt>
                      <c:pt idx="1">
                        <c:v>15588</c:v>
                      </c:pt>
                      <c:pt idx="2">
                        <c:v>16016</c:v>
                      </c:pt>
                      <c:pt idx="3">
                        <c:v>16722</c:v>
                      </c:pt>
                      <c:pt idx="4">
                        <c:v>16112</c:v>
                      </c:pt>
                      <c:pt idx="5">
                        <c:v>15915</c:v>
                      </c:pt>
                      <c:pt idx="6">
                        <c:v>15764</c:v>
                      </c:pt>
                      <c:pt idx="7">
                        <c:v>13278</c:v>
                      </c:pt>
                      <c:pt idx="8">
                        <c:v>14316</c:v>
                      </c:pt>
                      <c:pt idx="9">
                        <c:v>13566</c:v>
                      </c:pt>
                      <c:pt idx="10">
                        <c:v>13426</c:v>
                      </c:pt>
                      <c:pt idx="11">
                        <c:v>12079</c:v>
                      </c:pt>
                      <c:pt idx="12">
                        <c:v>14561</c:v>
                      </c:pt>
                      <c:pt idx="13">
                        <c:v>13271</c:v>
                      </c:pt>
                      <c:pt idx="14">
                        <c:v>12169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6-32AF-404F-B120-39600E387D48}"/>
                  </c:ext>
                </c:extLst>
              </c15:ser>
            </c15:filteredLineSeries>
            <c15:filteredLineSeries>
              <c15:ser>
                <c:idx val="5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'CKD+ICDbyStage'!$B$7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'CKD+ICDbyStage'!$C$7:$Q$7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54088</c:v>
                      </c:pt>
                      <c:pt idx="1">
                        <c:v>51972</c:v>
                      </c:pt>
                      <c:pt idx="2">
                        <c:v>48308</c:v>
                      </c:pt>
                      <c:pt idx="3">
                        <c:v>49299</c:v>
                      </c:pt>
                      <c:pt idx="4">
                        <c:v>46528</c:v>
                      </c:pt>
                      <c:pt idx="5">
                        <c:v>45540</c:v>
                      </c:pt>
                      <c:pt idx="6">
                        <c:v>43944</c:v>
                      </c:pt>
                      <c:pt idx="7">
                        <c:v>46695</c:v>
                      </c:pt>
                      <c:pt idx="8">
                        <c:v>49974</c:v>
                      </c:pt>
                      <c:pt idx="9">
                        <c:v>46943</c:v>
                      </c:pt>
                      <c:pt idx="10">
                        <c:v>46818</c:v>
                      </c:pt>
                      <c:pt idx="11">
                        <c:v>45417</c:v>
                      </c:pt>
                      <c:pt idx="12">
                        <c:v>44436</c:v>
                      </c:pt>
                      <c:pt idx="13">
                        <c:v>41313</c:v>
                      </c:pt>
                      <c:pt idx="14">
                        <c:v>38081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32AF-404F-B120-39600E387D48}"/>
                  </c:ext>
                </c:extLst>
              </c15:ser>
            </c15:filteredLineSeries>
            <c15:filteredLine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'CKD+ICDbyStage'!$B$9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'CKD+ICDbyStage'!$C$9:$Q$9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2365</c:v>
                      </c:pt>
                      <c:pt idx="1">
                        <c:v>2396</c:v>
                      </c:pt>
                      <c:pt idx="2">
                        <c:v>2244</c:v>
                      </c:pt>
                      <c:pt idx="3">
                        <c:v>2228</c:v>
                      </c:pt>
                      <c:pt idx="4">
                        <c:v>2193</c:v>
                      </c:pt>
                      <c:pt idx="5">
                        <c:v>2124</c:v>
                      </c:pt>
                      <c:pt idx="6">
                        <c:v>2298</c:v>
                      </c:pt>
                      <c:pt idx="7">
                        <c:v>2182</c:v>
                      </c:pt>
                      <c:pt idx="8">
                        <c:v>2341</c:v>
                      </c:pt>
                      <c:pt idx="9">
                        <c:v>2226</c:v>
                      </c:pt>
                      <c:pt idx="10">
                        <c:v>2220</c:v>
                      </c:pt>
                      <c:pt idx="11">
                        <c:v>2206</c:v>
                      </c:pt>
                      <c:pt idx="12">
                        <c:v>2299</c:v>
                      </c:pt>
                      <c:pt idx="13">
                        <c:v>2097</c:v>
                      </c:pt>
                      <c:pt idx="14">
                        <c:v>1920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32AF-404F-B120-39600E387D48}"/>
                  </c:ext>
                </c:extLst>
              </c15:ser>
            </c15:filteredLineSeries>
            <c15:filteredLine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'CKD+ICDbyStage'!$B$10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'CKD+ICDbyStage'!$C$10:$Q$10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2914</c:v>
                      </c:pt>
                      <c:pt idx="1">
                        <c:v>2889</c:v>
                      </c:pt>
                      <c:pt idx="2">
                        <c:v>2742</c:v>
                      </c:pt>
                      <c:pt idx="3">
                        <c:v>2781</c:v>
                      </c:pt>
                      <c:pt idx="4">
                        <c:v>2694</c:v>
                      </c:pt>
                      <c:pt idx="5">
                        <c:v>2615</c:v>
                      </c:pt>
                      <c:pt idx="6">
                        <c:v>2762</c:v>
                      </c:pt>
                      <c:pt idx="7">
                        <c:v>2850</c:v>
                      </c:pt>
                      <c:pt idx="8">
                        <c:v>3008</c:v>
                      </c:pt>
                      <c:pt idx="9">
                        <c:v>2867</c:v>
                      </c:pt>
                      <c:pt idx="10">
                        <c:v>2842</c:v>
                      </c:pt>
                      <c:pt idx="11">
                        <c:v>2933</c:v>
                      </c:pt>
                      <c:pt idx="12">
                        <c:v>2935</c:v>
                      </c:pt>
                      <c:pt idx="13">
                        <c:v>2730</c:v>
                      </c:pt>
                      <c:pt idx="14">
                        <c:v>2550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32AF-404F-B120-39600E387D48}"/>
                  </c:ext>
                </c:extLst>
              </c15:ser>
            </c15:filteredLineSeries>
            <c15:filteredLineSeries>
              <c15:ser>
                <c:idx val="10"/>
                <c:order val="9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'CKD+ICDbyStage'!$B$12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5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'CKD+ICDbyStage'!$C$12:$Q$12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718</c:v>
                      </c:pt>
                      <c:pt idx="1">
                        <c:v>729</c:v>
                      </c:pt>
                      <c:pt idx="2">
                        <c:v>776</c:v>
                      </c:pt>
                      <c:pt idx="3">
                        <c:v>790</c:v>
                      </c:pt>
                      <c:pt idx="4">
                        <c:v>840</c:v>
                      </c:pt>
                      <c:pt idx="5">
                        <c:v>908</c:v>
                      </c:pt>
                      <c:pt idx="6">
                        <c:v>890</c:v>
                      </c:pt>
                      <c:pt idx="7">
                        <c:v>415</c:v>
                      </c:pt>
                      <c:pt idx="8">
                        <c:v>440</c:v>
                      </c:pt>
                      <c:pt idx="9">
                        <c:v>428</c:v>
                      </c:pt>
                      <c:pt idx="10">
                        <c:v>418</c:v>
                      </c:pt>
                      <c:pt idx="11">
                        <c:v>398</c:v>
                      </c:pt>
                      <c:pt idx="12">
                        <c:v>411</c:v>
                      </c:pt>
                      <c:pt idx="13">
                        <c:v>380</c:v>
                      </c:pt>
                      <c:pt idx="14">
                        <c:v>355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32AF-404F-B120-39600E387D48}"/>
                  </c:ext>
                </c:extLst>
              </c15:ser>
            </c15:filteredLineSeries>
            <c15:filteredLineSeries>
              <c15:ser>
                <c:idx val="11"/>
                <c:order val="10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'CKD+ICDbyStage'!$B$13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6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'CKD+ICDbyStage'!$C$13:$Q$13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795</c:v>
                      </c:pt>
                      <c:pt idx="1">
                        <c:v>806</c:v>
                      </c:pt>
                      <c:pt idx="2">
                        <c:v>850</c:v>
                      </c:pt>
                      <c:pt idx="3">
                        <c:v>868</c:v>
                      </c:pt>
                      <c:pt idx="4">
                        <c:v>913</c:v>
                      </c:pt>
                      <c:pt idx="5">
                        <c:v>974</c:v>
                      </c:pt>
                      <c:pt idx="6">
                        <c:v>992</c:v>
                      </c:pt>
                      <c:pt idx="7">
                        <c:v>529</c:v>
                      </c:pt>
                      <c:pt idx="8">
                        <c:v>536</c:v>
                      </c:pt>
                      <c:pt idx="9">
                        <c:v>531</c:v>
                      </c:pt>
                      <c:pt idx="10">
                        <c:v>513</c:v>
                      </c:pt>
                      <c:pt idx="11">
                        <c:v>514</c:v>
                      </c:pt>
                      <c:pt idx="12">
                        <c:v>549</c:v>
                      </c:pt>
                      <c:pt idx="13">
                        <c:v>515</c:v>
                      </c:pt>
                      <c:pt idx="14">
                        <c:v>466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B-32AF-404F-B120-39600E387D48}"/>
                  </c:ext>
                </c:extLst>
              </c15:ser>
            </c15:filteredLineSeries>
            <c15:filteredLineSeries>
              <c15:ser>
                <c:idx val="12"/>
                <c:order val="1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'CKD+ICDbyStage'!$B$14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80000"/>
                        <a:lumOff val="2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'CKD+ICDbyStage'!$C$14:$Q$14</c15:sqref>
                        </c15:formulaRef>
                      </c:ext>
                    </c:extLst>
                    <c:numCache>
                      <c:formatCode>0.00</c:formatCode>
                      <c:ptCount val="15"/>
                      <c:pt idx="0">
                        <c:v>25.837800000000001</c:v>
                      </c:pt>
                      <c:pt idx="1">
                        <c:v>27.637899999999998</c:v>
                      </c:pt>
                      <c:pt idx="2">
                        <c:v>30.411899999999999</c:v>
                      </c:pt>
                      <c:pt idx="3">
                        <c:v>31.648299999999999</c:v>
                      </c:pt>
                      <c:pt idx="4">
                        <c:v>32.666400000000003</c:v>
                      </c:pt>
                      <c:pt idx="5">
                        <c:v>32.470599999999997</c:v>
                      </c:pt>
                      <c:pt idx="6">
                        <c:v>33.718299999999999</c:v>
                      </c:pt>
                      <c:pt idx="7">
                        <c:v>27.116099999999999</c:v>
                      </c:pt>
                      <c:pt idx="8">
                        <c:v>27.049700000000001</c:v>
                      </c:pt>
                      <c:pt idx="9">
                        <c:v>26.6007</c:v>
                      </c:pt>
                      <c:pt idx="10">
                        <c:v>25.516300000000001</c:v>
                      </c:pt>
                      <c:pt idx="11">
                        <c:v>25.446400000000001</c:v>
                      </c:pt>
                      <c:pt idx="12">
                        <c:v>29.435500000000001</c:v>
                      </c:pt>
                      <c:pt idx="13">
                        <c:v>28.896699999999999</c:v>
                      </c:pt>
                      <c:pt idx="14">
                        <c:v>28.121700000000001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32AF-404F-B120-39600E387D48}"/>
                  </c:ext>
                </c:extLst>
              </c15:ser>
            </c15:filteredLineSeries>
            <c15:filteredLineSeries>
              <c15:ser>
                <c:idx val="13"/>
                <c:order val="1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'CKD+ICDbyStage'!$B$15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80000"/>
                        <a:lumOff val="2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'CKD+ICDbyStage'!$C$15:$Q$15</c15:sqref>
                        </c15:formulaRef>
                      </c:ext>
                    </c:extLst>
                    <c:numCache>
                      <c:formatCode>0.00</c:formatCode>
                      <c:ptCount val="15"/>
                      <c:pt idx="0">
                        <c:v>85.333500000000001</c:v>
                      </c:pt>
                      <c:pt idx="1">
                        <c:v>89.104399999999998</c:v>
                      </c:pt>
                      <c:pt idx="2">
                        <c:v>83.257599999999996</c:v>
                      </c:pt>
                      <c:pt idx="3">
                        <c:v>79.908299999999997</c:v>
                      </c:pt>
                      <c:pt idx="4">
                        <c:v>82.521799999999999</c:v>
                      </c:pt>
                      <c:pt idx="5">
                        <c:v>88.373000000000005</c:v>
                      </c:pt>
                      <c:pt idx="6">
                        <c:v>87.177199999999999</c:v>
                      </c:pt>
                      <c:pt idx="7">
                        <c:v>77.285899999999998</c:v>
                      </c:pt>
                      <c:pt idx="8">
                        <c:v>81.022999999999996</c:v>
                      </c:pt>
                      <c:pt idx="9">
                        <c:v>80.665499999999994</c:v>
                      </c:pt>
                      <c:pt idx="10">
                        <c:v>78.570599999999999</c:v>
                      </c:pt>
                      <c:pt idx="11">
                        <c:v>78.083100000000002</c:v>
                      </c:pt>
                      <c:pt idx="12">
                        <c:v>75.752700000000004</c:v>
                      </c:pt>
                      <c:pt idx="13">
                        <c:v>78.800799999999995</c:v>
                      </c:pt>
                      <c:pt idx="14">
                        <c:v>79.137900000000002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32AF-404F-B120-39600E387D48}"/>
                  </c:ext>
                </c:extLst>
              </c15:ser>
            </c15:filteredLineSeries>
            <c15:filteredLineSeries>
              <c15:ser>
                <c:idx val="14"/>
                <c:order val="1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'CKD+ICDbyStage'!$B$16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80000"/>
                        <a:lumOff val="2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'CKD+ICDbyStage'!$C$16:$Q$16</c15:sqref>
                        </c15:formulaRef>
                      </c:ext>
                    </c:extLst>
                    <c:numCache>
                      <c:formatCode>0.00</c:formatCode>
                      <c:ptCount val="15"/>
                      <c:pt idx="0">
                        <c:v>93.151499999999999</c:v>
                      </c:pt>
                      <c:pt idx="1">
                        <c:v>89.966200000000001</c:v>
                      </c:pt>
                      <c:pt idx="2">
                        <c:v>90.596100000000007</c:v>
                      </c:pt>
                      <c:pt idx="3">
                        <c:v>90.263199999999998</c:v>
                      </c:pt>
                      <c:pt idx="4">
                        <c:v>91.4255</c:v>
                      </c:pt>
                      <c:pt idx="5">
                        <c:v>92.674800000000005</c:v>
                      </c:pt>
                      <c:pt idx="6">
                        <c:v>88.237300000000005</c:v>
                      </c:pt>
                      <c:pt idx="7">
                        <c:v>70.920199999999994</c:v>
                      </c:pt>
                      <c:pt idx="8">
                        <c:v>79.796099999999996</c:v>
                      </c:pt>
                      <c:pt idx="9">
                        <c:v>76.728800000000007</c:v>
                      </c:pt>
                      <c:pt idx="10">
                        <c:v>78.743799999999993</c:v>
                      </c:pt>
                      <c:pt idx="11">
                        <c:v>75.727900000000005</c:v>
                      </c:pt>
                      <c:pt idx="12">
                        <c:v>79.851500000000001</c:v>
                      </c:pt>
                      <c:pt idx="13">
                        <c:v>82.426599999999993</c:v>
                      </c:pt>
                      <c:pt idx="14">
                        <c:v>78.137799999999999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E-32AF-404F-B120-39600E387D48}"/>
                  </c:ext>
                </c:extLst>
              </c15:ser>
            </c15:filteredLineSeries>
          </c:ext>
        </c:extLst>
      </c:lineChart>
      <c:catAx>
        <c:axId val="14405489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40549919"/>
        <c:crosses val="autoZero"/>
        <c:auto val="1"/>
        <c:lblAlgn val="ctr"/>
        <c:lblOffset val="100"/>
        <c:tickLblSkip val="2"/>
        <c:noMultiLvlLbl val="0"/>
      </c:catAx>
      <c:valAx>
        <c:axId val="1440549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400" b="0" i="0" baseline="0" dirty="0">
                    <a:effectLst/>
                  </a:rPr>
                  <a:t>Adults with CKD Stages 3-5 and ICD-9 or 10 code (%)</a:t>
                </a:r>
                <a:endParaRPr lang="en-US" sz="2400" dirty="0"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4054895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2"/>
          <c:order val="12"/>
          <c:tx>
            <c:strRef>
              <c:f>'CKD+ICDbyStage'!$B$14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'CKD+ICDbyStage'!$C$14:$Q$14</c:f>
              <c:numCache>
                <c:formatCode>0.00</c:formatCode>
                <c:ptCount val="15"/>
                <c:pt idx="0">
                  <c:v>25.837800000000001</c:v>
                </c:pt>
                <c:pt idx="1">
                  <c:v>27.637899999999998</c:v>
                </c:pt>
                <c:pt idx="2">
                  <c:v>30.411899999999999</c:v>
                </c:pt>
                <c:pt idx="3">
                  <c:v>31.648299999999999</c:v>
                </c:pt>
                <c:pt idx="4">
                  <c:v>32.666400000000003</c:v>
                </c:pt>
                <c:pt idx="5">
                  <c:v>32.470599999999997</c:v>
                </c:pt>
                <c:pt idx="6">
                  <c:v>33.718299999999999</c:v>
                </c:pt>
                <c:pt idx="7">
                  <c:v>27.116099999999999</c:v>
                </c:pt>
                <c:pt idx="8">
                  <c:v>27.049700000000001</c:v>
                </c:pt>
                <c:pt idx="9">
                  <c:v>26.6007</c:v>
                </c:pt>
                <c:pt idx="10">
                  <c:v>25.516300000000001</c:v>
                </c:pt>
                <c:pt idx="11">
                  <c:v>25.446400000000001</c:v>
                </c:pt>
                <c:pt idx="12">
                  <c:v>29.435500000000001</c:v>
                </c:pt>
                <c:pt idx="13">
                  <c:v>28.896699999999999</c:v>
                </c:pt>
                <c:pt idx="14">
                  <c:v>28.121700000000001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441-4359-97DF-2F4C53587EEB}"/>
            </c:ext>
          </c:extLst>
        </c:ser>
        <c:ser>
          <c:idx val="13"/>
          <c:order val="13"/>
          <c:tx>
            <c:strRef>
              <c:f>'CKD+ICDbyStage'!$B$15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rgbClr val="F1975A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>
                  <a:lumMod val="80000"/>
                  <a:lumOff val="20000"/>
                </a:schemeClr>
              </a:solidFill>
              <a:ln w="9525">
                <a:solidFill>
                  <a:schemeClr val="accent2">
                    <a:lumMod val="80000"/>
                    <a:lumOff val="20000"/>
                  </a:schemeClr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'CKD+ICDbyStage'!$C$15:$Q$15</c:f>
              <c:numCache>
                <c:formatCode>0.00</c:formatCode>
                <c:ptCount val="15"/>
                <c:pt idx="0">
                  <c:v>85.333500000000001</c:v>
                </c:pt>
                <c:pt idx="1">
                  <c:v>89.104399999999998</c:v>
                </c:pt>
                <c:pt idx="2">
                  <c:v>83.257599999999996</c:v>
                </c:pt>
                <c:pt idx="3">
                  <c:v>79.908299999999997</c:v>
                </c:pt>
                <c:pt idx="4">
                  <c:v>82.521799999999999</c:v>
                </c:pt>
                <c:pt idx="5">
                  <c:v>88.373000000000005</c:v>
                </c:pt>
                <c:pt idx="6">
                  <c:v>87.177199999999999</c:v>
                </c:pt>
                <c:pt idx="7">
                  <c:v>77.285899999999998</c:v>
                </c:pt>
                <c:pt idx="8">
                  <c:v>81.022999999999996</c:v>
                </c:pt>
                <c:pt idx="9">
                  <c:v>80.665499999999994</c:v>
                </c:pt>
                <c:pt idx="10">
                  <c:v>78.570599999999999</c:v>
                </c:pt>
                <c:pt idx="11">
                  <c:v>78.083100000000002</c:v>
                </c:pt>
                <c:pt idx="12">
                  <c:v>75.752700000000004</c:v>
                </c:pt>
                <c:pt idx="13">
                  <c:v>78.800799999999995</c:v>
                </c:pt>
                <c:pt idx="14">
                  <c:v>79.137900000000002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441-4359-97DF-2F4C53587EEB}"/>
            </c:ext>
          </c:extLst>
        </c:ser>
        <c:ser>
          <c:idx val="14"/>
          <c:order val="14"/>
          <c:tx>
            <c:strRef>
              <c:f>'CKD+ICDbyStage'!$B$16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rgbClr val="B7B7B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>
                  <a:lumMod val="80000"/>
                  <a:lumOff val="20000"/>
                </a:schemeClr>
              </a:solidFill>
              <a:ln w="9525">
                <a:solidFill>
                  <a:schemeClr val="accent3">
                    <a:lumMod val="80000"/>
                    <a:lumOff val="20000"/>
                  </a:schemeClr>
                </a:solidFill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'CKD+ICDbyStage'!$C$16:$Q$16</c:f>
              <c:numCache>
                <c:formatCode>0.00</c:formatCode>
                <c:ptCount val="15"/>
                <c:pt idx="0">
                  <c:v>93.151499999999999</c:v>
                </c:pt>
                <c:pt idx="1">
                  <c:v>89.966200000000001</c:v>
                </c:pt>
                <c:pt idx="2">
                  <c:v>90.596100000000007</c:v>
                </c:pt>
                <c:pt idx="3">
                  <c:v>90.263199999999998</c:v>
                </c:pt>
                <c:pt idx="4">
                  <c:v>91.4255</c:v>
                </c:pt>
                <c:pt idx="5">
                  <c:v>92.674800000000005</c:v>
                </c:pt>
                <c:pt idx="6">
                  <c:v>88.237300000000005</c:v>
                </c:pt>
                <c:pt idx="7">
                  <c:v>70.920199999999994</c:v>
                </c:pt>
                <c:pt idx="8">
                  <c:v>79.796099999999996</c:v>
                </c:pt>
                <c:pt idx="9">
                  <c:v>76.728800000000007</c:v>
                </c:pt>
                <c:pt idx="10">
                  <c:v>78.743799999999993</c:v>
                </c:pt>
                <c:pt idx="11">
                  <c:v>75.727900000000005</c:v>
                </c:pt>
                <c:pt idx="12">
                  <c:v>79.851500000000001</c:v>
                </c:pt>
                <c:pt idx="13">
                  <c:v>82.426599999999993</c:v>
                </c:pt>
                <c:pt idx="14">
                  <c:v>78.137799999999999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41-4359-97DF-2F4C53587EEB}"/>
            </c:ext>
          </c:extLst>
        </c:ser>
        <c:ser>
          <c:idx val="15"/>
          <c:order val="15"/>
          <c:tx>
            <c:strRef>
              <c:f>'CKD+ICDbyStage'!$B$17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  <a:prstDash val="sysDash"/>
              </a:ln>
              <a:effectLst/>
            </c:spPr>
          </c:marker>
          <c:cat>
            <c:numRef>
              <c:f>'CKD+ICDbyStage'!$C$1:$Q$1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'CKD+ICDbyStage'!$C$17:$Q$17</c:f>
              <c:numCache>
                <c:formatCode>General</c:formatCode>
                <c:ptCount val="15"/>
                <c:pt idx="0">
                  <c:v>29.73</c:v>
                </c:pt>
                <c:pt idx="1">
                  <c:v>31.65</c:v>
                </c:pt>
                <c:pt idx="2">
                  <c:v>34.69</c:v>
                </c:pt>
                <c:pt idx="3">
                  <c:v>35.270000000000003</c:v>
                </c:pt>
                <c:pt idx="4">
                  <c:v>36.46</c:v>
                </c:pt>
                <c:pt idx="5">
                  <c:v>36.6</c:v>
                </c:pt>
                <c:pt idx="6">
                  <c:v>37.76</c:v>
                </c:pt>
                <c:pt idx="7">
                  <c:v>30.07</c:v>
                </c:pt>
                <c:pt idx="8">
                  <c:v>30.18</c:v>
                </c:pt>
                <c:pt idx="9">
                  <c:v>29.59</c:v>
                </c:pt>
                <c:pt idx="10">
                  <c:v>28.53</c:v>
                </c:pt>
                <c:pt idx="11">
                  <c:v>28.51</c:v>
                </c:pt>
                <c:pt idx="12">
                  <c:v>32.14</c:v>
                </c:pt>
                <c:pt idx="13">
                  <c:v>31.62</c:v>
                </c:pt>
                <c:pt idx="14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441-4359-97DF-2F4C53587E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440548959"/>
        <c:axId val="1440549919"/>
        <c:extLst>
          <c:ext xmlns:c15="http://schemas.microsoft.com/office/drawing/2012/chart" uri="{02D57815-91ED-43cb-92C2-25804820EDAC}">
            <c15:filteredLineSeries>
              <c15:ser>
                <c:idx val="0"/>
                <c:order val="0"/>
                <c:tx>
                  <c:strRef>
                    <c:extLst>
                      <c:ext uri="{02D57815-91ED-43cb-92C2-25804820EDAC}">
                        <c15:formulaRef>
                          <c15:sqref>'CKD+ICDbyStage'!$B$2</c15:sqref>
                        </c15:formulaRef>
                      </c:ext>
                    </c:extLst>
                    <c:strCache>
                      <c:ptCount val="1"/>
                      <c:pt idx="0">
                        <c:v>Overall</c:v>
                      </c:pt>
                    </c:strCache>
                  </c:strRef>
                </c:tx>
                <c:spPr>
                  <a:ln w="28575" cap="rnd">
                    <a:solidFill>
                      <a:schemeClr val="accent1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>
                      <c:ext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'CKD+ICDbyStage'!$C$2:$Q$2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31.92</c:v>
                      </c:pt>
                      <c:pt idx="1">
                        <c:v>33.619999999999997</c:v>
                      </c:pt>
                      <c:pt idx="2">
                        <c:v>36.68</c:v>
                      </c:pt>
                      <c:pt idx="3">
                        <c:v>37.28</c:v>
                      </c:pt>
                      <c:pt idx="4">
                        <c:v>38.19</c:v>
                      </c:pt>
                      <c:pt idx="5">
                        <c:v>38.57</c:v>
                      </c:pt>
                      <c:pt idx="6">
                        <c:v>39.729999999999997</c:v>
                      </c:pt>
                      <c:pt idx="7">
                        <c:v>31.7</c:v>
                      </c:pt>
                      <c:pt idx="8">
                        <c:v>31.95</c:v>
                      </c:pt>
                      <c:pt idx="9">
                        <c:v>32.22</c:v>
                      </c:pt>
                      <c:pt idx="10">
                        <c:v>32.020000000000003</c:v>
                      </c:pt>
                      <c:pt idx="11">
                        <c:v>30.05</c:v>
                      </c:pt>
                      <c:pt idx="12">
                        <c:v>36.04</c:v>
                      </c:pt>
                      <c:pt idx="13">
                        <c:v>35.340000000000003</c:v>
                      </c:pt>
                      <c:pt idx="14">
                        <c:v>35.15</c:v>
                      </c:pt>
                    </c:numCache>
                  </c:numRef>
                </c:val>
                <c:smooth val="0"/>
                <c:extLst>
                  <c:ext xmlns:c16="http://schemas.microsoft.com/office/drawing/2014/chart" uri="{C3380CC4-5D6E-409C-BE32-E72D297353CC}">
                    <c16:uniqueId val="{00000004-D441-4359-97DF-2F4C53587EEB}"/>
                  </c:ext>
                </c:extLst>
              </c15:ser>
            </c15:filteredLineSeries>
            <c15:filteredLineSeries>
              <c15:ser>
                <c:idx val="1"/>
                <c:order val="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'CKD+ICDbyStage'!$B$3</c15:sqref>
                        </c15:formulaRef>
                      </c:ext>
                    </c:extLst>
                    <c:strCache>
                      <c:ptCount val="1"/>
                      <c:pt idx="0">
                        <c:v>Overall</c:v>
                      </c:pt>
                    </c:strCache>
                  </c:strRef>
                </c:tx>
                <c:spPr>
                  <a:ln w="28575" cap="rnd">
                    <a:solidFill>
                      <a:schemeClr val="accent2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'CKD+ICDbyStage'!$C$3:$Q$3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18447</c:v>
                      </c:pt>
                      <c:pt idx="1">
                        <c:v>18713</c:v>
                      </c:pt>
                      <c:pt idx="2">
                        <c:v>19036</c:v>
                      </c:pt>
                      <c:pt idx="3">
                        <c:v>19740</c:v>
                      </c:pt>
                      <c:pt idx="4">
                        <c:v>19145</c:v>
                      </c:pt>
                      <c:pt idx="5">
                        <c:v>18947</c:v>
                      </c:pt>
                      <c:pt idx="6">
                        <c:v>18952</c:v>
                      </c:pt>
                      <c:pt idx="7">
                        <c:v>15875</c:v>
                      </c:pt>
                      <c:pt idx="8">
                        <c:v>17097</c:v>
                      </c:pt>
                      <c:pt idx="9">
                        <c:v>16220</c:v>
                      </c:pt>
                      <c:pt idx="10">
                        <c:v>16064</c:v>
                      </c:pt>
                      <c:pt idx="11">
                        <c:v>14683</c:v>
                      </c:pt>
                      <c:pt idx="12">
                        <c:v>17271</c:v>
                      </c:pt>
                      <c:pt idx="13">
                        <c:v>15748</c:v>
                      </c:pt>
                      <c:pt idx="14">
                        <c:v>14444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5-D441-4359-97DF-2F4C53587EEB}"/>
                  </c:ext>
                </c:extLst>
              </c15:ser>
            </c15:filteredLineSeries>
            <c15:filteredLineSeries>
              <c15:ser>
                <c:idx val="2"/>
                <c:order val="2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'CKD+ICDbyStage'!$B$4</c15:sqref>
                        </c15:formulaRef>
                      </c:ext>
                    </c:extLst>
                    <c:strCache>
                      <c:ptCount val="1"/>
                      <c:pt idx="0">
                        <c:v>Overall</c:v>
                      </c:pt>
                    </c:strCache>
                  </c:strRef>
                </c:tx>
                <c:spPr>
                  <a:ln w="28575" cap="rnd">
                    <a:solidFill>
                      <a:schemeClr val="accent3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'CKD+ICDbyStage'!$C$4:$Q$4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57797</c:v>
                      </c:pt>
                      <c:pt idx="1">
                        <c:v>55667</c:v>
                      </c:pt>
                      <c:pt idx="2">
                        <c:v>51900</c:v>
                      </c:pt>
                      <c:pt idx="3">
                        <c:v>52948</c:v>
                      </c:pt>
                      <c:pt idx="4">
                        <c:v>50135</c:v>
                      </c:pt>
                      <c:pt idx="5">
                        <c:v>49129</c:v>
                      </c:pt>
                      <c:pt idx="6">
                        <c:v>47698</c:v>
                      </c:pt>
                      <c:pt idx="7">
                        <c:v>50074</c:v>
                      </c:pt>
                      <c:pt idx="8">
                        <c:v>53518</c:v>
                      </c:pt>
                      <c:pt idx="9">
                        <c:v>50341</c:v>
                      </c:pt>
                      <c:pt idx="10">
                        <c:v>50173</c:v>
                      </c:pt>
                      <c:pt idx="11">
                        <c:v>48864</c:v>
                      </c:pt>
                      <c:pt idx="12">
                        <c:v>47920</c:v>
                      </c:pt>
                      <c:pt idx="13">
                        <c:v>44558</c:v>
                      </c:pt>
                      <c:pt idx="14">
                        <c:v>41097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6-D441-4359-97DF-2F4C53587EEB}"/>
                  </c:ext>
                </c:extLst>
              </c15:ser>
            </c15:filteredLineSeries>
            <c15:filteredLineSeries>
              <c15:ser>
                <c:idx val="3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'CKD+ICDbyStage'!$B$5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4"/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4"/>
                    </a:solidFill>
                    <a:ln w="9525">
                      <a:solidFill>
                        <a:schemeClr val="accent4"/>
                      </a:solidFill>
                    </a:ln>
                    <a:effectLst/>
                  </c:spPr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'CKD+ICDbyStage'!$C$5:$Q$5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28.41</c:v>
                      </c:pt>
                      <c:pt idx="1">
                        <c:v>29.99</c:v>
                      </c:pt>
                      <c:pt idx="2">
                        <c:v>33.15</c:v>
                      </c:pt>
                      <c:pt idx="3">
                        <c:v>33.92</c:v>
                      </c:pt>
                      <c:pt idx="4">
                        <c:v>34.630000000000003</c:v>
                      </c:pt>
                      <c:pt idx="5">
                        <c:v>34.950000000000003</c:v>
                      </c:pt>
                      <c:pt idx="6">
                        <c:v>35.869999999999997</c:v>
                      </c:pt>
                      <c:pt idx="7">
                        <c:v>28.44</c:v>
                      </c:pt>
                      <c:pt idx="8">
                        <c:v>28.65</c:v>
                      </c:pt>
                      <c:pt idx="9">
                        <c:v>28.9</c:v>
                      </c:pt>
                      <c:pt idx="10">
                        <c:v>28.68</c:v>
                      </c:pt>
                      <c:pt idx="11">
                        <c:v>26.6</c:v>
                      </c:pt>
                      <c:pt idx="12">
                        <c:v>32.770000000000003</c:v>
                      </c:pt>
                      <c:pt idx="13">
                        <c:v>32.119999999999997</c:v>
                      </c:pt>
                      <c:pt idx="14">
                        <c:v>31.96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D441-4359-97DF-2F4C53587EEB}"/>
                  </c:ext>
                </c:extLst>
              </c15:ser>
            </c15:filteredLineSeries>
            <c15:filteredLineSeries>
              <c15:ser>
                <c:idx val="4"/>
                <c:order val="4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'CKD+ICDbyStage'!$B$6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5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'CKD+ICDbyStage'!$C$6:$Q$6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15364</c:v>
                      </c:pt>
                      <c:pt idx="1">
                        <c:v>15588</c:v>
                      </c:pt>
                      <c:pt idx="2">
                        <c:v>16016</c:v>
                      </c:pt>
                      <c:pt idx="3">
                        <c:v>16722</c:v>
                      </c:pt>
                      <c:pt idx="4">
                        <c:v>16112</c:v>
                      </c:pt>
                      <c:pt idx="5">
                        <c:v>15915</c:v>
                      </c:pt>
                      <c:pt idx="6">
                        <c:v>15764</c:v>
                      </c:pt>
                      <c:pt idx="7">
                        <c:v>13278</c:v>
                      </c:pt>
                      <c:pt idx="8">
                        <c:v>14316</c:v>
                      </c:pt>
                      <c:pt idx="9">
                        <c:v>13566</c:v>
                      </c:pt>
                      <c:pt idx="10">
                        <c:v>13426</c:v>
                      </c:pt>
                      <c:pt idx="11">
                        <c:v>12079</c:v>
                      </c:pt>
                      <c:pt idx="12">
                        <c:v>14561</c:v>
                      </c:pt>
                      <c:pt idx="13">
                        <c:v>13271</c:v>
                      </c:pt>
                      <c:pt idx="14">
                        <c:v>12169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D441-4359-97DF-2F4C53587EEB}"/>
                  </c:ext>
                </c:extLst>
              </c15:ser>
            </c15:filteredLineSeries>
            <c15:filteredLineSeries>
              <c15:ser>
                <c:idx val="5"/>
                <c:order val="5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'CKD+ICDbyStage'!$B$7</c15:sqref>
                        </c15:formulaRef>
                      </c:ext>
                    </c:extLst>
                    <c:strCache>
                      <c:ptCount val="1"/>
                      <c:pt idx="0">
                        <c:v>CKD Stage 3</c:v>
                      </c:pt>
                    </c:strCache>
                  </c:strRef>
                </c:tx>
                <c:spPr>
                  <a:ln w="28575" cap="rnd">
                    <a:solidFill>
                      <a:schemeClr val="accent6"/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'CKD+ICDbyStage'!$C$7:$Q$7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54088</c:v>
                      </c:pt>
                      <c:pt idx="1">
                        <c:v>51972</c:v>
                      </c:pt>
                      <c:pt idx="2">
                        <c:v>48308</c:v>
                      </c:pt>
                      <c:pt idx="3">
                        <c:v>49299</c:v>
                      </c:pt>
                      <c:pt idx="4">
                        <c:v>46528</c:v>
                      </c:pt>
                      <c:pt idx="5">
                        <c:v>45540</c:v>
                      </c:pt>
                      <c:pt idx="6">
                        <c:v>43944</c:v>
                      </c:pt>
                      <c:pt idx="7">
                        <c:v>46695</c:v>
                      </c:pt>
                      <c:pt idx="8">
                        <c:v>49974</c:v>
                      </c:pt>
                      <c:pt idx="9">
                        <c:v>46943</c:v>
                      </c:pt>
                      <c:pt idx="10">
                        <c:v>46818</c:v>
                      </c:pt>
                      <c:pt idx="11">
                        <c:v>45417</c:v>
                      </c:pt>
                      <c:pt idx="12">
                        <c:v>44436</c:v>
                      </c:pt>
                      <c:pt idx="13">
                        <c:v>41313</c:v>
                      </c:pt>
                      <c:pt idx="14">
                        <c:v>38081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D441-4359-97DF-2F4C53587EEB}"/>
                  </c:ext>
                </c:extLst>
              </c15:ser>
            </c15:filteredLineSeries>
            <c15:filteredLineSeries>
              <c15:ser>
                <c:idx val="6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'CKD+ICDbyStage'!$B$8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1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1">
                        <a:lumMod val="60000"/>
                      </a:schemeClr>
                    </a:solidFill>
                    <a:ln w="9525">
                      <a:solidFill>
                        <a:schemeClr val="accent1">
                          <a:lumMod val="60000"/>
                        </a:schemeClr>
                      </a:solidFill>
                    </a:ln>
                    <a:effectLst/>
                  </c:spPr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'CKD+ICDbyStage'!$C$8:$Q$8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81.16</c:v>
                      </c:pt>
                      <c:pt idx="1">
                        <c:v>82.94</c:v>
                      </c:pt>
                      <c:pt idx="2">
                        <c:v>81.84</c:v>
                      </c:pt>
                      <c:pt idx="3">
                        <c:v>80.12</c:v>
                      </c:pt>
                      <c:pt idx="4">
                        <c:v>81.400000000000006</c:v>
                      </c:pt>
                      <c:pt idx="5">
                        <c:v>81.22</c:v>
                      </c:pt>
                      <c:pt idx="6">
                        <c:v>83.2</c:v>
                      </c:pt>
                      <c:pt idx="7">
                        <c:v>76.56</c:v>
                      </c:pt>
                      <c:pt idx="8">
                        <c:v>77.83</c:v>
                      </c:pt>
                      <c:pt idx="9">
                        <c:v>77.64</c:v>
                      </c:pt>
                      <c:pt idx="10">
                        <c:v>78.11</c:v>
                      </c:pt>
                      <c:pt idx="11">
                        <c:v>75.209999999999994</c:v>
                      </c:pt>
                      <c:pt idx="12">
                        <c:v>78.33</c:v>
                      </c:pt>
                      <c:pt idx="13">
                        <c:v>76.81</c:v>
                      </c:pt>
                      <c:pt idx="14">
                        <c:v>75.290000000000006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D441-4359-97DF-2F4C53587EEB}"/>
                  </c:ext>
                </c:extLst>
              </c15:ser>
            </c15:filteredLineSeries>
            <c15:filteredLineSeries>
              <c15:ser>
                <c:idx val="7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'CKD+ICDbyStage'!$B$9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2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'CKD+ICDbyStage'!$C$9:$Q$9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2365</c:v>
                      </c:pt>
                      <c:pt idx="1">
                        <c:v>2396</c:v>
                      </c:pt>
                      <c:pt idx="2">
                        <c:v>2244</c:v>
                      </c:pt>
                      <c:pt idx="3">
                        <c:v>2228</c:v>
                      </c:pt>
                      <c:pt idx="4">
                        <c:v>2193</c:v>
                      </c:pt>
                      <c:pt idx="5">
                        <c:v>2124</c:v>
                      </c:pt>
                      <c:pt idx="6">
                        <c:v>2298</c:v>
                      </c:pt>
                      <c:pt idx="7">
                        <c:v>2182</c:v>
                      </c:pt>
                      <c:pt idx="8">
                        <c:v>2341</c:v>
                      </c:pt>
                      <c:pt idx="9">
                        <c:v>2226</c:v>
                      </c:pt>
                      <c:pt idx="10">
                        <c:v>2220</c:v>
                      </c:pt>
                      <c:pt idx="11">
                        <c:v>2206</c:v>
                      </c:pt>
                      <c:pt idx="12">
                        <c:v>2299</c:v>
                      </c:pt>
                      <c:pt idx="13">
                        <c:v>2097</c:v>
                      </c:pt>
                      <c:pt idx="14">
                        <c:v>1920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B-D441-4359-97DF-2F4C53587EEB}"/>
                  </c:ext>
                </c:extLst>
              </c15:ser>
            </c15:filteredLineSeries>
            <c15:filteredLineSeries>
              <c15:ser>
                <c:idx val="8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'CKD+ICDbyStage'!$B$10</c15:sqref>
                        </c15:formulaRef>
                      </c:ext>
                    </c:extLst>
                    <c:strCache>
                      <c:ptCount val="1"/>
                      <c:pt idx="0">
                        <c:v>CKD Stage 4</c:v>
                      </c:pt>
                    </c:strCache>
                  </c:strRef>
                </c:tx>
                <c:spPr>
                  <a:ln w="28575" cap="rnd">
                    <a:solidFill>
                      <a:schemeClr val="accent3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'CKD+ICDbyStage'!$C$10:$Q$10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2914</c:v>
                      </c:pt>
                      <c:pt idx="1">
                        <c:v>2889</c:v>
                      </c:pt>
                      <c:pt idx="2">
                        <c:v>2742</c:v>
                      </c:pt>
                      <c:pt idx="3">
                        <c:v>2781</c:v>
                      </c:pt>
                      <c:pt idx="4">
                        <c:v>2694</c:v>
                      </c:pt>
                      <c:pt idx="5">
                        <c:v>2615</c:v>
                      </c:pt>
                      <c:pt idx="6">
                        <c:v>2762</c:v>
                      </c:pt>
                      <c:pt idx="7">
                        <c:v>2850</c:v>
                      </c:pt>
                      <c:pt idx="8">
                        <c:v>3008</c:v>
                      </c:pt>
                      <c:pt idx="9">
                        <c:v>2867</c:v>
                      </c:pt>
                      <c:pt idx="10">
                        <c:v>2842</c:v>
                      </c:pt>
                      <c:pt idx="11">
                        <c:v>2933</c:v>
                      </c:pt>
                      <c:pt idx="12">
                        <c:v>2935</c:v>
                      </c:pt>
                      <c:pt idx="13">
                        <c:v>2730</c:v>
                      </c:pt>
                      <c:pt idx="14">
                        <c:v>2550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C-D441-4359-97DF-2F4C53587EEB}"/>
                  </c:ext>
                </c:extLst>
              </c15:ser>
            </c15:filteredLineSeries>
            <c15:filteredLineSeries>
              <c15:ser>
                <c:idx val="9"/>
                <c:order val="9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'CKD+ICDbyStage'!$B$11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4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circle"/>
                  <c:size val="5"/>
                  <c:spPr>
                    <a:solidFill>
                      <a:schemeClr val="accent4">
                        <a:lumMod val="60000"/>
                      </a:schemeClr>
                    </a:solidFill>
                    <a:ln w="9525">
                      <a:solidFill>
                        <a:schemeClr val="accent4">
                          <a:lumMod val="60000"/>
                        </a:schemeClr>
                      </a:solidFill>
                    </a:ln>
                    <a:effectLst/>
                  </c:spPr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'CKD+ICDbyStage'!$C$11:$Q$11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90.31</c:v>
                      </c:pt>
                      <c:pt idx="1">
                        <c:v>90.45</c:v>
                      </c:pt>
                      <c:pt idx="2">
                        <c:v>91.29</c:v>
                      </c:pt>
                      <c:pt idx="3">
                        <c:v>91.01</c:v>
                      </c:pt>
                      <c:pt idx="4">
                        <c:v>92</c:v>
                      </c:pt>
                      <c:pt idx="5">
                        <c:v>93.22</c:v>
                      </c:pt>
                      <c:pt idx="6">
                        <c:v>89.72</c:v>
                      </c:pt>
                      <c:pt idx="7">
                        <c:v>78.45</c:v>
                      </c:pt>
                      <c:pt idx="8">
                        <c:v>82.09</c:v>
                      </c:pt>
                      <c:pt idx="9">
                        <c:v>80.599999999999994</c:v>
                      </c:pt>
                      <c:pt idx="10">
                        <c:v>81.48</c:v>
                      </c:pt>
                      <c:pt idx="11">
                        <c:v>77.430000000000007</c:v>
                      </c:pt>
                      <c:pt idx="12">
                        <c:v>74.86</c:v>
                      </c:pt>
                      <c:pt idx="13">
                        <c:v>73.790000000000006</c:v>
                      </c:pt>
                      <c:pt idx="14">
                        <c:v>76.180000000000007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D-D441-4359-97DF-2F4C53587EEB}"/>
                  </c:ext>
                </c:extLst>
              </c15:ser>
            </c15:filteredLineSeries>
            <c15:filteredLineSeries>
              <c15:ser>
                <c:idx val="10"/>
                <c:order val="10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'CKD+ICDbyStage'!$B$12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5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'CKD+ICDbyStage'!$C$12:$Q$12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718</c:v>
                      </c:pt>
                      <c:pt idx="1">
                        <c:v>729</c:v>
                      </c:pt>
                      <c:pt idx="2">
                        <c:v>776</c:v>
                      </c:pt>
                      <c:pt idx="3">
                        <c:v>790</c:v>
                      </c:pt>
                      <c:pt idx="4">
                        <c:v>840</c:v>
                      </c:pt>
                      <c:pt idx="5">
                        <c:v>908</c:v>
                      </c:pt>
                      <c:pt idx="6">
                        <c:v>890</c:v>
                      </c:pt>
                      <c:pt idx="7">
                        <c:v>415</c:v>
                      </c:pt>
                      <c:pt idx="8">
                        <c:v>440</c:v>
                      </c:pt>
                      <c:pt idx="9">
                        <c:v>428</c:v>
                      </c:pt>
                      <c:pt idx="10">
                        <c:v>418</c:v>
                      </c:pt>
                      <c:pt idx="11">
                        <c:v>398</c:v>
                      </c:pt>
                      <c:pt idx="12">
                        <c:v>411</c:v>
                      </c:pt>
                      <c:pt idx="13">
                        <c:v>380</c:v>
                      </c:pt>
                      <c:pt idx="14">
                        <c:v>355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E-D441-4359-97DF-2F4C53587EEB}"/>
                  </c:ext>
                </c:extLst>
              </c15:ser>
            </c15:filteredLineSeries>
            <c15:filteredLineSeries>
              <c15:ser>
                <c:idx val="11"/>
                <c:order val="11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'CKD+ICDbyStage'!$B$13</c15:sqref>
                        </c15:formulaRef>
                      </c:ext>
                    </c:extLst>
                    <c:strCache>
                      <c:ptCount val="1"/>
                      <c:pt idx="0">
                        <c:v>CKD Stage 5</c:v>
                      </c:pt>
                    </c:strCache>
                  </c:strRef>
                </c:tx>
                <c:spPr>
                  <a:ln w="28575" cap="rnd">
                    <a:solidFill>
                      <a:schemeClr val="accent6">
                        <a:lumMod val="60000"/>
                      </a:schemeClr>
                    </a:solidFill>
                    <a:round/>
                  </a:ln>
                  <a:effectLst/>
                </c:spPr>
                <c:marker>
                  <c:symbol val="none"/>
                </c:marker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'CKD+ICDbyStage'!$C$1:$Q$1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2009</c:v>
                      </c:pt>
                      <c:pt idx="1">
                        <c:v>2010</c:v>
                      </c:pt>
                      <c:pt idx="2">
                        <c:v>2011</c:v>
                      </c:pt>
                      <c:pt idx="3">
                        <c:v>2012</c:v>
                      </c:pt>
                      <c:pt idx="4">
                        <c:v>2013</c:v>
                      </c:pt>
                      <c:pt idx="5">
                        <c:v>2014</c:v>
                      </c:pt>
                      <c:pt idx="6">
                        <c:v>2015</c:v>
                      </c:pt>
                      <c:pt idx="7">
                        <c:v>2016</c:v>
                      </c:pt>
                      <c:pt idx="8">
                        <c:v>2017</c:v>
                      </c:pt>
                      <c:pt idx="9">
                        <c:v>2018</c:v>
                      </c:pt>
                      <c:pt idx="10">
                        <c:v>2019</c:v>
                      </c:pt>
                      <c:pt idx="11">
                        <c:v>2020</c:v>
                      </c:pt>
                      <c:pt idx="12">
                        <c:v>2021</c:v>
                      </c:pt>
                      <c:pt idx="13">
                        <c:v>2022</c:v>
                      </c:pt>
                      <c:pt idx="14">
                        <c:v>2023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'CKD+ICDbyStage'!$C$13:$Q$13</c15:sqref>
                        </c15:formulaRef>
                      </c:ext>
                    </c:extLst>
                    <c:numCache>
                      <c:formatCode>General</c:formatCode>
                      <c:ptCount val="15"/>
                      <c:pt idx="0">
                        <c:v>795</c:v>
                      </c:pt>
                      <c:pt idx="1">
                        <c:v>806</c:v>
                      </c:pt>
                      <c:pt idx="2">
                        <c:v>850</c:v>
                      </c:pt>
                      <c:pt idx="3">
                        <c:v>868</c:v>
                      </c:pt>
                      <c:pt idx="4">
                        <c:v>913</c:v>
                      </c:pt>
                      <c:pt idx="5">
                        <c:v>974</c:v>
                      </c:pt>
                      <c:pt idx="6">
                        <c:v>992</c:v>
                      </c:pt>
                      <c:pt idx="7">
                        <c:v>529</c:v>
                      </c:pt>
                      <c:pt idx="8">
                        <c:v>536</c:v>
                      </c:pt>
                      <c:pt idx="9">
                        <c:v>531</c:v>
                      </c:pt>
                      <c:pt idx="10">
                        <c:v>513</c:v>
                      </c:pt>
                      <c:pt idx="11">
                        <c:v>514</c:v>
                      </c:pt>
                      <c:pt idx="12">
                        <c:v>549</c:v>
                      </c:pt>
                      <c:pt idx="13">
                        <c:v>515</c:v>
                      </c:pt>
                      <c:pt idx="14">
                        <c:v>466</c:v>
                      </c:pt>
                    </c:numCache>
                  </c:numRef>
                </c:val>
                <c:smooth val="0"/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F-D441-4359-97DF-2F4C53587EEB}"/>
                  </c:ext>
                </c:extLst>
              </c15:ser>
            </c15:filteredLineSeries>
          </c:ext>
        </c:extLst>
      </c:lineChart>
      <c:catAx>
        <c:axId val="14405489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40549919"/>
        <c:crosses val="autoZero"/>
        <c:auto val="1"/>
        <c:lblAlgn val="ctr"/>
        <c:lblOffset val="100"/>
        <c:tickLblSkip val="2"/>
        <c:noMultiLvlLbl val="0"/>
      </c:catAx>
      <c:valAx>
        <c:axId val="1440549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Adults with CKD Stages 3-5 and ICD-9 or 10 code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4054895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893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810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809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68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795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986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495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29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27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07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26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38023-F60A-4B21-BA4E-BD9AA67C04C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C30FE0-8EFC-4094-A756-3613B74EBB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666" y="2158700"/>
            <a:ext cx="11542644" cy="1640266"/>
          </a:xfrm>
        </p:spPr>
        <p:txBody>
          <a:bodyPr anchor="ctr">
            <a:noAutofit/>
          </a:bodyPr>
          <a:lstStyle/>
          <a:p>
            <a:r>
              <a:rPr lang="en-US" sz="4000" b="1" dirty="0"/>
              <a:t>Service Members and Their Dependents with eGFR-based CKD Stages 3–5 who </a:t>
            </a:r>
            <a:r>
              <a:rPr lang="en-US" sz="4000" dirty="0"/>
              <a:t>a</a:t>
            </a:r>
            <a:r>
              <a:rPr lang="en-US" sz="4000" b="1" dirty="0"/>
              <a:t>lso have a Diagnosis Code for CKD in the Military Health System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CFA14B-AC93-4C17-8646-80240875DD4C}"/>
              </a:ext>
            </a:extLst>
          </p:cNvPr>
          <p:cNvSpPr txBox="1"/>
          <p:nvPr/>
        </p:nvSpPr>
        <p:spPr>
          <a:xfrm>
            <a:off x="324666" y="3879167"/>
            <a:ext cx="1154264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For MHS beneficiaries with CKD stages 3–5 based on eGFR, the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crude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prevalence of those who also had an ICD-9 diagnosis code for CKD was 25.0%–36.5% in 2009–2015. After conversion to ICD-10 in 2016, the prevalence was around 30.0%–36.0% in 2016–2023. The crude percentage of adults with a diagnosis code was higher in adults aged ≥50 years, those with CKD stages 4−5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, and men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compared with the corresponding counterparts.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During 2009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–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2023, no distinct patterns 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were observed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within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 specific race and ethnicity groups.</a:t>
            </a:r>
          </a:p>
          <a:p>
            <a:pPr algn="l"/>
            <a:endParaRPr lang="en-US" b="1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US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dirty="0">
                <a:solidFill>
                  <a:srgbClr val="000000"/>
                </a:solidFill>
                <a:latin typeface="Open Sans" panose="020B0606030504020204" pitchFamily="34" charset="0"/>
              </a:rPr>
              <a:t>DoD-MHS</a:t>
            </a:r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algn="l"/>
            <a:endParaRPr lang="en-US" b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2692DE-70E6-4DF4-B463-70286F232123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101906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A3740842-1BDB-47AB-BA52-9F3AB1190A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5385040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547595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System, 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40EB531B-4D55-4BDF-A760-4556B18D490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1902550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46168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System, by Age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D3421481-F9BB-4224-A2EA-C72FE0FE656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1220001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472021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Sex,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B07D7E7-391A-47EB-828A-9B22DF93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4557441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00748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82564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Sex, Age Standardized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4955569-2562-498E-8B1B-52B5B354BF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925193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394827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92838" cy="1325563"/>
          </a:xfrm>
        </p:spPr>
        <p:txBody>
          <a:bodyPr anchor="ctr">
            <a:noAutofit/>
          </a:bodyPr>
          <a:lstStyle/>
          <a:p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Race/Ethnicity, Crude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BE2762C2-B849-40CC-80E8-B7F7A07025F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6775296"/>
              </p:ext>
            </p:extLst>
          </p:nvPr>
        </p:nvGraphicFramePr>
        <p:xfrm>
          <a:off x="381000" y="1576553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96677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7374"/>
            <a:ext cx="11811000" cy="1325563"/>
          </a:xfrm>
        </p:spPr>
        <p:txBody>
          <a:bodyPr anchor="ctr">
            <a:noAutofit/>
          </a:bodyPr>
          <a:lstStyle/>
          <a:p>
            <a:pPr>
              <a:tabLst>
                <a:tab pos="3544888" algn="l"/>
              </a:tabLst>
            </a:pPr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Race/Ethnicity,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3093BE-C8C3-4CC7-B813-32C6A10101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489949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50895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 anchor="ctr">
            <a:noAutofit/>
          </a:bodyPr>
          <a:lstStyle/>
          <a:p>
            <a:pPr>
              <a:tabLst>
                <a:tab pos="3544888" algn="l"/>
              </a:tabLst>
            </a:pPr>
            <a:r>
              <a:rPr lang="en-US" sz="3600" b="1" dirty="0"/>
              <a:t>Service Members and Their Dependents </a:t>
            </a:r>
            <a:r>
              <a:rPr lang="en-US" sz="3600" dirty="0"/>
              <a:t>w</a:t>
            </a:r>
            <a:r>
              <a:rPr lang="en-US" sz="3600" b="1" dirty="0"/>
              <a:t>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CKD Stage, Crude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D1FAC857-23BE-3C47-4F25-63A238781E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31693304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54275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05C12A9-AF8E-4EE1-ADBE-9EA501E3C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 anchor="ctr">
            <a:noAutofit/>
          </a:bodyPr>
          <a:lstStyle/>
          <a:p>
            <a:pPr>
              <a:tabLst>
                <a:tab pos="3544888" algn="l"/>
              </a:tabLst>
            </a:pPr>
            <a:r>
              <a:rPr lang="en-US" sz="3600" b="1" dirty="0"/>
              <a:t>Service Members and Their Dependents with eGFR-based CKD Stages 3–5 who </a:t>
            </a:r>
            <a:r>
              <a:rPr lang="en-US" sz="3600" dirty="0"/>
              <a:t>a</a:t>
            </a:r>
            <a:r>
              <a:rPr lang="en-US" sz="3600" b="1" dirty="0"/>
              <a:t>lso have a Diagnosis Code for CKD in the Military Health System by CKD Stage, Age Standardized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BAECCC-4E23-4096-965A-3C7A001E893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109521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7653783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478</Words>
  <Application>Microsoft Office PowerPoint</Application>
  <PresentationFormat>Widescreen</PresentationFormat>
  <Paragraphs>23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Open Sans</vt:lpstr>
      <vt:lpstr>KDSS indicator downloads template</vt:lpstr>
      <vt:lpstr>Service Members and Their Dependents with eGFR-based CKD Stages 3–5 who also have a Diagnosis Code for CKD in the Military Health System </vt:lpstr>
      <vt:lpstr>Service Members and Their Dependents with eGFR-based CKD Stages 3–5 who also have a Diagnosis Code for CKD in the Military Health System, Crude</vt:lpstr>
      <vt:lpstr>Service Members and Their Dependents with eGFR-based CKD Stages 3–5 who also have a Diagnosis Code for CKD in the Military Health System, Age Standardized</vt:lpstr>
      <vt:lpstr>Service Members and Their Dependents with eGFR-based CKD Stages 3–5 who also have a Diagnosis Code for CKD in the Military Health System, by Age</vt:lpstr>
      <vt:lpstr>Service Members and Their Dependents with eGFR-based CKD Stages 3–5 who also have a Diagnosis Code for CKD in the Military Health System by Sex, Crude</vt:lpstr>
      <vt:lpstr>Service Members and Their Dependents with eGFR-based CKD Stages 3–5 who also have a Diagnosis Code for CKD in the Military Health System by Sex, Age Standardized</vt:lpstr>
      <vt:lpstr>Service Members and Their Dependents with eGFR-based CKD Stages 3–5 who also have a Diagnosis Code for CKD in the Military Health System by Race/Ethnicity, Crude</vt:lpstr>
      <vt:lpstr>Service Members and Their Dependents with eGFR-based CKD Stages 3–5 who also have a Diagnosis Code for CKD in the Military Health System by Race/Ethnicity, Age Standardized</vt:lpstr>
      <vt:lpstr>Service Members and Their Dependents with eGFR-based CKD Stages 3–5 who also have a Diagnosis Code for CKD in the Military Health System by CKD Stage, Crude</vt:lpstr>
      <vt:lpstr>Service Members and Their Dependents with eGFR-based CKD Stages 3–5 who also have a Diagnosis Code for CKD in the Military Health System by CKD Stage,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Members and Their Dependents With eGFR-based CKD Stages 3–5 Who Also have a Diagnosis Code for CKD in the Military Health System </dc:title>
  <dc:creator>Licon, Ana Laura</dc:creator>
  <cp:lastModifiedBy>Kime, Alexander</cp:lastModifiedBy>
  <cp:revision>4</cp:revision>
  <dcterms:created xsi:type="dcterms:W3CDTF">2025-11-14T17:00:03Z</dcterms:created>
  <dcterms:modified xsi:type="dcterms:W3CDTF">2025-11-21T22:54:04Z</dcterms:modified>
</cp:coreProperties>
</file>