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AD47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84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licon\University%20of%20Michigan%20Dropbox\Ana%20Laura%20Licon\KECC\CDC%20(2022-%20)\Website%20Redesign\TED\2025\DoD\Q756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licon\University%20of%20Michigan%20Dropbox\Ana%20Laura%20Licon\KECC\CDC%20(2022-%20)\Website%20Redesign\TED\2025\DoD\Q756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licon\University%20of%20Michigan%20Dropbox\Ana%20Laura%20Licon\KECC\CDC%20(2022-%20)\Website%20Redesign\TED\2025\DoD\Q756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licon\University%20of%20Michigan%20Dropbox\Ana%20Laura%20Licon\KECC\CDC%20(2022-%20)\Website%20Redesign\TED\2025\DoD\Q756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licon\University%20of%20Michigan%20Dropbox\Ana%20Laura%20Licon\KECC\CDC%20(2022-%20)\Website%20Redesign\TED\2025\DoD\Q756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licon\University%20of%20Michigan%20Dropbox\Ana%20Laura%20Licon\KECC\CDC%20(2022-%20)\Website%20Redesign\TED\2025\DoD\Q756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Overall!$B$1</c:f>
              <c:strCache>
                <c:ptCount val="1"/>
                <c:pt idx="0">
                  <c:v>Overall</c:v>
                </c:pt>
              </c:strCache>
            </c:strRef>
          </c:tx>
          <c:spPr>
            <a:ln w="44450" cap="rnd">
              <a:solidFill>
                <a:schemeClr val="tx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cat>
            <c:numRef>
              <c:f>Overall!$A$2:$A$16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Overall!$B$2:$B$16</c:f>
              <c:numCache>
                <c:formatCode>General</c:formatCode>
                <c:ptCount val="15"/>
                <c:pt idx="0">
                  <c:v>5.85</c:v>
                </c:pt>
                <c:pt idx="1">
                  <c:v>5.96</c:v>
                </c:pt>
                <c:pt idx="2">
                  <c:v>5.35</c:v>
                </c:pt>
                <c:pt idx="3">
                  <c:v>5.35</c:v>
                </c:pt>
                <c:pt idx="4">
                  <c:v>5.1100000000000003</c:v>
                </c:pt>
                <c:pt idx="5">
                  <c:v>5.05</c:v>
                </c:pt>
                <c:pt idx="6">
                  <c:v>4.91</c:v>
                </c:pt>
                <c:pt idx="7">
                  <c:v>5.09</c:v>
                </c:pt>
                <c:pt idx="8">
                  <c:v>5.46</c:v>
                </c:pt>
                <c:pt idx="9">
                  <c:v>5.45</c:v>
                </c:pt>
                <c:pt idx="10">
                  <c:v>5.45</c:v>
                </c:pt>
                <c:pt idx="11">
                  <c:v>5.89</c:v>
                </c:pt>
                <c:pt idx="12">
                  <c:v>5.37</c:v>
                </c:pt>
                <c:pt idx="13">
                  <c:v>5.14</c:v>
                </c:pt>
                <c:pt idx="14">
                  <c:v>4.84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486-48E5-A22D-B6B3F5293E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7957728"/>
        <c:axId val="487957312"/>
      </c:lineChart>
      <c:catAx>
        <c:axId val="4879577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7957312"/>
        <c:crosses val="autoZero"/>
        <c:auto val="1"/>
        <c:lblAlgn val="ctr"/>
        <c:lblOffset val="100"/>
        <c:tickLblSkip val="2"/>
        <c:tickMarkSkip val="2"/>
        <c:noMultiLvlLbl val="0"/>
      </c:catAx>
      <c:valAx>
        <c:axId val="487957312"/>
        <c:scaling>
          <c:orientation val="minMax"/>
          <c:max val="1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CKD Stages 3-5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7957728"/>
        <c:crossesAt val="1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4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Overall!$B$19</c:f>
              <c:strCache>
                <c:ptCount val="1"/>
                <c:pt idx="0">
                  <c:v>Overall</c:v>
                </c:pt>
              </c:strCache>
            </c:strRef>
          </c:tx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cat>
            <c:numRef>
              <c:f>Overall!$A$20:$A$34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Overall!$B$20:$B$34</c:f>
              <c:numCache>
                <c:formatCode>General</c:formatCode>
                <c:ptCount val="15"/>
                <c:pt idx="0">
                  <c:v>7.65</c:v>
                </c:pt>
                <c:pt idx="1">
                  <c:v>7.58</c:v>
                </c:pt>
                <c:pt idx="2">
                  <c:v>6.95</c:v>
                </c:pt>
                <c:pt idx="3">
                  <c:v>6.99</c:v>
                </c:pt>
                <c:pt idx="4">
                  <c:v>6.53</c:v>
                </c:pt>
                <c:pt idx="5">
                  <c:v>6.32</c:v>
                </c:pt>
                <c:pt idx="6">
                  <c:v>6.04</c:v>
                </c:pt>
                <c:pt idx="7">
                  <c:v>6.19</c:v>
                </c:pt>
                <c:pt idx="8">
                  <c:v>6.45</c:v>
                </c:pt>
                <c:pt idx="9">
                  <c:v>6.39</c:v>
                </c:pt>
                <c:pt idx="10">
                  <c:v>6.46</c:v>
                </c:pt>
                <c:pt idx="11">
                  <c:v>6.63</c:v>
                </c:pt>
                <c:pt idx="12">
                  <c:v>6.16</c:v>
                </c:pt>
                <c:pt idx="13">
                  <c:v>5.91</c:v>
                </c:pt>
                <c:pt idx="14">
                  <c:v>5.58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BA-4EEB-83D5-0A501DAB1B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94046352"/>
        <c:axId val="294042192"/>
      </c:lineChart>
      <c:catAx>
        <c:axId val="2940463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94042192"/>
        <c:crosses val="autoZero"/>
        <c:auto val="1"/>
        <c:lblAlgn val="ctr"/>
        <c:lblOffset val="100"/>
        <c:tickLblSkip val="2"/>
        <c:noMultiLvlLbl val="0"/>
      </c:catAx>
      <c:valAx>
        <c:axId val="294042192"/>
        <c:scaling>
          <c:orientation val="minMax"/>
          <c:max val="1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2400" b="0" i="0" u="none" strike="noStrike" kern="1200" baseline="0">
                    <a:solidFill>
                      <a:prstClr val="black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400" b="0" i="0" baseline="0" dirty="0">
                    <a:effectLst/>
                  </a:rPr>
                  <a:t>CKD Stages 3-5 (%)</a:t>
                </a:r>
                <a:endParaRPr lang="en-US" sz="2400" dirty="0">
                  <a:effectLst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400" b="0" i="0" u="none" strike="noStrike" kern="1200" baseline="0">
                  <a:solidFill>
                    <a:prstClr val="black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940463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4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Age!$B$1</c:f>
              <c:strCache>
                <c:ptCount val="1"/>
                <c:pt idx="0">
                  <c:v>18–29 years</c:v>
                </c:pt>
              </c:strCache>
            </c:strRef>
          </c:tx>
          <c:spPr>
            <a:ln w="444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Age!$A$18:$A$32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Age!$B$18:$B$32</c:f>
              <c:numCache>
                <c:formatCode>General</c:formatCode>
                <c:ptCount val="15"/>
                <c:pt idx="0">
                  <c:v>0.3</c:v>
                </c:pt>
                <c:pt idx="1">
                  <c:v>0.3</c:v>
                </c:pt>
                <c:pt idx="2">
                  <c:v>0.2</c:v>
                </c:pt>
                <c:pt idx="3">
                  <c:v>0.2</c:v>
                </c:pt>
                <c:pt idx="4">
                  <c:v>0.2</c:v>
                </c:pt>
                <c:pt idx="5">
                  <c:v>0.2</c:v>
                </c:pt>
                <c:pt idx="6">
                  <c:v>0.2</c:v>
                </c:pt>
                <c:pt idx="7">
                  <c:v>0.2</c:v>
                </c:pt>
                <c:pt idx="8">
                  <c:v>0.2</c:v>
                </c:pt>
                <c:pt idx="9">
                  <c:v>0.3</c:v>
                </c:pt>
                <c:pt idx="10">
                  <c:v>0.3</c:v>
                </c:pt>
                <c:pt idx="11">
                  <c:v>0.3</c:v>
                </c:pt>
                <c:pt idx="12">
                  <c:v>0.3</c:v>
                </c:pt>
                <c:pt idx="13">
                  <c:v>0.2</c:v>
                </c:pt>
                <c:pt idx="14">
                  <c:v>0.2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38B-4C8A-9434-5DF05F8CC69C}"/>
            </c:ext>
          </c:extLst>
        </c:ser>
        <c:ser>
          <c:idx val="1"/>
          <c:order val="1"/>
          <c:tx>
            <c:strRef>
              <c:f>Age!$C$1</c:f>
              <c:strCache>
                <c:ptCount val="1"/>
                <c:pt idx="0">
                  <c:v>30–39 years</c:v>
                </c:pt>
              </c:strCache>
            </c:strRef>
          </c:tx>
          <c:spPr>
            <a:ln w="444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Age!$A$18:$A$32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Age!$C$18:$C$32</c:f>
              <c:numCache>
                <c:formatCode>General</c:formatCode>
                <c:ptCount val="15"/>
                <c:pt idx="0">
                  <c:v>0.9</c:v>
                </c:pt>
                <c:pt idx="1">
                  <c:v>0.8</c:v>
                </c:pt>
                <c:pt idx="2">
                  <c:v>0.6</c:v>
                </c:pt>
                <c:pt idx="3">
                  <c:v>0.6</c:v>
                </c:pt>
                <c:pt idx="4">
                  <c:v>0.6</c:v>
                </c:pt>
                <c:pt idx="5">
                  <c:v>0.6</c:v>
                </c:pt>
                <c:pt idx="6">
                  <c:v>0.5</c:v>
                </c:pt>
                <c:pt idx="7">
                  <c:v>0.6</c:v>
                </c:pt>
                <c:pt idx="8">
                  <c:v>0.6</c:v>
                </c:pt>
                <c:pt idx="9">
                  <c:v>0.6</c:v>
                </c:pt>
                <c:pt idx="10">
                  <c:v>0.6</c:v>
                </c:pt>
                <c:pt idx="11">
                  <c:v>0.6</c:v>
                </c:pt>
                <c:pt idx="12">
                  <c:v>0.6</c:v>
                </c:pt>
                <c:pt idx="13">
                  <c:v>0.5</c:v>
                </c:pt>
                <c:pt idx="14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38B-4C8A-9434-5DF05F8CC69C}"/>
            </c:ext>
          </c:extLst>
        </c:ser>
        <c:ser>
          <c:idx val="2"/>
          <c:order val="2"/>
          <c:tx>
            <c:strRef>
              <c:f>Age!$D$1</c:f>
              <c:strCache>
                <c:ptCount val="1"/>
                <c:pt idx="0">
                  <c:v>40–49 years</c:v>
                </c:pt>
              </c:strCache>
            </c:strRef>
          </c:tx>
          <c:spPr>
            <a:ln w="444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numRef>
              <c:f>Age!$A$18:$A$32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Age!$D$18:$D$32</c:f>
              <c:numCache>
                <c:formatCode>General</c:formatCode>
                <c:ptCount val="15"/>
                <c:pt idx="0">
                  <c:v>2.1</c:v>
                </c:pt>
                <c:pt idx="1">
                  <c:v>2</c:v>
                </c:pt>
                <c:pt idx="2">
                  <c:v>1.6</c:v>
                </c:pt>
                <c:pt idx="3">
                  <c:v>1.7</c:v>
                </c:pt>
                <c:pt idx="4">
                  <c:v>1.6</c:v>
                </c:pt>
                <c:pt idx="5">
                  <c:v>1.6</c:v>
                </c:pt>
                <c:pt idx="6">
                  <c:v>1.5</c:v>
                </c:pt>
                <c:pt idx="7">
                  <c:v>1.6</c:v>
                </c:pt>
                <c:pt idx="8">
                  <c:v>1.6</c:v>
                </c:pt>
                <c:pt idx="9">
                  <c:v>1.6</c:v>
                </c:pt>
                <c:pt idx="10">
                  <c:v>1.7</c:v>
                </c:pt>
                <c:pt idx="11">
                  <c:v>1.8</c:v>
                </c:pt>
                <c:pt idx="12">
                  <c:v>1.6</c:v>
                </c:pt>
                <c:pt idx="13">
                  <c:v>1.4</c:v>
                </c:pt>
                <c:pt idx="14">
                  <c:v>1.4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38B-4C8A-9434-5DF05F8CC69C}"/>
            </c:ext>
          </c:extLst>
        </c:ser>
        <c:ser>
          <c:idx val="3"/>
          <c:order val="3"/>
          <c:tx>
            <c:strRef>
              <c:f>Age!$E$1</c:f>
              <c:strCache>
                <c:ptCount val="1"/>
                <c:pt idx="0">
                  <c:v>50–59 years</c:v>
                </c:pt>
              </c:strCache>
            </c:strRef>
          </c:tx>
          <c:spPr>
            <a:ln w="444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numRef>
              <c:f>Age!$A$18:$A$32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Age!$E$18:$E$32</c:f>
              <c:numCache>
                <c:formatCode>General</c:formatCode>
                <c:ptCount val="15"/>
                <c:pt idx="0">
                  <c:v>5.4</c:v>
                </c:pt>
                <c:pt idx="1">
                  <c:v>5.0999999999999996</c:v>
                </c:pt>
                <c:pt idx="2">
                  <c:v>4.4000000000000004</c:v>
                </c:pt>
                <c:pt idx="3">
                  <c:v>4.5</c:v>
                </c:pt>
                <c:pt idx="4">
                  <c:v>4</c:v>
                </c:pt>
                <c:pt idx="5">
                  <c:v>3.8</c:v>
                </c:pt>
                <c:pt idx="6">
                  <c:v>3.5</c:v>
                </c:pt>
                <c:pt idx="7">
                  <c:v>3.7</c:v>
                </c:pt>
                <c:pt idx="8">
                  <c:v>3.9</c:v>
                </c:pt>
                <c:pt idx="9">
                  <c:v>3.9</c:v>
                </c:pt>
                <c:pt idx="10">
                  <c:v>4.2</c:v>
                </c:pt>
                <c:pt idx="11">
                  <c:v>4.5</c:v>
                </c:pt>
                <c:pt idx="12">
                  <c:v>4.0999999999999996</c:v>
                </c:pt>
                <c:pt idx="13">
                  <c:v>4.0999999999999996</c:v>
                </c:pt>
                <c:pt idx="14">
                  <c:v>3.9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38B-4C8A-9434-5DF05F8CC69C}"/>
            </c:ext>
          </c:extLst>
        </c:ser>
        <c:ser>
          <c:idx val="4"/>
          <c:order val="4"/>
          <c:tx>
            <c:strRef>
              <c:f>Age!$F$1</c:f>
              <c:strCache>
                <c:ptCount val="1"/>
                <c:pt idx="0">
                  <c:v>60–69 years</c:v>
                </c:pt>
              </c:strCache>
            </c:strRef>
          </c:tx>
          <c:spPr>
            <a:ln w="4445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numRef>
              <c:f>Age!$A$18:$A$32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Age!$F$18:$F$32</c:f>
              <c:numCache>
                <c:formatCode>General</c:formatCode>
                <c:ptCount val="15"/>
                <c:pt idx="0">
                  <c:v>13</c:v>
                </c:pt>
                <c:pt idx="1">
                  <c:v>12.5</c:v>
                </c:pt>
                <c:pt idx="2">
                  <c:v>11.3</c:v>
                </c:pt>
                <c:pt idx="3">
                  <c:v>11.1</c:v>
                </c:pt>
                <c:pt idx="4">
                  <c:v>10.1</c:v>
                </c:pt>
                <c:pt idx="5">
                  <c:v>9.6</c:v>
                </c:pt>
                <c:pt idx="6">
                  <c:v>9</c:v>
                </c:pt>
                <c:pt idx="7">
                  <c:v>9.1999999999999993</c:v>
                </c:pt>
                <c:pt idx="8">
                  <c:v>9.6</c:v>
                </c:pt>
                <c:pt idx="9">
                  <c:v>9.6</c:v>
                </c:pt>
                <c:pt idx="10">
                  <c:v>9.6999999999999993</c:v>
                </c:pt>
                <c:pt idx="11">
                  <c:v>10.199999999999999</c:v>
                </c:pt>
                <c:pt idx="12">
                  <c:v>9.3000000000000007</c:v>
                </c:pt>
                <c:pt idx="13">
                  <c:v>8.9</c:v>
                </c:pt>
                <c:pt idx="14">
                  <c:v>8.3000000000000007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738B-4C8A-9434-5DF05F8CC69C}"/>
            </c:ext>
          </c:extLst>
        </c:ser>
        <c:ser>
          <c:idx val="5"/>
          <c:order val="5"/>
          <c:tx>
            <c:strRef>
              <c:f>Age!$G$1</c:f>
              <c:strCache>
                <c:ptCount val="1"/>
                <c:pt idx="0">
                  <c:v>70+ years</c:v>
                </c:pt>
              </c:strCache>
            </c:strRef>
          </c:tx>
          <c:spPr>
            <a:ln w="44450" cap="rnd">
              <a:solidFill>
                <a:srgbClr val="70AD47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cat>
            <c:numRef>
              <c:f>Age!$A$18:$A$32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Age!$G$18:$G$32</c:f>
              <c:numCache>
                <c:formatCode>General</c:formatCode>
                <c:ptCount val="15"/>
                <c:pt idx="0">
                  <c:v>36.4</c:v>
                </c:pt>
                <c:pt idx="1">
                  <c:v>37.4</c:v>
                </c:pt>
                <c:pt idx="2">
                  <c:v>35.299999999999997</c:v>
                </c:pt>
                <c:pt idx="3">
                  <c:v>35.5</c:v>
                </c:pt>
                <c:pt idx="4">
                  <c:v>33.5</c:v>
                </c:pt>
                <c:pt idx="5">
                  <c:v>32.6</c:v>
                </c:pt>
                <c:pt idx="6">
                  <c:v>31.6</c:v>
                </c:pt>
                <c:pt idx="7">
                  <c:v>32</c:v>
                </c:pt>
                <c:pt idx="8">
                  <c:v>33.299999999999997</c:v>
                </c:pt>
                <c:pt idx="9">
                  <c:v>32.6</c:v>
                </c:pt>
                <c:pt idx="10">
                  <c:v>32.5</c:v>
                </c:pt>
                <c:pt idx="11">
                  <c:v>32.799999999999997</c:v>
                </c:pt>
                <c:pt idx="12">
                  <c:v>30.9</c:v>
                </c:pt>
                <c:pt idx="13">
                  <c:v>29.8</c:v>
                </c:pt>
                <c:pt idx="14">
                  <c:v>28.1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738B-4C8A-9434-5DF05F8CC69C}"/>
            </c:ext>
          </c:extLst>
        </c:ser>
        <c:ser>
          <c:idx val="6"/>
          <c:order val="6"/>
          <c:tx>
            <c:strRef>
              <c:f>Age!$H$1</c:f>
              <c:strCache>
                <c:ptCount val="1"/>
                <c:pt idx="0">
                  <c:v>Overall</c:v>
                </c:pt>
              </c:strCache>
            </c:strRef>
          </c:tx>
          <c:spPr>
            <a:ln w="44450" cap="rnd">
              <a:solidFill>
                <a:schemeClr val="tx1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cat>
            <c:numRef>
              <c:f>Age!$A$18:$A$32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Age!$H$18:$H$32</c:f>
              <c:numCache>
                <c:formatCode>General</c:formatCode>
                <c:ptCount val="15"/>
                <c:pt idx="0">
                  <c:v>5.9</c:v>
                </c:pt>
                <c:pt idx="1">
                  <c:v>6</c:v>
                </c:pt>
                <c:pt idx="2">
                  <c:v>5.4</c:v>
                </c:pt>
                <c:pt idx="3">
                  <c:v>5.4</c:v>
                </c:pt>
                <c:pt idx="4">
                  <c:v>5.0999999999999996</c:v>
                </c:pt>
                <c:pt idx="5">
                  <c:v>5.0999999999999996</c:v>
                </c:pt>
                <c:pt idx="6">
                  <c:v>4.9000000000000004</c:v>
                </c:pt>
                <c:pt idx="7">
                  <c:v>5.0999999999999996</c:v>
                </c:pt>
                <c:pt idx="8">
                  <c:v>5.5</c:v>
                </c:pt>
                <c:pt idx="9">
                  <c:v>5.5</c:v>
                </c:pt>
                <c:pt idx="10">
                  <c:v>5.5</c:v>
                </c:pt>
                <c:pt idx="11">
                  <c:v>5.9</c:v>
                </c:pt>
                <c:pt idx="12">
                  <c:v>5.4</c:v>
                </c:pt>
                <c:pt idx="13">
                  <c:v>5.0999999999999996</c:v>
                </c:pt>
                <c:pt idx="14">
                  <c:v>4.8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738B-4C8A-9434-5DF05F8CC6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30435104"/>
        <c:axId val="1630438848"/>
      </c:lineChart>
      <c:catAx>
        <c:axId val="1630435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30438848"/>
        <c:crosses val="autoZero"/>
        <c:auto val="1"/>
        <c:lblAlgn val="ctr"/>
        <c:lblOffset val="100"/>
        <c:tickLblSkip val="2"/>
        <c:noMultiLvlLbl val="0"/>
      </c:catAx>
      <c:valAx>
        <c:axId val="16304388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CKD Stages 3-5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304351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79304418197725279"/>
          <c:w val="0.99948906386701664"/>
          <c:h val="0.1902891513560804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4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Sex!$B$1</c:f>
              <c:strCache>
                <c:ptCount val="1"/>
                <c:pt idx="0">
                  <c:v>Male</c:v>
                </c:pt>
              </c:strCache>
            </c:strRef>
          </c:tx>
          <c:spPr>
            <a:ln w="444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Sex!$A$2:$A$16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Sex!$B$2:$B$16</c:f>
              <c:numCache>
                <c:formatCode>General</c:formatCode>
                <c:ptCount val="15"/>
                <c:pt idx="0">
                  <c:v>5.91</c:v>
                </c:pt>
                <c:pt idx="1">
                  <c:v>6.09</c:v>
                </c:pt>
                <c:pt idx="2">
                  <c:v>5.42</c:v>
                </c:pt>
                <c:pt idx="3">
                  <c:v>5.47</c:v>
                </c:pt>
                <c:pt idx="4">
                  <c:v>5.32</c:v>
                </c:pt>
                <c:pt idx="5">
                  <c:v>5.34</c:v>
                </c:pt>
                <c:pt idx="6">
                  <c:v>5.21</c:v>
                </c:pt>
                <c:pt idx="7">
                  <c:v>5.43</c:v>
                </c:pt>
                <c:pt idx="8">
                  <c:v>5.79</c:v>
                </c:pt>
                <c:pt idx="9">
                  <c:v>5.77</c:v>
                </c:pt>
                <c:pt idx="10">
                  <c:v>5.76</c:v>
                </c:pt>
                <c:pt idx="11">
                  <c:v>6.13</c:v>
                </c:pt>
                <c:pt idx="12">
                  <c:v>5.58</c:v>
                </c:pt>
                <c:pt idx="13">
                  <c:v>5.24</c:v>
                </c:pt>
                <c:pt idx="14">
                  <c:v>4.9400000000000004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AC1-4704-9197-96D852DCF354}"/>
            </c:ext>
          </c:extLst>
        </c:ser>
        <c:ser>
          <c:idx val="1"/>
          <c:order val="1"/>
          <c:tx>
            <c:strRef>
              <c:f>Sex!$C$1</c:f>
              <c:strCache>
                <c:ptCount val="1"/>
                <c:pt idx="0">
                  <c:v>Female</c:v>
                </c:pt>
              </c:strCache>
            </c:strRef>
          </c:tx>
          <c:spPr>
            <a:ln w="444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Sex!$A$2:$A$16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Sex!$C$2:$C$16</c:f>
              <c:numCache>
                <c:formatCode>General</c:formatCode>
                <c:ptCount val="15"/>
                <c:pt idx="0">
                  <c:v>5.8</c:v>
                </c:pt>
                <c:pt idx="1">
                  <c:v>5.84</c:v>
                </c:pt>
                <c:pt idx="2">
                  <c:v>5.28</c:v>
                </c:pt>
                <c:pt idx="3">
                  <c:v>5.24</c:v>
                </c:pt>
                <c:pt idx="4">
                  <c:v>4.91</c:v>
                </c:pt>
                <c:pt idx="5">
                  <c:v>4.78</c:v>
                </c:pt>
                <c:pt idx="6">
                  <c:v>4.63</c:v>
                </c:pt>
                <c:pt idx="7">
                  <c:v>4.76</c:v>
                </c:pt>
                <c:pt idx="8">
                  <c:v>5.14</c:v>
                </c:pt>
                <c:pt idx="9">
                  <c:v>5.14</c:v>
                </c:pt>
                <c:pt idx="10">
                  <c:v>5.15</c:v>
                </c:pt>
                <c:pt idx="11">
                  <c:v>5.64</c:v>
                </c:pt>
                <c:pt idx="12">
                  <c:v>5.16</c:v>
                </c:pt>
                <c:pt idx="13">
                  <c:v>5.03</c:v>
                </c:pt>
                <c:pt idx="14">
                  <c:v>4.75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AC1-4704-9197-96D852DCF354}"/>
            </c:ext>
          </c:extLst>
        </c:ser>
        <c:ser>
          <c:idx val="2"/>
          <c:order val="2"/>
          <c:tx>
            <c:strRef>
              <c:f>Sex!$D$1</c:f>
              <c:strCache>
                <c:ptCount val="1"/>
                <c:pt idx="0">
                  <c:v>Overall</c:v>
                </c:pt>
              </c:strCache>
            </c:strRef>
          </c:tx>
          <c:spPr>
            <a:ln w="44450" cap="rnd">
              <a:solidFill>
                <a:schemeClr val="tx1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cat>
            <c:numRef>
              <c:f>Sex!$A$2:$A$16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Sex!$D$2:$D$16</c:f>
              <c:numCache>
                <c:formatCode>General</c:formatCode>
                <c:ptCount val="15"/>
                <c:pt idx="0">
                  <c:v>5.85</c:v>
                </c:pt>
                <c:pt idx="1">
                  <c:v>5.96</c:v>
                </c:pt>
                <c:pt idx="2">
                  <c:v>5.35</c:v>
                </c:pt>
                <c:pt idx="3">
                  <c:v>5.35</c:v>
                </c:pt>
                <c:pt idx="4">
                  <c:v>5.1100000000000003</c:v>
                </c:pt>
                <c:pt idx="5">
                  <c:v>5.05</c:v>
                </c:pt>
                <c:pt idx="6">
                  <c:v>4.91</c:v>
                </c:pt>
                <c:pt idx="7">
                  <c:v>5.09</c:v>
                </c:pt>
                <c:pt idx="8">
                  <c:v>5.46</c:v>
                </c:pt>
                <c:pt idx="9">
                  <c:v>5.45</c:v>
                </c:pt>
                <c:pt idx="10">
                  <c:v>5.45</c:v>
                </c:pt>
                <c:pt idx="11">
                  <c:v>5.89</c:v>
                </c:pt>
                <c:pt idx="12">
                  <c:v>5.37</c:v>
                </c:pt>
                <c:pt idx="13">
                  <c:v>5.14</c:v>
                </c:pt>
                <c:pt idx="14">
                  <c:v>4.84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AC1-4704-9197-96D852DCF3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98086592"/>
        <c:axId val="498089088"/>
      </c:lineChart>
      <c:catAx>
        <c:axId val="4980865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8089088"/>
        <c:crosses val="autoZero"/>
        <c:auto val="1"/>
        <c:lblAlgn val="ctr"/>
        <c:lblOffset val="100"/>
        <c:tickLblSkip val="2"/>
        <c:noMultiLvlLbl val="0"/>
      </c:catAx>
      <c:valAx>
        <c:axId val="498089088"/>
        <c:scaling>
          <c:orientation val="minMax"/>
          <c:max val="1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CKD Stages 3-5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80865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4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Sex!$B$21</c:f>
              <c:strCache>
                <c:ptCount val="1"/>
                <c:pt idx="0">
                  <c:v>Male</c:v>
                </c:pt>
              </c:strCache>
            </c:strRef>
          </c:tx>
          <c:spPr>
            <a:ln w="412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Sex!$A$22:$A$36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Sex!$B$22:$B$36</c:f>
              <c:numCache>
                <c:formatCode>General</c:formatCode>
                <c:ptCount val="15"/>
                <c:pt idx="0">
                  <c:v>7.35</c:v>
                </c:pt>
                <c:pt idx="1">
                  <c:v>7.38</c:v>
                </c:pt>
                <c:pt idx="2">
                  <c:v>6.75</c:v>
                </c:pt>
                <c:pt idx="3">
                  <c:v>6.85</c:v>
                </c:pt>
                <c:pt idx="4">
                  <c:v>6.49</c:v>
                </c:pt>
                <c:pt idx="5">
                  <c:v>6.38</c:v>
                </c:pt>
                <c:pt idx="6">
                  <c:v>6.15</c:v>
                </c:pt>
                <c:pt idx="7">
                  <c:v>6.35</c:v>
                </c:pt>
                <c:pt idx="8">
                  <c:v>6.61</c:v>
                </c:pt>
                <c:pt idx="9">
                  <c:v>6.55</c:v>
                </c:pt>
                <c:pt idx="10">
                  <c:v>6.69</c:v>
                </c:pt>
                <c:pt idx="11">
                  <c:v>6.82</c:v>
                </c:pt>
                <c:pt idx="12">
                  <c:v>6.35</c:v>
                </c:pt>
                <c:pt idx="13">
                  <c:v>6.11</c:v>
                </c:pt>
                <c:pt idx="14">
                  <c:v>5.8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FE7-445F-99A9-DC7DCD194638}"/>
            </c:ext>
          </c:extLst>
        </c:ser>
        <c:ser>
          <c:idx val="1"/>
          <c:order val="1"/>
          <c:tx>
            <c:strRef>
              <c:f>Sex!$C$21</c:f>
              <c:strCache>
                <c:ptCount val="1"/>
                <c:pt idx="0">
                  <c:v>Female</c:v>
                </c:pt>
              </c:strCache>
            </c:strRef>
          </c:tx>
          <c:spPr>
            <a:ln w="444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Sex!$A$22:$A$36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Sex!$C$22:$C$36</c:f>
              <c:numCache>
                <c:formatCode>General</c:formatCode>
                <c:ptCount val="15"/>
                <c:pt idx="0">
                  <c:v>7.96</c:v>
                </c:pt>
                <c:pt idx="1">
                  <c:v>7.8</c:v>
                </c:pt>
                <c:pt idx="2">
                  <c:v>7.17</c:v>
                </c:pt>
                <c:pt idx="3">
                  <c:v>7.13</c:v>
                </c:pt>
                <c:pt idx="4">
                  <c:v>6.56</c:v>
                </c:pt>
                <c:pt idx="5">
                  <c:v>6.25</c:v>
                </c:pt>
                <c:pt idx="6">
                  <c:v>5.95</c:v>
                </c:pt>
                <c:pt idx="7">
                  <c:v>6.02</c:v>
                </c:pt>
                <c:pt idx="8">
                  <c:v>6.3</c:v>
                </c:pt>
                <c:pt idx="9">
                  <c:v>6.23</c:v>
                </c:pt>
                <c:pt idx="10">
                  <c:v>6.22</c:v>
                </c:pt>
                <c:pt idx="11">
                  <c:v>6.44</c:v>
                </c:pt>
                <c:pt idx="12">
                  <c:v>5.95</c:v>
                </c:pt>
                <c:pt idx="13">
                  <c:v>5.7</c:v>
                </c:pt>
                <c:pt idx="14">
                  <c:v>5.35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FE7-445F-99A9-DC7DCD194638}"/>
            </c:ext>
          </c:extLst>
        </c:ser>
        <c:ser>
          <c:idx val="2"/>
          <c:order val="2"/>
          <c:tx>
            <c:strRef>
              <c:f>Sex!$D$21</c:f>
              <c:strCache>
                <c:ptCount val="1"/>
                <c:pt idx="0">
                  <c:v>Overall</c:v>
                </c:pt>
              </c:strCache>
            </c:strRef>
          </c:tx>
          <c:spPr>
            <a:ln w="44450" cap="rnd">
              <a:solidFill>
                <a:schemeClr val="tx1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cat>
            <c:numRef>
              <c:f>Sex!$A$22:$A$36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Sex!$D$22:$D$36</c:f>
              <c:numCache>
                <c:formatCode>General</c:formatCode>
                <c:ptCount val="15"/>
                <c:pt idx="0">
                  <c:v>7.65</c:v>
                </c:pt>
                <c:pt idx="1">
                  <c:v>7.58</c:v>
                </c:pt>
                <c:pt idx="2">
                  <c:v>6.95</c:v>
                </c:pt>
                <c:pt idx="3">
                  <c:v>6.99</c:v>
                </c:pt>
                <c:pt idx="4">
                  <c:v>6.53</c:v>
                </c:pt>
                <c:pt idx="5">
                  <c:v>6.32</c:v>
                </c:pt>
                <c:pt idx="6">
                  <c:v>6.04</c:v>
                </c:pt>
                <c:pt idx="7">
                  <c:v>6.19</c:v>
                </c:pt>
                <c:pt idx="8">
                  <c:v>6.45</c:v>
                </c:pt>
                <c:pt idx="9">
                  <c:v>6.39</c:v>
                </c:pt>
                <c:pt idx="10">
                  <c:v>6.46</c:v>
                </c:pt>
                <c:pt idx="11">
                  <c:v>6.63</c:v>
                </c:pt>
                <c:pt idx="12">
                  <c:v>6.16</c:v>
                </c:pt>
                <c:pt idx="13">
                  <c:v>5.91</c:v>
                </c:pt>
                <c:pt idx="14">
                  <c:v>5.58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FE7-445F-99A9-DC7DCD1946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92715488"/>
        <c:axId val="492717568"/>
      </c:lineChart>
      <c:catAx>
        <c:axId val="4927154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2717568"/>
        <c:crosses val="autoZero"/>
        <c:auto val="1"/>
        <c:lblAlgn val="ctr"/>
        <c:lblOffset val="100"/>
        <c:tickLblSkip val="2"/>
        <c:noMultiLvlLbl val="0"/>
      </c:catAx>
      <c:valAx>
        <c:axId val="492717568"/>
        <c:scaling>
          <c:orientation val="minMax"/>
          <c:max val="1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CKD Stages</a:t>
                </a:r>
                <a:r>
                  <a:rPr lang="en-US" baseline="0" dirty="0"/>
                  <a:t> 3-5 </a:t>
                </a:r>
                <a:r>
                  <a:rPr lang="en-US" dirty="0"/>
                  <a:t>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27154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4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Race!$B$1</c:f>
              <c:strCache>
                <c:ptCount val="1"/>
                <c:pt idx="0">
                  <c:v>White</c:v>
                </c:pt>
              </c:strCache>
            </c:strRef>
          </c:tx>
          <c:spPr>
            <a:ln w="444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Race!$A$2:$A$16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Race!$B$18:$B$32</c:f>
              <c:numCache>
                <c:formatCode>General</c:formatCode>
                <c:ptCount val="15"/>
                <c:pt idx="0">
                  <c:v>3.3</c:v>
                </c:pt>
                <c:pt idx="1">
                  <c:v>3.4</c:v>
                </c:pt>
                <c:pt idx="2">
                  <c:v>3.1</c:v>
                </c:pt>
                <c:pt idx="3">
                  <c:v>3.3</c:v>
                </c:pt>
                <c:pt idx="4">
                  <c:v>3.2</c:v>
                </c:pt>
                <c:pt idx="5">
                  <c:v>3.3</c:v>
                </c:pt>
                <c:pt idx="6">
                  <c:v>3.3</c:v>
                </c:pt>
                <c:pt idx="7">
                  <c:v>3.6</c:v>
                </c:pt>
                <c:pt idx="8">
                  <c:v>4</c:v>
                </c:pt>
                <c:pt idx="9">
                  <c:v>4.0999999999999996</c:v>
                </c:pt>
                <c:pt idx="10">
                  <c:v>4.0999999999999996</c:v>
                </c:pt>
                <c:pt idx="11">
                  <c:v>4.5999999999999996</c:v>
                </c:pt>
                <c:pt idx="12">
                  <c:v>4.3</c:v>
                </c:pt>
                <c:pt idx="13">
                  <c:v>4.0999999999999996</c:v>
                </c:pt>
                <c:pt idx="14">
                  <c:v>3.9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9B1-4374-912E-4BFF6424D4F7}"/>
            </c:ext>
          </c:extLst>
        </c:ser>
        <c:ser>
          <c:idx val="1"/>
          <c:order val="1"/>
          <c:tx>
            <c:strRef>
              <c:f>Race!$C$1</c:f>
              <c:strCache>
                <c:ptCount val="1"/>
                <c:pt idx="0">
                  <c:v>Black</c:v>
                </c:pt>
              </c:strCache>
            </c:strRef>
          </c:tx>
          <c:spPr>
            <a:ln w="444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Race!$A$2:$A$16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Race!$C$18:$C$32</c:f>
              <c:numCache>
                <c:formatCode>General</c:formatCode>
                <c:ptCount val="15"/>
                <c:pt idx="0">
                  <c:v>6.7</c:v>
                </c:pt>
                <c:pt idx="1">
                  <c:v>6.6</c:v>
                </c:pt>
                <c:pt idx="2">
                  <c:v>6</c:v>
                </c:pt>
                <c:pt idx="3">
                  <c:v>6.1</c:v>
                </c:pt>
                <c:pt idx="4">
                  <c:v>6.3</c:v>
                </c:pt>
                <c:pt idx="5">
                  <c:v>6.5</c:v>
                </c:pt>
                <c:pt idx="6">
                  <c:v>6.6</c:v>
                </c:pt>
                <c:pt idx="7">
                  <c:v>7</c:v>
                </c:pt>
                <c:pt idx="8">
                  <c:v>7.7</c:v>
                </c:pt>
                <c:pt idx="9">
                  <c:v>8</c:v>
                </c:pt>
                <c:pt idx="10">
                  <c:v>8.3000000000000007</c:v>
                </c:pt>
                <c:pt idx="11">
                  <c:v>9</c:v>
                </c:pt>
                <c:pt idx="12">
                  <c:v>8.5</c:v>
                </c:pt>
                <c:pt idx="13">
                  <c:v>8.4</c:v>
                </c:pt>
                <c:pt idx="14">
                  <c:v>8.1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9B1-4374-912E-4BFF6424D4F7}"/>
            </c:ext>
          </c:extLst>
        </c:ser>
        <c:ser>
          <c:idx val="2"/>
          <c:order val="2"/>
          <c:tx>
            <c:strRef>
              <c:f>Race!$D$1</c:f>
              <c:strCache>
                <c:ptCount val="1"/>
                <c:pt idx="0">
                  <c:v>American Indian/Alaska Native</c:v>
                </c:pt>
              </c:strCache>
            </c:strRef>
          </c:tx>
          <c:spPr>
            <a:ln w="444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numRef>
              <c:f>Race!$A$2:$A$16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Race!$D$18:$D$32</c:f>
              <c:numCache>
                <c:formatCode>General</c:formatCode>
                <c:ptCount val="15"/>
                <c:pt idx="0">
                  <c:v>2.4</c:v>
                </c:pt>
                <c:pt idx="1">
                  <c:v>2.5</c:v>
                </c:pt>
                <c:pt idx="2">
                  <c:v>2.1</c:v>
                </c:pt>
                <c:pt idx="3">
                  <c:v>2.5</c:v>
                </c:pt>
                <c:pt idx="4">
                  <c:v>1.9</c:v>
                </c:pt>
                <c:pt idx="5">
                  <c:v>2.4</c:v>
                </c:pt>
                <c:pt idx="6">
                  <c:v>2.5</c:v>
                </c:pt>
                <c:pt idx="7">
                  <c:v>2.2999999999999998</c:v>
                </c:pt>
                <c:pt idx="8">
                  <c:v>2.8</c:v>
                </c:pt>
                <c:pt idx="9">
                  <c:v>2.8</c:v>
                </c:pt>
                <c:pt idx="10">
                  <c:v>2.9</c:v>
                </c:pt>
                <c:pt idx="11">
                  <c:v>3.2</c:v>
                </c:pt>
                <c:pt idx="12">
                  <c:v>2.8</c:v>
                </c:pt>
                <c:pt idx="13">
                  <c:v>2.5</c:v>
                </c:pt>
                <c:pt idx="14">
                  <c:v>2.6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9B1-4374-912E-4BFF6424D4F7}"/>
            </c:ext>
          </c:extLst>
        </c:ser>
        <c:ser>
          <c:idx val="3"/>
          <c:order val="3"/>
          <c:tx>
            <c:strRef>
              <c:f>Race!$E$1</c:f>
              <c:strCache>
                <c:ptCount val="1"/>
                <c:pt idx="0">
                  <c:v>Asian American/Pacific Islander</c:v>
                </c:pt>
              </c:strCache>
            </c:strRef>
          </c:tx>
          <c:spPr>
            <a:ln w="44450" cap="rnd">
              <a:solidFill>
                <a:srgbClr val="FFC0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numRef>
              <c:f>Race!$A$2:$A$16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Race!$E$18:$E$32</c:f>
              <c:numCache>
                <c:formatCode>General</c:formatCode>
                <c:ptCount val="15"/>
                <c:pt idx="0">
                  <c:v>2.5</c:v>
                </c:pt>
                <c:pt idx="1">
                  <c:v>2.8</c:v>
                </c:pt>
                <c:pt idx="2">
                  <c:v>2.8</c:v>
                </c:pt>
                <c:pt idx="3">
                  <c:v>3.1</c:v>
                </c:pt>
                <c:pt idx="4">
                  <c:v>3.1</c:v>
                </c:pt>
                <c:pt idx="5">
                  <c:v>3.2</c:v>
                </c:pt>
                <c:pt idx="6">
                  <c:v>3.3</c:v>
                </c:pt>
                <c:pt idx="7">
                  <c:v>3.6</c:v>
                </c:pt>
                <c:pt idx="8">
                  <c:v>4.0999999999999996</c:v>
                </c:pt>
                <c:pt idx="9">
                  <c:v>4.0999999999999996</c:v>
                </c:pt>
                <c:pt idx="10">
                  <c:v>4.3</c:v>
                </c:pt>
                <c:pt idx="11">
                  <c:v>5.0999999999999996</c:v>
                </c:pt>
                <c:pt idx="12">
                  <c:v>4.5999999999999996</c:v>
                </c:pt>
                <c:pt idx="13">
                  <c:v>4.7</c:v>
                </c:pt>
                <c:pt idx="14">
                  <c:v>4.4000000000000004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9B1-4374-912E-4BFF6424D4F7}"/>
            </c:ext>
          </c:extLst>
        </c:ser>
        <c:ser>
          <c:idx val="4"/>
          <c:order val="4"/>
          <c:tx>
            <c:strRef>
              <c:f>Race!$F$1</c:f>
              <c:strCache>
                <c:ptCount val="1"/>
                <c:pt idx="0">
                  <c:v>Other</c:v>
                </c:pt>
              </c:strCache>
            </c:strRef>
          </c:tx>
          <c:spPr>
            <a:ln w="44450" cap="rnd">
              <a:solidFill>
                <a:srgbClr val="70AD47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70AD47"/>
              </a:solidFill>
              <a:ln w="9525">
                <a:solidFill>
                  <a:srgbClr val="70AD47"/>
                </a:solidFill>
              </a:ln>
              <a:effectLst/>
            </c:spPr>
          </c:marker>
          <c:cat>
            <c:numRef>
              <c:f>Race!$A$2:$A$16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Race!$F$18:$F$32</c:f>
              <c:numCache>
                <c:formatCode>General</c:formatCode>
                <c:ptCount val="15"/>
                <c:pt idx="0">
                  <c:v>2.1</c:v>
                </c:pt>
                <c:pt idx="1">
                  <c:v>2.1</c:v>
                </c:pt>
                <c:pt idx="2">
                  <c:v>1.8</c:v>
                </c:pt>
                <c:pt idx="3">
                  <c:v>2.2000000000000002</c:v>
                </c:pt>
                <c:pt idx="4">
                  <c:v>2.1</c:v>
                </c:pt>
                <c:pt idx="5">
                  <c:v>2.1</c:v>
                </c:pt>
                <c:pt idx="6">
                  <c:v>2.2000000000000002</c:v>
                </c:pt>
                <c:pt idx="7">
                  <c:v>2.2999999999999998</c:v>
                </c:pt>
                <c:pt idx="8">
                  <c:v>2.8</c:v>
                </c:pt>
                <c:pt idx="9">
                  <c:v>2.8</c:v>
                </c:pt>
                <c:pt idx="10">
                  <c:v>2.8</c:v>
                </c:pt>
                <c:pt idx="11">
                  <c:v>3.1</c:v>
                </c:pt>
                <c:pt idx="12">
                  <c:v>3</c:v>
                </c:pt>
                <c:pt idx="13">
                  <c:v>3.1</c:v>
                </c:pt>
                <c:pt idx="14">
                  <c:v>3.1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79B1-4374-912E-4BFF6424D4F7}"/>
            </c:ext>
          </c:extLst>
        </c:ser>
        <c:ser>
          <c:idx val="7"/>
          <c:order val="5"/>
          <c:tx>
            <c:strRef>
              <c:f>Race!$I$1</c:f>
              <c:strCache>
                <c:ptCount val="1"/>
                <c:pt idx="0">
                  <c:v>Overall</c:v>
                </c:pt>
              </c:strCache>
            </c:strRef>
          </c:tx>
          <c:spPr>
            <a:ln w="44450" cap="rnd">
              <a:solidFill>
                <a:schemeClr val="tx1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cat>
            <c:numRef>
              <c:f>Race!$A$2:$A$16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Race!$I$18:$I$32</c:f>
              <c:numCache>
                <c:formatCode>General</c:formatCode>
                <c:ptCount val="15"/>
                <c:pt idx="0">
                  <c:v>5.9</c:v>
                </c:pt>
                <c:pt idx="1">
                  <c:v>6</c:v>
                </c:pt>
                <c:pt idx="2">
                  <c:v>5.4</c:v>
                </c:pt>
                <c:pt idx="3">
                  <c:v>5.4</c:v>
                </c:pt>
                <c:pt idx="4">
                  <c:v>5.0999999999999996</c:v>
                </c:pt>
                <c:pt idx="5">
                  <c:v>5.0999999999999996</c:v>
                </c:pt>
                <c:pt idx="6">
                  <c:v>4.9000000000000004</c:v>
                </c:pt>
                <c:pt idx="7">
                  <c:v>5.0999999999999996</c:v>
                </c:pt>
                <c:pt idx="8">
                  <c:v>5.5</c:v>
                </c:pt>
                <c:pt idx="9">
                  <c:v>5.5</c:v>
                </c:pt>
                <c:pt idx="10">
                  <c:v>5.5</c:v>
                </c:pt>
                <c:pt idx="11">
                  <c:v>5.9</c:v>
                </c:pt>
                <c:pt idx="12">
                  <c:v>5.4</c:v>
                </c:pt>
                <c:pt idx="13">
                  <c:v>5.0999999999999996</c:v>
                </c:pt>
                <c:pt idx="14">
                  <c:v>4.8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79B1-4374-912E-4BFF6424D4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24155552"/>
        <c:axId val="624155968"/>
      </c:lineChart>
      <c:catAx>
        <c:axId val="6241555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24155968"/>
        <c:crosses val="autoZero"/>
        <c:auto val="1"/>
        <c:lblAlgn val="ctr"/>
        <c:lblOffset val="100"/>
        <c:tickLblSkip val="2"/>
        <c:noMultiLvlLbl val="0"/>
      </c:catAx>
      <c:valAx>
        <c:axId val="624155968"/>
        <c:scaling>
          <c:orientation val="minMax"/>
          <c:max val="1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CKD Stages 3-5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241555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8.0839895013123356E-4"/>
          <c:y val="0.72922287839020128"/>
          <c:w val="0.99560883639545061"/>
          <c:h val="0.2324085864902487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4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Race!$B$34</c:f>
              <c:strCache>
                <c:ptCount val="1"/>
                <c:pt idx="0">
                  <c:v>White</c:v>
                </c:pt>
              </c:strCache>
            </c:strRef>
          </c:tx>
          <c:spPr>
            <a:ln w="444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Race!$A$35:$A$49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Race!$B$51:$B$65</c:f>
              <c:numCache>
                <c:formatCode>0.0</c:formatCode>
                <c:ptCount val="15"/>
                <c:pt idx="0">
                  <c:v>5.7</c:v>
                </c:pt>
                <c:pt idx="1">
                  <c:v>5.8</c:v>
                </c:pt>
                <c:pt idx="2">
                  <c:v>5.3</c:v>
                </c:pt>
                <c:pt idx="3">
                  <c:v>5.4</c:v>
                </c:pt>
                <c:pt idx="4">
                  <c:v>5</c:v>
                </c:pt>
                <c:pt idx="5">
                  <c:v>4.9000000000000004</c:v>
                </c:pt>
                <c:pt idx="6">
                  <c:v>4.7</c:v>
                </c:pt>
                <c:pt idx="7">
                  <c:v>4.9000000000000004</c:v>
                </c:pt>
                <c:pt idx="8">
                  <c:v>5.2</c:v>
                </c:pt>
                <c:pt idx="9">
                  <c:v>5.2</c:v>
                </c:pt>
                <c:pt idx="10">
                  <c:v>5.2</c:v>
                </c:pt>
                <c:pt idx="11">
                  <c:v>5.5</c:v>
                </c:pt>
                <c:pt idx="12">
                  <c:v>5.0999999999999996</c:v>
                </c:pt>
                <c:pt idx="13">
                  <c:v>4.9000000000000004</c:v>
                </c:pt>
                <c:pt idx="14">
                  <c:v>4.5999999999999996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067-4DA8-B0C2-E5815162C739}"/>
            </c:ext>
          </c:extLst>
        </c:ser>
        <c:ser>
          <c:idx val="1"/>
          <c:order val="1"/>
          <c:tx>
            <c:strRef>
              <c:f>Race!$C$34</c:f>
              <c:strCache>
                <c:ptCount val="1"/>
                <c:pt idx="0">
                  <c:v>Black</c:v>
                </c:pt>
              </c:strCache>
            </c:strRef>
          </c:tx>
          <c:spPr>
            <a:ln w="444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Race!$A$35:$A$49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Race!$C$51:$C$65</c:f>
              <c:numCache>
                <c:formatCode>0.0</c:formatCode>
                <c:ptCount val="15"/>
                <c:pt idx="0">
                  <c:v>11.2</c:v>
                </c:pt>
                <c:pt idx="1">
                  <c:v>11</c:v>
                </c:pt>
                <c:pt idx="2">
                  <c:v>10.199999999999999</c:v>
                </c:pt>
                <c:pt idx="3">
                  <c:v>10</c:v>
                </c:pt>
                <c:pt idx="4">
                  <c:v>9.6999999999999993</c:v>
                </c:pt>
                <c:pt idx="5">
                  <c:v>9.6</c:v>
                </c:pt>
                <c:pt idx="6">
                  <c:v>9.5</c:v>
                </c:pt>
                <c:pt idx="7">
                  <c:v>9.8000000000000007</c:v>
                </c:pt>
                <c:pt idx="8">
                  <c:v>10.3</c:v>
                </c:pt>
                <c:pt idx="9">
                  <c:v>10.3</c:v>
                </c:pt>
                <c:pt idx="10">
                  <c:v>10.5</c:v>
                </c:pt>
                <c:pt idx="11">
                  <c:v>10.9</c:v>
                </c:pt>
                <c:pt idx="12">
                  <c:v>10.3</c:v>
                </c:pt>
                <c:pt idx="13">
                  <c:v>10</c:v>
                </c:pt>
                <c:pt idx="14">
                  <c:v>9.6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067-4DA8-B0C2-E5815162C739}"/>
            </c:ext>
          </c:extLst>
        </c:ser>
        <c:ser>
          <c:idx val="2"/>
          <c:order val="2"/>
          <c:tx>
            <c:strRef>
              <c:f>Race!$D$34</c:f>
              <c:strCache>
                <c:ptCount val="1"/>
                <c:pt idx="0">
                  <c:v>American Indian/Alaska Native</c:v>
                </c:pt>
              </c:strCache>
            </c:strRef>
          </c:tx>
          <c:spPr>
            <a:ln w="444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numRef>
              <c:f>Race!$A$35:$A$49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Race!$D$51:$D$65</c:f>
              <c:numCache>
                <c:formatCode>0.0</c:formatCode>
                <c:ptCount val="15"/>
                <c:pt idx="0">
                  <c:v>6.5</c:v>
                </c:pt>
                <c:pt idx="1">
                  <c:v>6.6</c:v>
                </c:pt>
                <c:pt idx="2">
                  <c:v>5.4</c:v>
                </c:pt>
                <c:pt idx="3">
                  <c:v>5.8</c:v>
                </c:pt>
                <c:pt idx="4">
                  <c:v>3.9</c:v>
                </c:pt>
                <c:pt idx="5">
                  <c:v>5.0999999999999996</c:v>
                </c:pt>
                <c:pt idx="6">
                  <c:v>5.2</c:v>
                </c:pt>
                <c:pt idx="7">
                  <c:v>4.5999999999999996</c:v>
                </c:pt>
                <c:pt idx="8">
                  <c:v>5</c:v>
                </c:pt>
                <c:pt idx="9">
                  <c:v>5.0999999999999996</c:v>
                </c:pt>
                <c:pt idx="10">
                  <c:v>5.2</c:v>
                </c:pt>
                <c:pt idx="11">
                  <c:v>5.6</c:v>
                </c:pt>
                <c:pt idx="12">
                  <c:v>5.2</c:v>
                </c:pt>
                <c:pt idx="13">
                  <c:v>4.7</c:v>
                </c:pt>
                <c:pt idx="14">
                  <c:v>4.7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067-4DA8-B0C2-E5815162C739}"/>
            </c:ext>
          </c:extLst>
        </c:ser>
        <c:ser>
          <c:idx val="3"/>
          <c:order val="3"/>
          <c:tx>
            <c:strRef>
              <c:f>Race!$E$34</c:f>
              <c:strCache>
                <c:ptCount val="1"/>
                <c:pt idx="0">
                  <c:v>Asian American/Pacific Islander</c:v>
                </c:pt>
              </c:strCache>
            </c:strRef>
          </c:tx>
          <c:spPr>
            <a:ln w="444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numRef>
              <c:f>Race!$A$35:$A$49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Race!$E$51:$E$65</c:f>
              <c:numCache>
                <c:formatCode>0.0</c:formatCode>
                <c:ptCount val="15"/>
                <c:pt idx="0">
                  <c:v>4.8</c:v>
                </c:pt>
                <c:pt idx="1">
                  <c:v>4.8</c:v>
                </c:pt>
                <c:pt idx="2">
                  <c:v>4.3</c:v>
                </c:pt>
                <c:pt idx="3">
                  <c:v>4.5</c:v>
                </c:pt>
                <c:pt idx="4">
                  <c:v>4.3</c:v>
                </c:pt>
                <c:pt idx="5">
                  <c:v>4.0999999999999996</c:v>
                </c:pt>
                <c:pt idx="6">
                  <c:v>4</c:v>
                </c:pt>
                <c:pt idx="7">
                  <c:v>4.0999999999999996</c:v>
                </c:pt>
                <c:pt idx="8">
                  <c:v>4.5</c:v>
                </c:pt>
                <c:pt idx="9">
                  <c:v>4.5</c:v>
                </c:pt>
                <c:pt idx="10">
                  <c:v>4.5999999999999996</c:v>
                </c:pt>
                <c:pt idx="11">
                  <c:v>5</c:v>
                </c:pt>
                <c:pt idx="12">
                  <c:v>4.5</c:v>
                </c:pt>
                <c:pt idx="13">
                  <c:v>4.5999999999999996</c:v>
                </c:pt>
                <c:pt idx="14">
                  <c:v>4.2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067-4DA8-B0C2-E5815162C739}"/>
            </c:ext>
          </c:extLst>
        </c:ser>
        <c:ser>
          <c:idx val="4"/>
          <c:order val="4"/>
          <c:tx>
            <c:strRef>
              <c:f>Race!$F$34</c:f>
              <c:strCache>
                <c:ptCount val="1"/>
                <c:pt idx="0">
                  <c:v>Other</c:v>
                </c:pt>
              </c:strCache>
            </c:strRef>
          </c:tx>
          <c:spPr>
            <a:ln w="44450" cap="rnd">
              <a:solidFill>
                <a:srgbClr val="70AD47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70AD47"/>
              </a:solidFill>
              <a:ln w="9525">
                <a:solidFill>
                  <a:srgbClr val="70AD47"/>
                </a:solidFill>
              </a:ln>
              <a:effectLst/>
            </c:spPr>
          </c:marker>
          <c:cat>
            <c:numRef>
              <c:f>Race!$A$35:$A$49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Race!$F$51:$F$65</c:f>
              <c:numCache>
                <c:formatCode>0.0</c:formatCode>
                <c:ptCount val="15"/>
                <c:pt idx="0">
                  <c:v>5.9</c:v>
                </c:pt>
                <c:pt idx="1">
                  <c:v>6.4</c:v>
                </c:pt>
                <c:pt idx="2">
                  <c:v>5.2</c:v>
                </c:pt>
                <c:pt idx="3">
                  <c:v>5.8</c:v>
                </c:pt>
                <c:pt idx="4">
                  <c:v>5.0999999999999996</c:v>
                </c:pt>
                <c:pt idx="5">
                  <c:v>5</c:v>
                </c:pt>
                <c:pt idx="6">
                  <c:v>5.0999999999999996</c:v>
                </c:pt>
                <c:pt idx="7">
                  <c:v>4.7</c:v>
                </c:pt>
                <c:pt idx="8">
                  <c:v>5.4</c:v>
                </c:pt>
                <c:pt idx="9">
                  <c:v>4.8</c:v>
                </c:pt>
                <c:pt idx="10">
                  <c:v>5</c:v>
                </c:pt>
                <c:pt idx="11">
                  <c:v>4.9000000000000004</c:v>
                </c:pt>
                <c:pt idx="12">
                  <c:v>4.3</c:v>
                </c:pt>
                <c:pt idx="13">
                  <c:v>4.3</c:v>
                </c:pt>
                <c:pt idx="14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F067-4DA8-B0C2-E5815162C739}"/>
            </c:ext>
          </c:extLst>
        </c:ser>
        <c:ser>
          <c:idx val="7"/>
          <c:order val="5"/>
          <c:tx>
            <c:strRef>
              <c:f>Race!$I$34</c:f>
              <c:strCache>
                <c:ptCount val="1"/>
                <c:pt idx="0">
                  <c:v>Overall</c:v>
                </c:pt>
              </c:strCache>
            </c:strRef>
          </c:tx>
          <c:spPr>
            <a:ln w="44450" cap="rnd">
              <a:solidFill>
                <a:schemeClr val="tx1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cat>
            <c:numRef>
              <c:f>Race!$A$35:$A$49</c:f>
              <c:numCache>
                <c:formatCode>General</c:formatCode>
                <c:ptCount val="15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</c:numCache>
            </c:numRef>
          </c:cat>
          <c:val>
            <c:numRef>
              <c:f>Race!$I$51:$I$65</c:f>
              <c:numCache>
                <c:formatCode>0.0</c:formatCode>
                <c:ptCount val="15"/>
                <c:pt idx="0">
                  <c:v>7.7</c:v>
                </c:pt>
                <c:pt idx="1">
                  <c:v>7.6</c:v>
                </c:pt>
                <c:pt idx="2">
                  <c:v>7</c:v>
                </c:pt>
                <c:pt idx="3">
                  <c:v>7</c:v>
                </c:pt>
                <c:pt idx="4">
                  <c:v>6.5</c:v>
                </c:pt>
                <c:pt idx="5">
                  <c:v>6.3</c:v>
                </c:pt>
                <c:pt idx="6">
                  <c:v>6</c:v>
                </c:pt>
                <c:pt idx="7">
                  <c:v>6.2</c:v>
                </c:pt>
                <c:pt idx="8">
                  <c:v>6.5</c:v>
                </c:pt>
                <c:pt idx="9">
                  <c:v>6.4</c:v>
                </c:pt>
                <c:pt idx="10">
                  <c:v>6.5</c:v>
                </c:pt>
                <c:pt idx="11">
                  <c:v>6.6</c:v>
                </c:pt>
                <c:pt idx="12">
                  <c:v>6.2</c:v>
                </c:pt>
                <c:pt idx="13">
                  <c:v>5.9</c:v>
                </c:pt>
                <c:pt idx="14">
                  <c:v>5.6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F067-4DA8-B0C2-E5815162C7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26186720"/>
        <c:axId val="626185056"/>
      </c:lineChart>
      <c:catAx>
        <c:axId val="626186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26185056"/>
        <c:crosses val="autoZero"/>
        <c:auto val="1"/>
        <c:lblAlgn val="ctr"/>
        <c:lblOffset val="100"/>
        <c:tickLblSkip val="2"/>
        <c:noMultiLvlLbl val="0"/>
      </c:catAx>
      <c:valAx>
        <c:axId val="626185056"/>
        <c:scaling>
          <c:orientation val="minMax"/>
          <c:max val="1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CKD Stages 3-5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261867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5328083989501313E-3"/>
          <c:y val="0.72081627296587913"/>
          <c:w val="0.99846719160104991"/>
          <c:h val="0.2291837270341207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4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B8449-2E43-4B34-AFB5-42CA0AD23B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" y="2178844"/>
            <a:ext cx="11338560" cy="1594369"/>
          </a:xfrm>
        </p:spPr>
        <p:txBody>
          <a:bodyPr anchor="b"/>
          <a:lstStyle>
            <a:lvl1pPr algn="ctr">
              <a:defRPr sz="44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66D807-1E0F-4F52-92E5-9827BB931C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280" y="3888828"/>
            <a:ext cx="11521440" cy="1881352"/>
          </a:xfrm>
        </p:spPr>
        <p:txBody>
          <a:bodyPr/>
          <a:lstStyle>
            <a:lvl1pPr marL="0" indent="0" algn="ctr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0F046-36EC-4A13-89A5-0CC29AB4D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4A129-0606-4903-A165-D0B38864E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D1445-FE16-4B3E-957E-1E23368435A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blue and white sign&#10;&#10;Description automatically generated">
            <a:extLst>
              <a:ext uri="{FF2B5EF4-FFF2-40B4-BE49-F238E27FC236}">
                <a16:creationId xmlns:a16="http://schemas.microsoft.com/office/drawing/2014/main" id="{EF8D5BE6-2B49-4430-B3CC-EC848085B2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5232" y="329025"/>
            <a:ext cx="7541536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330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7F23F-F86B-41BA-A6AA-1A3F17EB3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B79402-AB80-4C31-A14F-82C076FDE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92937"/>
            <a:ext cx="114300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D2CB6-1D80-4081-86FB-B15DD03DA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7D939-328E-4FDC-8520-F2EE74C8E8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CB740-D754-48D4-9589-4E1B5CCB6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A1B60-B2EB-45FC-99A5-2CEE060FA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D1445-FE16-4B3E-957E-1E23368435A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blue and white sign&#10;&#10;Description automatically generated">
            <a:extLst>
              <a:ext uri="{FF2B5EF4-FFF2-40B4-BE49-F238E27FC236}">
                <a16:creationId xmlns:a16="http://schemas.microsoft.com/office/drawing/2014/main" id="{CE5B4ECC-CA9A-4DD6-BBC4-5B5CA7B419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46" y="6082166"/>
            <a:ext cx="2639537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317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294DA-8682-47BA-801B-4A312533F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4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786CDE-F4D9-4130-9F65-C19EC77EE4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EDE1F-53E5-4C5C-B1DC-D69BEDE4F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7D939-328E-4FDC-8520-F2EE74C8E8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7E355-DA7E-4665-99AA-D63311089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F42E0-1332-4ADF-BB40-D707772FE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D1445-FE16-4B3E-957E-1E23368435A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blue and white sign&#10;&#10;Description automatically generated">
            <a:extLst>
              <a:ext uri="{FF2B5EF4-FFF2-40B4-BE49-F238E27FC236}">
                <a16:creationId xmlns:a16="http://schemas.microsoft.com/office/drawing/2014/main" id="{021B1473-E230-4424-88C9-096E878C3A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5232" y="329025"/>
            <a:ext cx="7541536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381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B8B7E-E383-41B8-83DC-BCBAEFF2A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4E0F6-218D-4666-93AB-CC5CB0352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BB6129-B622-4C6C-9627-E2D34A72A1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2E2F8A-DDB4-40D8-BC9A-9F8C601A1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7D939-328E-4FDC-8520-F2EE74C8E8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ED8514-39E9-463F-9D6D-BA2F1E4B8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5628B1-4B31-46D1-9943-288C2CFAA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D1445-FE16-4B3E-957E-1E23368435A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blue and white sign&#10;&#10;Description automatically generated">
            <a:extLst>
              <a:ext uri="{FF2B5EF4-FFF2-40B4-BE49-F238E27FC236}">
                <a16:creationId xmlns:a16="http://schemas.microsoft.com/office/drawing/2014/main" id="{8EDFA2D4-658B-4CFA-90B4-6D3C81B195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46" y="6082166"/>
            <a:ext cx="2639537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948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5F42C-D912-40D5-B069-2EBDDB21F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4FE388-458A-4BFC-8B5B-E2338FA75A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E71131-2939-4333-BE32-6B971E6D91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D687D6-AE10-483D-8497-199549CC35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B0C9B6-845A-427D-8890-7FF14752BD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56D4DF-7BF9-4656-9E74-1978BF3C3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7D939-328E-4FDC-8520-F2EE74C8E8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118974-B101-4E89-B490-F9C18CF57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7DF8C8-6B1A-46AB-B0B9-0B1486618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D1445-FE16-4B3E-957E-1E23368435AF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A blue and white sign&#10;&#10;Description automatically generated">
            <a:extLst>
              <a:ext uri="{FF2B5EF4-FFF2-40B4-BE49-F238E27FC236}">
                <a16:creationId xmlns:a16="http://schemas.microsoft.com/office/drawing/2014/main" id="{288D87A5-8AAA-4E59-8F47-23DB04B752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46" y="6082166"/>
            <a:ext cx="2639537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978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592C9-40CD-4BC2-AA2D-942CC7600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C8478D-ABC5-4F57-99D5-D5C201F52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7D939-328E-4FDC-8520-F2EE74C8E8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8C8747-5D3F-46B5-985C-DAC1E17CE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0AA2AB-2FF6-44C7-A235-F093DF30C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D1445-FE16-4B3E-957E-1E23368435AF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 descr="A blue and white sign&#10;&#10;Description automatically generated">
            <a:extLst>
              <a:ext uri="{FF2B5EF4-FFF2-40B4-BE49-F238E27FC236}">
                <a16:creationId xmlns:a16="http://schemas.microsoft.com/office/drawing/2014/main" id="{F220FB18-732D-4555-9511-BE496C6298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46" y="6082166"/>
            <a:ext cx="2639537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683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6F6823-A8E4-41B5-AABF-7E50AB944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7D939-328E-4FDC-8520-F2EE74C8E8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E33D15-14C9-4533-A0B2-E17FCF5BA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E63C01-7C52-4C05-B87A-E55AEC070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D1445-FE16-4B3E-957E-1E23368435AF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 descr="A blue and white sign&#10;&#10;Description automatically generated">
            <a:extLst>
              <a:ext uri="{FF2B5EF4-FFF2-40B4-BE49-F238E27FC236}">
                <a16:creationId xmlns:a16="http://schemas.microsoft.com/office/drawing/2014/main" id="{1800F7B6-564D-454C-8D78-AAFB76F65D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46" y="6082166"/>
            <a:ext cx="2639537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512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A31D2-9A00-45DB-A47F-9F571777F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AAFDC-A042-4571-8E47-321A4016E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DD1982-1467-44BE-898D-FDE749B742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D64EBC-62D2-4411-B172-EB0CAA250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7D939-328E-4FDC-8520-F2EE74C8E8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D270BC-E6DC-49B9-94D8-2DFC8079D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201F3D-733C-4F46-80D5-9CEB97054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D1445-FE16-4B3E-957E-1E23368435A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blue and white sign&#10;&#10;Description automatically generated">
            <a:extLst>
              <a:ext uri="{FF2B5EF4-FFF2-40B4-BE49-F238E27FC236}">
                <a16:creationId xmlns:a16="http://schemas.microsoft.com/office/drawing/2014/main" id="{8AAFF090-4748-4CEB-82FE-B8DC75C44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46" y="6082166"/>
            <a:ext cx="2639537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95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E1E9C-B474-4962-83D4-0F95B2D05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891AEC-7DE2-4B8B-BF1B-C9E9B2488D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628899-8ED1-47C9-90C3-9AB19FF89C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F948AA-B4CB-40C1-989C-1976A6683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7D939-328E-4FDC-8520-F2EE74C8E8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FE994E-4C08-4134-AA8F-7F0FB57B4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B27BB6-3A58-4F48-9C34-230B6476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D1445-FE16-4B3E-957E-1E23368435A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blue and white sign&#10;&#10;Description automatically generated">
            <a:extLst>
              <a:ext uri="{FF2B5EF4-FFF2-40B4-BE49-F238E27FC236}">
                <a16:creationId xmlns:a16="http://schemas.microsoft.com/office/drawing/2014/main" id="{6551F537-C48C-4D91-AF2C-B859394486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46" y="6082166"/>
            <a:ext cx="2639537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440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FE83A-2FF1-4212-A7D8-F2547F723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DF2CD3-4A3B-4BB5-A8C6-93515C840F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8E1338-8E14-4E12-8514-B8F7581CA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7D939-328E-4FDC-8520-F2EE74C8E8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344247-AED8-4BE5-97FF-55E5D2900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3D25E-9B75-4BDF-BE71-685AF58A3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D1445-FE16-4B3E-957E-1E2336843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967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555AC4-0A12-4AF2-BD32-F89BA4E329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311FD-96A5-4F2E-9CC1-A1537DF2F7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43FE6-D7D9-42A7-A93F-97596BFC8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7D939-328E-4FDC-8520-F2EE74C8E8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A1973-370D-4668-BF90-3DBF1A43D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5534F-0704-4F83-B361-02989C4F3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D1445-FE16-4B3E-957E-1E2336843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514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6A2EFD-5BC8-486D-AC05-C88192EE0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8D6EF7-BE2E-44A6-A579-2EB131557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E8898-A5C2-4AD9-9375-B6EEEF8746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A7D939-328E-4FDC-8520-F2EE74C8E8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FB22A-4D3A-4BD5-9047-B2647995E7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6F5A4-D87B-4D75-B420-FEC8927543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DD1445-FE16-4B3E-957E-1E2336843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085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2A1A5-5901-4D11-B662-CE7944B91E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Trends in Prevalence of CKD Stages 3–5 in the Military Health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6C52F4-F03A-4F43-9343-FB6677EEF3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280" y="3888827"/>
            <a:ext cx="11521440" cy="2212427"/>
          </a:xfrm>
        </p:spPr>
        <p:txBody>
          <a:bodyPr>
            <a:normAutofit/>
          </a:bodyPr>
          <a:lstStyle/>
          <a:p>
            <a:pPr algn="l"/>
            <a:r>
              <a:rPr lang="en-US" sz="2000" dirty="0">
                <a:effectLst/>
                <a:latin typeface="+mn-lt"/>
                <a:ea typeface="Times New Roman" panose="02020603050405020304" pitchFamily="18" charset="0"/>
              </a:rPr>
              <a:t>The crude prevalence of Military Health System (MHS) beneficiaries with CKD stages 3–5 (estimated glomerular filtration rate [eGFR] &lt;60 ml/min/1.73</a:t>
            </a:r>
            <a:r>
              <a:rPr lang="en-US" sz="2000" baseline="30000" dirty="0">
                <a:effectLst/>
                <a:latin typeface="+mn-lt"/>
                <a:ea typeface="Times New Roman" panose="02020603050405020304" pitchFamily="18" charset="0"/>
              </a:rPr>
              <a:t>2</a:t>
            </a:r>
            <a:r>
              <a:rPr lang="en-US" sz="2000" dirty="0">
                <a:effectLst/>
                <a:latin typeface="+mn-lt"/>
                <a:ea typeface="Times New Roman" panose="02020603050405020304" pitchFamily="18" charset="0"/>
              </a:rPr>
              <a:t>) ranged from 5.9% to 4.</a:t>
            </a:r>
            <a:r>
              <a:rPr lang="en-US" sz="2000" dirty="0">
                <a:effectLst/>
                <a:latin typeface="+mn-lt"/>
                <a:ea typeface="Malgun Gothic" panose="020B0503020000020004" pitchFamily="34" charset="-127"/>
              </a:rPr>
              <a:t>8</a:t>
            </a:r>
            <a:r>
              <a:rPr lang="en-US" sz="2000" dirty="0">
                <a:effectLst/>
                <a:latin typeface="+mn-lt"/>
                <a:ea typeface="Times New Roman" panose="02020603050405020304" pitchFamily="18" charset="0"/>
              </a:rPr>
              <a:t>% during 2009–202</a:t>
            </a:r>
            <a:r>
              <a:rPr lang="en-US" sz="2000" dirty="0">
                <a:effectLst/>
                <a:latin typeface="+mn-lt"/>
                <a:ea typeface="Malgun Gothic" panose="020B0503020000020004" pitchFamily="34" charset="-127"/>
              </a:rPr>
              <a:t>3</a:t>
            </a:r>
            <a:r>
              <a:rPr lang="en-US" sz="2000" dirty="0">
                <a:effectLst/>
                <a:latin typeface="+mn-lt"/>
                <a:ea typeface="Times New Roman" panose="02020603050405020304" pitchFamily="18" charset="0"/>
              </a:rPr>
              <a:t>. The age-standardized prevalence decreased from </a:t>
            </a:r>
            <a:r>
              <a:rPr lang="en-US" sz="2000" dirty="0">
                <a:effectLst/>
                <a:latin typeface="+mn-lt"/>
                <a:ea typeface="Malgun Gothic" panose="020B0503020000020004" pitchFamily="34" charset="-127"/>
              </a:rPr>
              <a:t>7.7</a:t>
            </a:r>
            <a:r>
              <a:rPr lang="en-US" sz="2000" dirty="0">
                <a:effectLst/>
                <a:latin typeface="+mn-lt"/>
                <a:ea typeface="Times New Roman" panose="02020603050405020304" pitchFamily="18" charset="0"/>
              </a:rPr>
              <a:t>% to 5.6%. The crude prevalence of CKD stages 3–5 was highest in adults aged ≥70 years and Black adults</a:t>
            </a:r>
            <a:r>
              <a:rPr lang="en-US" sz="2000" dirty="0">
                <a:effectLst/>
                <a:latin typeface="+mn-lt"/>
                <a:ea typeface="Malgun Gothic" panose="020B0503020000020004" pitchFamily="34" charset="-127"/>
              </a:rPr>
              <a:t> (among those with known race and ethnicity)</a:t>
            </a:r>
            <a:r>
              <a:rPr lang="en-US" sz="2000" dirty="0">
                <a:effectLst/>
                <a:latin typeface="+mn-lt"/>
                <a:ea typeface="Times New Roman" panose="02020603050405020304" pitchFamily="18" charset="0"/>
              </a:rPr>
              <a:t>. The age-standardized prevalence was higher in Black adults compared with their counterparts. </a:t>
            </a:r>
            <a:endParaRPr lang="en-US" sz="2000" dirty="0">
              <a:latin typeface="+mn-lt"/>
            </a:endParaRPr>
          </a:p>
          <a:p>
            <a:pPr algn="l"/>
            <a:r>
              <a:rPr lang="en-US" sz="2000" b="1" dirty="0">
                <a:latin typeface="+mn-lt"/>
              </a:rPr>
              <a:t>Data Source: </a:t>
            </a:r>
            <a:r>
              <a:rPr lang="en-US" sz="2000" dirty="0">
                <a:latin typeface="+mn-lt"/>
              </a:rPr>
              <a:t>MHS</a:t>
            </a:r>
            <a:endParaRPr lang="en-US" sz="2000" b="1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B66615-BC02-4DD4-8022-7F24754CAA39}"/>
              </a:ext>
            </a:extLst>
          </p:cNvPr>
          <p:cNvSpPr txBox="1"/>
          <p:nvPr/>
        </p:nvSpPr>
        <p:spPr>
          <a:xfrm>
            <a:off x="3584701" y="6211555"/>
            <a:ext cx="502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Add Link to indicator</a:t>
            </a:r>
          </a:p>
        </p:txBody>
      </p:sp>
    </p:spTree>
    <p:extLst>
      <p:ext uri="{BB962C8B-B14F-4D97-AF65-F5344CB8AC3E}">
        <p14:creationId xmlns:p14="http://schemas.microsoft.com/office/powerpoint/2010/main" val="323948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16C50-B4E6-454B-9087-E804E2D11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Trends in Prevalence of CKD Stages 3–5 in the Military Health System, Crude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4FC3E75F-0767-423E-840B-295016064A4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31611922"/>
              </p:ext>
            </p:extLst>
          </p:nvPr>
        </p:nvGraphicFramePr>
        <p:xfrm>
          <a:off x="381000" y="1692937"/>
          <a:ext cx="11430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78853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16C50-B4E6-454B-9087-E804E2D11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Trends in Prevalence of CKD Stages 3–5 in the Military Health System, Age Standardized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38F00509-39FA-4CC4-8AFB-00F057F941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25451839"/>
              </p:ext>
            </p:extLst>
          </p:nvPr>
        </p:nvGraphicFramePr>
        <p:xfrm>
          <a:off x="381000" y="1692937"/>
          <a:ext cx="11430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22233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16C50-B4E6-454B-9087-E804E2D11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Trends in Prevalence of CKD Stages 3–5 in the Military Health System by Age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43D977C-6A16-4F62-BBCD-8C77136611B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60146555"/>
              </p:ext>
            </p:extLst>
          </p:nvPr>
        </p:nvGraphicFramePr>
        <p:xfrm>
          <a:off x="381000" y="1692937"/>
          <a:ext cx="11430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75898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16C50-B4E6-454B-9087-E804E2D11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Trends in Prevalence of CKD Stages 3–5 in the Military Health System by Sex, Crude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11B6EB87-F0C1-4004-8F25-CD4C56EB3C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02100227"/>
              </p:ext>
            </p:extLst>
          </p:nvPr>
        </p:nvGraphicFramePr>
        <p:xfrm>
          <a:off x="381000" y="1692937"/>
          <a:ext cx="11430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13013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16C50-B4E6-454B-9087-E804E2D11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sz="4100"/>
              <a:t>Trends in Prevalence of CKD Stages 3–5 in the Military Health System by Sex, Age standardized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BB79CF89-E759-4922-9ECC-ACF5C7CAE9C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11267666"/>
              </p:ext>
            </p:extLst>
          </p:nvPr>
        </p:nvGraphicFramePr>
        <p:xfrm>
          <a:off x="381000" y="1692937"/>
          <a:ext cx="11430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63339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16C50-B4E6-454B-9087-E804E2D11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sz="4100" dirty="0"/>
              <a:t>Trends in Prevalence of CKD Stages 3–5 in the Military Health System by Race/Ethnicity, Crude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1D8F915-D845-43B8-A9ED-994BED830F1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4363723"/>
              </p:ext>
            </p:extLst>
          </p:nvPr>
        </p:nvGraphicFramePr>
        <p:xfrm>
          <a:off x="381000" y="1692937"/>
          <a:ext cx="11430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0261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16C50-B4E6-454B-9087-E804E2D11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sz="3700"/>
              <a:t>Trends in Prevalence of CKD Stages 3–5 in the Military Health System by Race/Ethnicity, Age Standardized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943E5C6D-0846-4D38-BE5A-7285D8D9355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93839170"/>
              </p:ext>
            </p:extLst>
          </p:nvPr>
        </p:nvGraphicFramePr>
        <p:xfrm>
          <a:off x="381000" y="1692937"/>
          <a:ext cx="11430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73443158"/>
      </p:ext>
    </p:extLst>
  </p:cSld>
  <p:clrMapOvr>
    <a:masterClrMapping/>
  </p:clrMapOvr>
</p:sld>
</file>

<file path=ppt/theme/theme1.xml><?xml version="1.0" encoding="utf-8"?>
<a:theme xmlns:a="http://schemas.openxmlformats.org/drawingml/2006/main" name="KDSS indicator downloads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 template for KDSS indicator downloads" id="{5C6D22D6-B8C2-4CC9-8270-3716F03D486C}" vid="{6854CA39-71F8-4600-8AEC-7156B3C3DB8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749bc8e-1545-4b42-a651-f1b0ccdc5fa5">
      <Terms xmlns="http://schemas.microsoft.com/office/infopath/2007/PartnerControls"/>
    </lcf76f155ced4ddcb4097134ff3c332f>
    <TaxCatchAll xmlns="8e022c51-0240-47ac-b7b0-09a2f308677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0BC9B24C2BC4648A822105B302116B0" ma:contentTypeVersion="10" ma:contentTypeDescription="Create a new document." ma:contentTypeScope="" ma:versionID="581fb2d9703863f3db532522de69a7d8">
  <xsd:schema xmlns:xsd="http://www.w3.org/2001/XMLSchema" xmlns:xs="http://www.w3.org/2001/XMLSchema" xmlns:p="http://schemas.microsoft.com/office/2006/metadata/properties" xmlns:ns2="5749bc8e-1545-4b42-a651-f1b0ccdc5fa5" xmlns:ns3="8e022c51-0240-47ac-b7b0-09a2f3086777" targetNamespace="http://schemas.microsoft.com/office/2006/metadata/properties" ma:root="true" ma:fieldsID="96cb22f3222442646e545c3c1fc94001" ns2:_="" ns3:_="">
    <xsd:import namespace="5749bc8e-1545-4b42-a651-f1b0ccdc5fa5"/>
    <xsd:import namespace="8e022c51-0240-47ac-b7b0-09a2f30867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49bc8e-1545-4b42-a651-f1b0ccdc5f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cae6c5d7-b21f-4aaa-ac91-296ecc6194c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022c51-0240-47ac-b7b0-09a2f30867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f07c378-3462-46dc-a28e-833745c64bfd}" ma:internalName="TaxCatchAll" ma:showField="CatchAllData" ma:web="8e022c51-0240-47ac-b7b0-09a2f30867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10DEA2A-2DDF-474E-9239-B8EC4647655C}">
  <ds:schemaRefs>
    <ds:schemaRef ds:uri="http://schemas.microsoft.com/office/2006/metadata/properties"/>
    <ds:schemaRef ds:uri="http://schemas.microsoft.com/office/infopath/2007/PartnerControls"/>
    <ds:schemaRef ds:uri="5749bc8e-1545-4b42-a651-f1b0ccdc5fa5"/>
    <ds:schemaRef ds:uri="8e022c51-0240-47ac-b7b0-09a2f3086777"/>
  </ds:schemaRefs>
</ds:datastoreItem>
</file>

<file path=customXml/itemProps2.xml><?xml version="1.0" encoding="utf-8"?>
<ds:datastoreItem xmlns:ds="http://schemas.openxmlformats.org/officeDocument/2006/customXml" ds:itemID="{5191AF3F-F6A5-42D5-A276-685BBDEEC7F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EF6F2BE-E755-4252-85C7-430D642210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749bc8e-1545-4b42-a651-f1b0ccdc5fa5"/>
    <ds:schemaRef ds:uri="8e022c51-0240-47ac-b7b0-09a2f30867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252</Words>
  <Application>Microsoft Office PowerPoint</Application>
  <PresentationFormat>Widescreen</PresentationFormat>
  <Paragraphs>18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KDSS indicator downloads template</vt:lpstr>
      <vt:lpstr>Trends in Prevalence of CKD Stages 3–5 in the Military Health System</vt:lpstr>
      <vt:lpstr>Trends in Prevalence of CKD Stages 3–5 in the Military Health System, Crude</vt:lpstr>
      <vt:lpstr>Trends in Prevalence of CKD Stages 3–5 in the Military Health System, Age Standardized</vt:lpstr>
      <vt:lpstr>Trends in Prevalence of CKD Stages 3–5 in the Military Health System by Age</vt:lpstr>
      <vt:lpstr>Trends in Prevalence of CKD Stages 3–5 in the Military Health System by Sex, Crude</vt:lpstr>
      <vt:lpstr>Trends in Prevalence of CKD Stages 3–5 in the Military Health System by Sex, Age standardized</vt:lpstr>
      <vt:lpstr>Trends in Prevalence of CKD Stages 3–5 in the Military Health System by Race/Ethnicity, Crude</vt:lpstr>
      <vt:lpstr>Trends in Prevalence of CKD Stages 3–5 in the Military Health System by Race/Ethnicity, Age Standardized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Trends in Prevalence of CKD Stages 3–5 in the Military Health System</dc:title>
  <dc:creator>Licon, Ana Laura</dc:creator>
  <cp:lastModifiedBy>Kime, Alexander</cp:lastModifiedBy>
  <cp:revision>6</cp:revision>
  <dcterms:created xsi:type="dcterms:W3CDTF">2025-12-23T18:37:38Z</dcterms:created>
  <dcterms:modified xsi:type="dcterms:W3CDTF">2026-05-13T19:38:37Z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0x01010050BC9B24C2BC4648A822105B302116B0</vt:lpwstr>
  </property>
  <property fmtid="{D5CDD505-2E9C-101B-9397-08002B2CF9AE}" pid="3" name="MSIP_Label_9a5e8a9d-1b12-42bd-9856-0af2bbe0ed89_Enabled">
    <vt:lpwstr>True</vt:lpwstr>
  </property>
  <property fmtid="{D5CDD505-2E9C-101B-9397-08002B2CF9AE}" pid="4" name="MSIP_Label_9a5e8a9d-1b12-42bd-9856-0af2bbe0ed89_SiteId">
    <vt:lpwstr>13af8d65-0b4b-4c0f-a446-a427419abfd6</vt:lpwstr>
  </property>
  <property fmtid="{D5CDD505-2E9C-101B-9397-08002B2CF9AE}" pid="5" name="MSIP_Label_9a5e8a9d-1b12-42bd-9856-0af2bbe0ed89_SetDate">
    <vt:lpwstr>2026-05-12T19:31:48Z</vt:lpwstr>
  </property>
  <property fmtid="{D5CDD505-2E9C-101B-9397-08002B2CF9AE}" pid="6" name="MSIP_Label_9a5e8a9d-1b12-42bd-9856-0af2bbe0ed89_Name">
    <vt:lpwstr>Confidential - Default</vt:lpwstr>
  </property>
  <property fmtid="{D5CDD505-2E9C-101B-9397-08002B2CF9AE}" pid="7" name="MSIP_Label_9a5e8a9d-1b12-42bd-9856-0af2bbe0ed89_ActionId">
    <vt:lpwstr>60091521-6343-4f6f-8003-a51e9d70bed2</vt:lpwstr>
  </property>
  <property fmtid="{D5CDD505-2E9C-101B-9397-08002B2CF9AE}" pid="8" name="MSIP_Label_9a5e8a9d-1b12-42bd-9856-0af2bbe0ed89_Removed">
    <vt:lpwstr>False</vt:lpwstr>
  </property>
  <property fmtid="{D5CDD505-2E9C-101B-9397-08002B2CF9AE}" pid="9" name="MSIP_Label_9a5e8a9d-1b12-42bd-9856-0af2bbe0ed89_Extended_MSFT_Method">
    <vt:lpwstr>Standard</vt:lpwstr>
  </property>
  <property fmtid="{D5CDD505-2E9C-101B-9397-08002B2CF9AE}" pid="10" name="Sensitivity">
    <vt:lpwstr>Confidential - Default</vt:lpwstr>
  </property>
</Properties>
</file>